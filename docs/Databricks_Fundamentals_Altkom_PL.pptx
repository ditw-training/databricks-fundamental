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</p:sldIdLst>
  <p:notesMasterIdLst>
    <p:notesMasterId r:id="rId72"/>
  </p:notesMasterIdLst>
  <p:sldSz cx="11430000" cy="6440424"/>
  <p:notesSz cx="6440424" cy="11430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notesMaster" Target="notesMasters/notesMaster1.xml"/><Relationship Id="rId73" Type="http://schemas.openxmlformats.org/officeDocument/2006/relationships/presProps" Target="presProps.xml"/><Relationship Id="rId74" Type="http://schemas.openxmlformats.org/officeDocument/2006/relationships/viewProps" Target="viewProps.xml"/><Relationship Id="rId75" Type="http://schemas.openxmlformats.org/officeDocument/2006/relationships/theme" Target="theme/theme1.xml"/><Relationship Id="rId7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61000" y="6054281"/>
            <a:ext cx="508000" cy="1524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000000"/>
                </a:solidFill>
                <a:latin typeface="DM Sans"/>
                <a:ea typeface="DM Sans"/>
                <a:cs typeface="DM Sans"/>
              </a:defRPr>
            </a:lvl1pPr>
          </a:lstStyle>
          <a:p>
            <a:pPr algn="ctr"/>
            <a:fld id="{F7021451-1387-4CA6-816F-3879F97B5CBC}" type="slidenum">
              <a:rPr b="0" lang="en-US"/>
              <a:t>1000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61000" y="6054281"/>
            <a:ext cx="508000" cy="1524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000000"/>
                </a:solidFill>
                <a:latin typeface="DM Sans"/>
                <a:ea typeface="DM Sans"/>
                <a:cs typeface="DM Sans"/>
              </a:defRPr>
            </a:lvl1pPr>
          </a:lstStyle>
          <a:p>
            <a:pPr algn="ct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1-1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1.png"/><Relationship Id="rId4" Type="http://schemas.openxmlformats.org/officeDocument/2006/relationships/image" Target="../media/image-8-2.png"/><Relationship Id="rId5" Type="http://schemas.openxmlformats.org/officeDocument/2006/relationships/image" Target="../media/image-1-1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image" Target="../media/image-10-2.jpg"/><Relationship Id="rId3" Type="http://schemas.openxmlformats.org/officeDocument/2006/relationships/image" Target="../media/image-10-3.jpg"/><Relationship Id="rId4" Type="http://schemas.openxmlformats.org/officeDocument/2006/relationships/image" Target="../media/image-1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3.png"/><Relationship Id="rId5" Type="http://schemas.openxmlformats.org/officeDocument/2006/relationships/image" Target="../media/image-11-3.png"/><Relationship Id="rId6" Type="http://schemas.openxmlformats.org/officeDocument/2006/relationships/image" Target="../media/image-1-1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image" Target="../media/image-1-1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jp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1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jp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jp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jp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jp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jp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jp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4-1.jpg"/><Relationship Id="rId2" Type="http://schemas.openxmlformats.org/officeDocument/2006/relationships/image" Target="../media/image-54-2.png"/><Relationship Id="rId3" Type="http://schemas.openxmlformats.org/officeDocument/2006/relationships/image" Target="../media/image-54-3.png"/><Relationship Id="rId4" Type="http://schemas.openxmlformats.org/officeDocument/2006/relationships/image" Target="../media/image-54-4.png"/><Relationship Id="rId5" Type="http://schemas.openxmlformats.org/officeDocument/2006/relationships/image" Target="../media/image-54-5.png"/><Relationship Id="rId6" Type="http://schemas.openxmlformats.org/officeDocument/2006/relationships/image" Target="../media/image-1-1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3-1.jp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4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0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altko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2300" y="660400"/>
            <a:ext cx="1905000" cy="76581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22300" y="2276348"/>
            <a:ext cx="10185400" cy="1006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625"/>
              </a:lnSpc>
              <a:buNone/>
            </a:pPr>
            <a:r>
              <a:rPr lang="en-US" sz="610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Databricks Fundamentals</a:t>
            </a:r>
            <a:endParaRPr lang="en-US" sz="6100" dirty="0"/>
          </a:p>
        </p:txBody>
      </p:sp>
      <p:sp>
        <p:nvSpPr>
          <p:cNvPr id="4" name="Text 1"/>
          <p:cNvSpPr txBox="1"/>
          <p:nvPr/>
        </p:nvSpPr>
        <p:spPr>
          <a:xfrm>
            <a:off x="622300" y="3518637"/>
            <a:ext cx="101854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22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Praktyczne wprowadzenie do platformy Databricks Lakehouse, od podstawowych pojęć, przez data engineering w PySpark i Delta Lake, po orkiestrację i governance. Dla osób, które chcą budować pipeline’y produkcyjne.</a:t>
            </a:r>
            <a:endParaRPr lang="en-US" sz="12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61000" y="6054281"/>
            <a:ext cx="508000" cy="1524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000000"/>
                </a:solidFill>
                <a:latin typeface="DM Sans"/>
                <a:ea typeface="DM Sans"/>
                <a:cs typeface="DM Sans"/>
              </a:defRPr>
            </a:lvl1pPr>
          </a:lstStyle>
          <a:p>
            <a:pPr algn="ct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2300" y="621932"/>
            <a:ext cx="10185400" cy="4493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38"/>
              </a:lnSpc>
              <a:buNone/>
            </a:pPr>
            <a:r>
              <a:rPr lang="en-US" sz="259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Agenda dnia</a:t>
            </a:r>
            <a:endParaRPr lang="en-US" sz="2590" dirty="0"/>
          </a:p>
        </p:txBody>
      </p:sp>
      <p:sp>
        <p:nvSpPr>
          <p:cNvPr id="3" name="Shape 1"/>
          <p:cNvSpPr/>
          <p:nvPr/>
        </p:nvSpPr>
        <p:spPr>
          <a:xfrm>
            <a:off x="619760" y="1504950"/>
            <a:ext cx="5039360" cy="19050"/>
          </a:xfrm>
          <a:prstGeom prst="rect">
            <a:avLst/>
          </a:prstGeom>
          <a:solidFill>
            <a:srgbClr val="F8DED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19760" y="1256741"/>
            <a:ext cx="5039360" cy="83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04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01</a:t>
            </a:r>
            <a:endParaRPr lang="en-US" sz="1040" dirty="0"/>
          </a:p>
          <a:p>
            <a:pPr algn="l" indent="0" marL="0">
              <a:lnSpc>
                <a:spcPts val="1625"/>
              </a:lnSpc>
              <a:spcBef>
                <a:spcPts val="936"/>
              </a:spcBef>
              <a:buNone/>
            </a:pPr>
            <a:r>
              <a:rPr lang="en-US" sz="130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Wprowadzenie</a:t>
            </a:r>
            <a:endParaRPr lang="en-US" sz="1040" dirty="0"/>
          </a:p>
          <a:p>
            <a:pPr algn="l" indent="0" marL="0">
              <a:lnSpc>
                <a:spcPts val="1560"/>
              </a:lnSpc>
              <a:spcBef>
                <a:spcPts val="579"/>
              </a:spcBef>
              <a:buNone/>
            </a:pPr>
            <a:r>
              <a:rPr lang="en-US" sz="104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Cele, uczestnicy, środowisko szkoleniowe</a:t>
            </a:r>
            <a:endParaRPr lang="en-US" sz="1040" dirty="0"/>
          </a:p>
        </p:txBody>
      </p:sp>
      <p:sp>
        <p:nvSpPr>
          <p:cNvPr id="5" name="Shape 3"/>
          <p:cNvSpPr/>
          <p:nvPr/>
        </p:nvSpPr>
        <p:spPr>
          <a:xfrm>
            <a:off x="5772150" y="1504950"/>
            <a:ext cx="5039360" cy="19050"/>
          </a:xfrm>
          <a:prstGeom prst="rect">
            <a:avLst/>
          </a:prstGeom>
          <a:solidFill>
            <a:srgbClr val="F8DED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772150" y="1256741"/>
            <a:ext cx="5039360" cy="83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04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02</a:t>
            </a:r>
            <a:endParaRPr lang="en-US" sz="1040" dirty="0"/>
          </a:p>
          <a:p>
            <a:pPr algn="l" indent="0" marL="0">
              <a:lnSpc>
                <a:spcPts val="1625"/>
              </a:lnSpc>
              <a:spcBef>
                <a:spcPts val="936"/>
              </a:spcBef>
              <a:buNone/>
            </a:pPr>
            <a:r>
              <a:rPr lang="en-US" sz="130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Platforma Databricks</a:t>
            </a:r>
            <a:endParaRPr lang="en-US" sz="1040" dirty="0"/>
          </a:p>
          <a:p>
            <a:pPr algn="l" indent="0" marL="0">
              <a:lnSpc>
                <a:spcPts val="1560"/>
              </a:lnSpc>
              <a:spcBef>
                <a:spcPts val="579"/>
              </a:spcBef>
              <a:buNone/>
            </a:pPr>
            <a:r>
              <a:rPr lang="en-US" sz="104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Workspace, compute, Unity Catalog, Volumes</a:t>
            </a:r>
            <a:endParaRPr lang="en-US" sz="1040" dirty="0"/>
          </a:p>
        </p:txBody>
      </p:sp>
      <p:sp>
        <p:nvSpPr>
          <p:cNvPr id="7" name="Shape 5"/>
          <p:cNvSpPr/>
          <p:nvPr/>
        </p:nvSpPr>
        <p:spPr>
          <a:xfrm>
            <a:off x="619760" y="2495550"/>
            <a:ext cx="5039360" cy="19050"/>
          </a:xfrm>
          <a:prstGeom prst="rect">
            <a:avLst/>
          </a:prstGeom>
          <a:solidFill>
            <a:srgbClr val="F8DED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19760" y="2240991"/>
            <a:ext cx="5039360" cy="826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04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03</a:t>
            </a:r>
            <a:endParaRPr lang="en-US" sz="1040" dirty="0"/>
          </a:p>
          <a:p>
            <a:pPr algn="l" indent="0" marL="0">
              <a:lnSpc>
                <a:spcPts val="1625"/>
              </a:lnSpc>
              <a:spcBef>
                <a:spcPts val="986"/>
              </a:spcBef>
              <a:buNone/>
            </a:pPr>
            <a:r>
              <a:rPr lang="en-US" sz="130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Architektura Apache Spark</a:t>
            </a:r>
            <a:endParaRPr lang="en-US" sz="1040" dirty="0"/>
          </a:p>
          <a:p>
            <a:pPr algn="l" indent="0" marL="0">
              <a:lnSpc>
                <a:spcPts val="1560"/>
              </a:lnSpc>
              <a:spcBef>
                <a:spcPts val="479"/>
              </a:spcBef>
              <a:buNone/>
            </a:pPr>
            <a:r>
              <a:rPr lang="en-US" sz="104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Driver, executory, DAG, lazy evaluation, PySpark API</a:t>
            </a:r>
            <a:endParaRPr lang="en-US" sz="1040" dirty="0"/>
          </a:p>
        </p:txBody>
      </p:sp>
      <p:sp>
        <p:nvSpPr>
          <p:cNvPr id="9" name="Shape 7"/>
          <p:cNvSpPr/>
          <p:nvPr/>
        </p:nvSpPr>
        <p:spPr>
          <a:xfrm>
            <a:off x="5772150" y="2495550"/>
            <a:ext cx="5039360" cy="19050"/>
          </a:xfrm>
          <a:prstGeom prst="rect">
            <a:avLst/>
          </a:prstGeom>
          <a:solidFill>
            <a:srgbClr val="F8DED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772150" y="2240991"/>
            <a:ext cx="5039360" cy="826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04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04</a:t>
            </a:r>
            <a:endParaRPr lang="en-US" sz="1040" dirty="0"/>
          </a:p>
          <a:p>
            <a:pPr algn="l" indent="0" marL="0">
              <a:lnSpc>
                <a:spcPts val="1625"/>
              </a:lnSpc>
              <a:spcBef>
                <a:spcPts val="986"/>
              </a:spcBef>
              <a:buNone/>
            </a:pPr>
            <a:r>
              <a:rPr lang="en-US" sz="130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Ingestia i architektura medalionowa</a:t>
            </a:r>
            <a:endParaRPr lang="en-US" sz="1040" dirty="0"/>
          </a:p>
          <a:p>
            <a:pPr algn="l" indent="0" marL="0">
              <a:lnSpc>
                <a:spcPts val="1560"/>
              </a:lnSpc>
              <a:spcBef>
                <a:spcPts val="479"/>
              </a:spcBef>
              <a:buNone/>
            </a:pPr>
            <a:r>
              <a:rPr lang="en-US" sz="104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Volumes, Auto Loader, warstwy Bronze, Silver, Gold</a:t>
            </a:r>
            <a:endParaRPr lang="en-US" sz="1040" dirty="0"/>
          </a:p>
        </p:txBody>
      </p:sp>
      <p:sp>
        <p:nvSpPr>
          <p:cNvPr id="11" name="Shape 9"/>
          <p:cNvSpPr/>
          <p:nvPr/>
        </p:nvSpPr>
        <p:spPr>
          <a:xfrm>
            <a:off x="619760" y="3486150"/>
            <a:ext cx="5039360" cy="19050"/>
          </a:xfrm>
          <a:prstGeom prst="rect">
            <a:avLst/>
          </a:prstGeom>
          <a:solidFill>
            <a:srgbClr val="F8DED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19760" y="3222701"/>
            <a:ext cx="5039360" cy="835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04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05</a:t>
            </a:r>
            <a:endParaRPr lang="en-US" sz="1040" dirty="0"/>
          </a:p>
          <a:p>
            <a:pPr algn="l" indent="0" marL="0">
              <a:lnSpc>
                <a:spcPts val="1625"/>
              </a:lnSpc>
              <a:spcBef>
                <a:spcPts val="1046"/>
              </a:spcBef>
              <a:buNone/>
            </a:pPr>
            <a:r>
              <a:rPr lang="en-US" sz="130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Delta Lake</a:t>
            </a:r>
            <a:endParaRPr lang="en-US" sz="1040" dirty="0"/>
          </a:p>
          <a:p>
            <a:pPr algn="l" indent="0" marL="0">
              <a:lnSpc>
                <a:spcPts val="1560"/>
              </a:lnSpc>
              <a:spcBef>
                <a:spcPts val="489"/>
              </a:spcBef>
              <a:buNone/>
            </a:pPr>
            <a:r>
              <a:rPr lang="en-US" sz="104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ACID, MERGE, time travel, RESTORE, utrzymanie tabel</a:t>
            </a:r>
            <a:endParaRPr lang="en-US" sz="1040" dirty="0"/>
          </a:p>
        </p:txBody>
      </p:sp>
      <p:sp>
        <p:nvSpPr>
          <p:cNvPr id="13" name="Shape 11"/>
          <p:cNvSpPr/>
          <p:nvPr/>
        </p:nvSpPr>
        <p:spPr>
          <a:xfrm>
            <a:off x="5772150" y="3486150"/>
            <a:ext cx="5039360" cy="19050"/>
          </a:xfrm>
          <a:prstGeom prst="rect">
            <a:avLst/>
          </a:prstGeom>
          <a:solidFill>
            <a:srgbClr val="F8DED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772150" y="3222701"/>
            <a:ext cx="5039360" cy="835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04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06</a:t>
            </a:r>
            <a:endParaRPr lang="en-US" sz="1040" dirty="0"/>
          </a:p>
          <a:p>
            <a:pPr algn="l" indent="0" marL="0">
              <a:lnSpc>
                <a:spcPts val="1625"/>
              </a:lnSpc>
              <a:spcBef>
                <a:spcPts val="1046"/>
              </a:spcBef>
              <a:buNone/>
            </a:pPr>
            <a:r>
              <a:rPr lang="en-US" sz="130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Orkiestracja i Lakeflow</a:t>
            </a:r>
            <a:endParaRPr lang="en-US" sz="1040" dirty="0"/>
          </a:p>
          <a:p>
            <a:pPr algn="l" indent="0" marL="0">
              <a:lnSpc>
                <a:spcPts val="1560"/>
              </a:lnSpc>
              <a:spcBef>
                <a:spcPts val="489"/>
              </a:spcBef>
              <a:buNone/>
            </a:pPr>
            <a:r>
              <a:rPr lang="en-US" sz="104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Lakeflow Jobs, harmonogram CRON, Repair Run, pipeline’y</a:t>
            </a:r>
            <a:endParaRPr lang="en-US" sz="1040" dirty="0"/>
          </a:p>
        </p:txBody>
      </p:sp>
      <p:sp>
        <p:nvSpPr>
          <p:cNvPr id="15" name="Shape 13"/>
          <p:cNvSpPr/>
          <p:nvPr/>
        </p:nvSpPr>
        <p:spPr>
          <a:xfrm>
            <a:off x="619760" y="4467860"/>
            <a:ext cx="5039360" cy="19050"/>
          </a:xfrm>
          <a:prstGeom prst="rect">
            <a:avLst/>
          </a:prstGeom>
          <a:solidFill>
            <a:srgbClr val="F8DED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19760" y="4214571"/>
            <a:ext cx="5039360" cy="834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04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07</a:t>
            </a:r>
            <a:endParaRPr lang="en-US" sz="1040" dirty="0"/>
          </a:p>
          <a:p>
            <a:pPr algn="l" indent="0" marL="0">
              <a:lnSpc>
                <a:spcPts val="1625"/>
              </a:lnSpc>
              <a:spcBef>
                <a:spcPts val="1036"/>
              </a:spcBef>
              <a:buNone/>
            </a:pPr>
            <a:r>
              <a:rPr lang="en-US" sz="130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Unity Catalog i AI/BI</a:t>
            </a:r>
            <a:endParaRPr lang="en-US" sz="1040" dirty="0"/>
          </a:p>
          <a:p>
            <a:pPr algn="l" indent="0" marL="0">
              <a:lnSpc>
                <a:spcPts val="1560"/>
              </a:lnSpc>
              <a:spcBef>
                <a:spcPts val="489"/>
              </a:spcBef>
              <a:buNone/>
            </a:pPr>
            <a:r>
              <a:rPr lang="en-US" sz="104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Governance, uprawnienia, dashboardy, Genie</a:t>
            </a:r>
            <a:endParaRPr lang="en-US" sz="1040" dirty="0"/>
          </a:p>
        </p:txBody>
      </p:sp>
      <p:sp>
        <p:nvSpPr>
          <p:cNvPr id="17" name="Shape 15"/>
          <p:cNvSpPr/>
          <p:nvPr/>
        </p:nvSpPr>
        <p:spPr>
          <a:xfrm>
            <a:off x="5772150" y="4467860"/>
            <a:ext cx="5039360" cy="19050"/>
          </a:xfrm>
          <a:prstGeom prst="rect">
            <a:avLst/>
          </a:prstGeom>
          <a:solidFill>
            <a:srgbClr val="F8DED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772150" y="4214571"/>
            <a:ext cx="5039360" cy="834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04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08</a:t>
            </a:r>
            <a:endParaRPr lang="en-US" sz="1040" dirty="0"/>
          </a:p>
          <a:p>
            <a:pPr algn="l" indent="0" marL="0">
              <a:lnSpc>
                <a:spcPts val="1625"/>
              </a:lnSpc>
              <a:spcBef>
                <a:spcPts val="1036"/>
              </a:spcBef>
              <a:buNone/>
            </a:pPr>
            <a:r>
              <a:rPr lang="en-US" sz="130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Projekt końcowy: pipeline RetailHub</a:t>
            </a:r>
            <a:endParaRPr lang="en-US" sz="1040" dirty="0"/>
          </a:p>
          <a:p>
            <a:pPr algn="l" indent="0" marL="0">
              <a:lnSpc>
                <a:spcPts val="1560"/>
              </a:lnSpc>
              <a:spcBef>
                <a:spcPts val="489"/>
              </a:spcBef>
              <a:buNone/>
            </a:pPr>
            <a:r>
              <a:rPr lang="en-US" sz="104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Kompletny pipeline zbudowany i uruchamiany jako job</a:t>
            </a:r>
            <a:endParaRPr lang="en-US" sz="1040" dirty="0"/>
          </a:p>
        </p:txBody>
      </p:sp>
      <p:sp>
        <p:nvSpPr>
          <p:cNvPr id="19" name="Text 17"/>
          <p:cNvSpPr/>
          <p:nvPr/>
        </p:nvSpPr>
        <p:spPr>
          <a:xfrm>
            <a:off x="619760" y="5267960"/>
            <a:ext cx="10191750" cy="505460"/>
          </a:xfrm>
          <a:prstGeom prst="roundRect">
            <a:avLst>
              <a:gd name="adj" fmla="val 15075"/>
            </a:avLst>
          </a:prstGeom>
          <a:solidFill>
            <a:srgbClr val="F2C1BF"/>
          </a:solidFill>
          <a:ln/>
        </p:spPr>
        <p:txBody>
          <a:bodyPr wrap="square" lIns="434340" tIns="112471" rIns="15240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04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Przerwy: ~10 min co ~90 min · Lunch ~13:00 · Pytania w każdej chwili · Q&amp;A na końcu każdego bloku</a:t>
            </a:r>
            <a:endParaRPr lang="en-US" sz="1040" dirty="0"/>
          </a:p>
        </p:txBody>
      </p:sp>
      <p:pic>
        <p:nvPicPr>
          <p:cNvPr id="20" name="Image 0" descr="assets/icon_p02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0" y="5468620"/>
            <a:ext cx="173990" cy="173990"/>
          </a:xfrm>
          <a:prstGeom prst="rect">
            <a:avLst/>
          </a:prstGeom>
        </p:spPr>
      </p:pic>
      <p:pic>
        <p:nvPicPr>
          <p:cNvPr id="21" name="Image 1" descr="assets/altkom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240" y="6038850"/>
            <a:ext cx="637540" cy="2565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61000" y="6054281"/>
            <a:ext cx="508000" cy="1524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000000"/>
                </a:solidFill>
                <a:latin typeface="DM Sans"/>
                <a:ea typeface="DM Sans"/>
                <a:cs typeface="DM Sans"/>
              </a:defRPr>
            </a:lvl1pPr>
          </a:lstStyle>
          <a:p>
            <a:pPr algn="ct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p03_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890"/>
            <a:ext cx="4291330" cy="642874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906010" y="2063585"/>
            <a:ext cx="5905500" cy="2684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53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Krzysztof Burejza</a:t>
            </a:r>
            <a:endParaRPr lang="en-US" sz="1530" dirty="0"/>
          </a:p>
          <a:p>
            <a:pPr algn="l" indent="0" marL="0">
              <a:lnSpc>
                <a:spcPts val="1913"/>
              </a:lnSpc>
              <a:spcBef>
                <a:spcPts val="1937"/>
              </a:spcBef>
              <a:buNone/>
            </a:pPr>
            <a:r>
              <a:rPr lang="en-US" sz="1530" b="1" i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Resident Solution Architect @ Databricks</a:t>
            </a:r>
            <a:endParaRPr lang="en-US" sz="1530" dirty="0"/>
          </a:p>
          <a:p>
            <a:pPr algn="l" indent="0" marL="0">
              <a:lnSpc>
                <a:spcPts val="1950"/>
              </a:lnSpc>
              <a:spcBef>
                <a:spcPts val="1424"/>
              </a:spcBef>
              <a:buNone/>
            </a:pPr>
            <a:r>
              <a:rPr lang="en-US" sz="122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Resident Solution Architect w Databricks i data engineer z 10-letnim doświadczeniem w pracy z danymi, od SQL Server po platformy chmurowe takie jak Azure, Databricks i Microsoft Fabric. Zamienia surowe dane w wartościowe rozwiązania, buduje pipeline’y, hurtownie i lakehouse’y. Entuzjasta technologii na styku danych i sztucznej inteligencji, które czynią data engineering jeszcze ciekawszym.</a:t>
            </a:r>
            <a:endParaRPr lang="en-US" sz="1530" dirty="0"/>
          </a:p>
        </p:txBody>
      </p:sp>
      <p:pic>
        <p:nvPicPr>
          <p:cNvPr id="4" name="Image 1" descr="assets/altkom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9760" y="6038850"/>
            <a:ext cx="637540" cy="2565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69270" y="6054281"/>
            <a:ext cx="508000" cy="1524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000000"/>
                </a:solidFill>
                <a:latin typeface="DM Sans"/>
                <a:ea typeface="DM Sans"/>
                <a:cs typeface="DM Sans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p04_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620"/>
            <a:ext cx="11430000" cy="19380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22300" y="3124390"/>
            <a:ext cx="10185400" cy="522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13"/>
              </a:lnSpc>
              <a:buNone/>
            </a:pPr>
            <a:r>
              <a:rPr lang="en-US" sz="305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Poznajmy się</a:t>
            </a:r>
            <a:endParaRPr lang="en-US" sz="3050" dirty="0"/>
          </a:p>
        </p:txBody>
      </p:sp>
      <p:sp>
        <p:nvSpPr>
          <p:cNvPr id="4" name="Text 1"/>
          <p:cNvSpPr txBox="1"/>
          <p:nvPr/>
        </p:nvSpPr>
        <p:spPr>
          <a:xfrm>
            <a:off x="622300" y="3856457"/>
            <a:ext cx="10185400" cy="1316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22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Powiedzcie po kolei kilka słów o sobie:</a:t>
            </a:r>
            <a:endParaRPr lang="en-US" sz="1220" dirty="0"/>
          </a:p>
          <a:p>
            <a:pPr algn="l" marL="241300" indent="-241300">
              <a:lnSpc>
                <a:spcPts val="1950"/>
              </a:lnSpc>
              <a:spcBef>
                <a:spcPts val="1420"/>
              </a:spcBef>
              <a:buSzPct val="100000"/>
              <a:buChar char="•"/>
            </a:pPr>
            <a:r>
              <a:rPr lang="en-US" sz="122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Imię</a:t>
            </a:r>
            <a:endParaRPr lang="en-US" sz="1220" dirty="0"/>
          </a:p>
          <a:p>
            <a:pPr algn="l" marL="241300" indent="-241300">
              <a:lnSpc>
                <a:spcPts val="1950"/>
              </a:lnSpc>
              <a:spcBef>
                <a:spcPts val="450"/>
              </a:spcBef>
              <a:buSzPct val="100000"/>
              <a:buChar char="•"/>
            </a:pPr>
            <a:r>
              <a:rPr lang="en-US" sz="122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Rola lub stanowisko</a:t>
            </a:r>
            <a:endParaRPr lang="en-US" sz="1220" dirty="0"/>
          </a:p>
          <a:p>
            <a:pPr algn="l" marL="241300" indent="-241300">
              <a:lnSpc>
                <a:spcPts val="1950"/>
              </a:lnSpc>
              <a:spcBef>
                <a:spcPts val="400"/>
              </a:spcBef>
              <a:buSzPct val="100000"/>
              <a:buChar char="•"/>
            </a:pPr>
            <a:r>
              <a:rPr lang="en-US" sz="122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Dotychczasowe doświadczenie z Databricks, jeśli jakieś jest</a:t>
            </a:r>
            <a:endParaRPr lang="en-US" sz="1220" dirty="0"/>
          </a:p>
        </p:txBody>
      </p:sp>
      <p:pic>
        <p:nvPicPr>
          <p:cNvPr id="5" name="Image 1" descr="assets/altkom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240" y="6038850"/>
            <a:ext cx="637540" cy="2565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61000" y="6054281"/>
            <a:ext cx="508000" cy="1524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000000"/>
                </a:solidFill>
                <a:latin typeface="DM Sans"/>
                <a:ea typeface="DM Sans"/>
                <a:cs typeface="DM Sans"/>
              </a:defRPr>
            </a:lvl1pPr>
          </a:lstStyle>
          <a:p>
            <a:pPr algn="ct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p05_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42480" y="8890"/>
            <a:ext cx="4288790" cy="642874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22300" y="758381"/>
            <a:ext cx="6350000" cy="522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13"/>
              </a:lnSpc>
              <a:buNone/>
            </a:pPr>
            <a:r>
              <a:rPr lang="en-US" sz="305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Dla kogo jest to szkolenie?</a:t>
            </a:r>
            <a:endParaRPr lang="en-US" sz="3050" dirty="0"/>
          </a:p>
        </p:txBody>
      </p:sp>
      <p:sp>
        <p:nvSpPr>
          <p:cNvPr id="4" name="Text 1"/>
          <p:cNvSpPr/>
          <p:nvPr/>
        </p:nvSpPr>
        <p:spPr>
          <a:xfrm>
            <a:off x="505460" y="1534160"/>
            <a:ext cx="2990850" cy="4086860"/>
          </a:xfrm>
          <a:prstGeom prst="roundRect">
            <a:avLst>
              <a:gd name="adj" fmla="val 3397"/>
            </a:avLst>
          </a:prstGeom>
          <a:solidFill>
            <a:srgbClr val="F8DEDC"/>
          </a:solidFill>
          <a:ln/>
        </p:spPr>
        <p:txBody>
          <a:bodyPr wrap="square" lIns="157480" tIns="130645" rIns="101600" bIns="0" rtlCol="0" anchor="t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53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Grupa docelowa</a:t>
            </a:r>
            <a:endParaRPr lang="en-US" sz="1530" dirty="0"/>
          </a:p>
          <a:p>
            <a:pPr algn="l" marL="241300" indent="-241300">
              <a:lnSpc>
                <a:spcPts val="1950"/>
              </a:lnSpc>
              <a:spcBef>
                <a:spcPts val="984"/>
              </a:spcBef>
              <a:buSzPct val="100000"/>
              <a:buChar char="•"/>
            </a:pPr>
            <a:r>
              <a:rPr lang="en-US" sz="122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Analitycy danych</a:t>
            </a:r>
            <a:endParaRPr lang="en-US" sz="1530" dirty="0"/>
          </a:p>
          <a:p>
            <a:pPr algn="l" marL="241300" indent="-241300">
              <a:lnSpc>
                <a:spcPts val="1950"/>
              </a:lnSpc>
              <a:spcBef>
                <a:spcPts val="450"/>
              </a:spcBef>
              <a:buSzPct val="100000"/>
              <a:buChar char="•"/>
            </a:pPr>
            <a:r>
              <a:rPr lang="en-US" sz="122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Inżynierowie danych</a:t>
            </a:r>
            <a:endParaRPr lang="en-US" sz="1530" dirty="0"/>
          </a:p>
          <a:p>
            <a:pPr algn="l" marL="241300" indent="-241300">
              <a:lnSpc>
                <a:spcPts val="1950"/>
              </a:lnSpc>
              <a:spcBef>
                <a:spcPts val="450"/>
              </a:spcBef>
              <a:buSzPct val="100000"/>
              <a:buChar char="•"/>
            </a:pPr>
            <a:r>
              <a:rPr lang="en-US" sz="122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Specjaliści BI</a:t>
            </a:r>
            <a:endParaRPr lang="en-US" sz="1530" dirty="0"/>
          </a:p>
          <a:p>
            <a:pPr algn="l" marL="241300" indent="-241300">
              <a:lnSpc>
                <a:spcPts val="1950"/>
              </a:lnSpc>
              <a:spcBef>
                <a:spcPts val="450"/>
              </a:spcBef>
              <a:buSzPct val="100000"/>
              <a:buChar char="•"/>
            </a:pPr>
            <a:r>
              <a:rPr lang="en-US" sz="122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Osoby techniczne pracujące z pipeline’ami</a:t>
            </a:r>
            <a:endParaRPr lang="en-US" sz="1530" dirty="0"/>
          </a:p>
        </p:txBody>
      </p:sp>
      <p:sp>
        <p:nvSpPr>
          <p:cNvPr id="5" name="Text 2"/>
          <p:cNvSpPr txBox="1"/>
          <p:nvPr/>
        </p:nvSpPr>
        <p:spPr>
          <a:xfrm>
            <a:off x="3770630" y="1664805"/>
            <a:ext cx="2768600" cy="37969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53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Wymagania wstępne</a:t>
            </a:r>
            <a:endParaRPr lang="en-US" sz="1530" dirty="0"/>
          </a:p>
          <a:p>
            <a:pPr algn="l" marL="241300" indent="-241300">
              <a:lnSpc>
                <a:spcPts val="1950"/>
              </a:lnSpc>
              <a:spcBef>
                <a:spcPts val="984"/>
              </a:spcBef>
              <a:buSzPct val="100000"/>
              <a:buChar char="•"/>
            </a:pPr>
            <a:r>
              <a:rPr lang="en-US" sz="122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Podstawy SQL (SELECT, JOIN, GROUP BY)</a:t>
            </a:r>
            <a:endParaRPr lang="en-US" sz="1530" dirty="0"/>
          </a:p>
          <a:p>
            <a:pPr algn="l" marL="241300" indent="-241300">
              <a:lnSpc>
                <a:spcPts val="1950"/>
              </a:lnSpc>
              <a:spcBef>
                <a:spcPts val="450"/>
              </a:spcBef>
              <a:buSzPct val="100000"/>
              <a:buChar char="•"/>
            </a:pPr>
            <a:r>
              <a:rPr lang="en-US" sz="122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Znajomość baz relacyjnych</a:t>
            </a:r>
            <a:endParaRPr lang="en-US" sz="1530" dirty="0"/>
          </a:p>
          <a:p>
            <a:pPr algn="l" marL="241300" indent="-241300">
              <a:lnSpc>
                <a:spcPts val="1950"/>
              </a:lnSpc>
              <a:spcBef>
                <a:spcPts val="450"/>
              </a:spcBef>
              <a:buSzPct val="100000"/>
              <a:buChar char="•"/>
            </a:pPr>
            <a:r>
              <a:rPr lang="en-US" sz="122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Python nie jest wymagany, PySpark pokazujemy od zera</a:t>
            </a:r>
            <a:endParaRPr lang="en-US" sz="1530" dirty="0"/>
          </a:p>
          <a:p>
            <a:pPr algn="l" indent="0" marL="0">
              <a:lnSpc>
                <a:spcPts val="1913"/>
              </a:lnSpc>
              <a:spcBef>
                <a:spcPts val="1373"/>
              </a:spcBef>
              <a:buNone/>
            </a:pPr>
            <a:r>
              <a:rPr lang="en-US" sz="153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Czego nie zakładamy</a:t>
            </a:r>
            <a:endParaRPr lang="en-US" sz="1530" dirty="0"/>
          </a:p>
          <a:p>
            <a:pPr algn="l" indent="0" marL="0">
              <a:lnSpc>
                <a:spcPts val="1950"/>
              </a:lnSpc>
              <a:spcBef>
                <a:spcPts val="1064"/>
              </a:spcBef>
              <a:buNone/>
            </a:pPr>
            <a:r>
              <a:rPr lang="en-US" sz="122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Nie trzeba znać Databricks, Sparka ani storage w chmurze. Zaczynamy od podstaw i budujemy wiedzę krok po kroku.</a:t>
            </a:r>
            <a:endParaRPr lang="en-US" sz="1530" dirty="0"/>
          </a:p>
        </p:txBody>
      </p:sp>
      <p:pic>
        <p:nvPicPr>
          <p:cNvPr id="6" name="Image 1" descr="assets/altkom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240" y="6038850"/>
            <a:ext cx="637540" cy="2565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666230" y="6054281"/>
            <a:ext cx="508000" cy="1524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000000"/>
                </a:solidFill>
                <a:latin typeface="DM Sans"/>
                <a:ea typeface="DM Sans"/>
                <a:cs typeface="DM Sans"/>
              </a:defRPr>
            </a:lvl1pPr>
          </a:lstStyle>
          <a:p>
            <a:pPr algn="ct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2300" y="594563"/>
            <a:ext cx="10185400" cy="425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50"/>
              </a:lnSpc>
              <a:buNone/>
            </a:pPr>
            <a:r>
              <a:rPr lang="en-US" sz="244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Zasady szkolenia</a:t>
            </a:r>
            <a:endParaRPr lang="en-US" sz="2440" dirty="0"/>
          </a:p>
        </p:txBody>
      </p:sp>
      <p:sp>
        <p:nvSpPr>
          <p:cNvPr id="3" name="Text 1"/>
          <p:cNvSpPr txBox="1"/>
          <p:nvPr/>
        </p:nvSpPr>
        <p:spPr>
          <a:xfrm>
            <a:off x="622300" y="1185189"/>
            <a:ext cx="10185400" cy="224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98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Żeby szkolenie było skuteczne i komfortowe, umówmy się na kilka zasad:</a:t>
            </a:r>
            <a:endParaRPr lang="en-US" sz="980" dirty="0"/>
          </a:p>
        </p:txBody>
      </p:sp>
      <p:sp>
        <p:nvSpPr>
          <p:cNvPr id="4" name="Shape 2"/>
          <p:cNvSpPr/>
          <p:nvPr/>
        </p:nvSpPr>
        <p:spPr>
          <a:xfrm>
            <a:off x="628650" y="1524000"/>
            <a:ext cx="10172700" cy="734060"/>
          </a:xfrm>
          <a:prstGeom prst="roundRect">
            <a:avLst>
              <a:gd name="adj" fmla="val 6920"/>
            </a:avLst>
          </a:prstGeom>
          <a:solidFill>
            <a:srgbClr val="F8DEDC"/>
          </a:solidFill>
          <a:ln/>
        </p:spPr>
      </p:sp>
      <p:sp>
        <p:nvSpPr>
          <p:cNvPr id="5" name="Text 3"/>
          <p:cNvSpPr/>
          <p:nvPr/>
        </p:nvSpPr>
        <p:spPr>
          <a:xfrm>
            <a:off x="1132840" y="1543050"/>
            <a:ext cx="9649460" cy="69596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101600" tIns="33757" rIns="1270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22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Pytaj w każdej chwili</a:t>
            </a:r>
            <a:endParaRPr lang="en-US" sz="1220" dirty="0"/>
          </a:p>
          <a:p>
            <a:pPr algn="l" indent="0" marL="0">
              <a:lnSpc>
                <a:spcPts val="1430"/>
              </a:lnSpc>
              <a:spcBef>
                <a:spcPts val="406"/>
              </a:spcBef>
              <a:buNone/>
            </a:pPr>
            <a:r>
              <a:rPr lang="en-US" sz="98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Śmiało przerywaj i pytaj. Twoje pytania pomagają całej grupie lepiej zrozumieć temat. Nie ma głupich pytań!</a:t>
            </a:r>
            <a:endParaRPr lang="en-US" sz="1220" dirty="0"/>
          </a:p>
        </p:txBody>
      </p:sp>
      <p:pic>
        <p:nvPicPr>
          <p:cNvPr id="6" name="Image 0" descr="assets/icon_p06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160" y="1785620"/>
            <a:ext cx="220980" cy="2184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28650" y="2372360"/>
            <a:ext cx="10172700" cy="723900"/>
          </a:xfrm>
          <a:prstGeom prst="roundRect">
            <a:avLst>
              <a:gd name="adj" fmla="val 7018"/>
            </a:avLst>
          </a:prstGeom>
          <a:solidFill>
            <a:srgbClr val="F8DEDC"/>
          </a:solidFill>
          <a:ln/>
        </p:spPr>
      </p:sp>
      <p:sp>
        <p:nvSpPr>
          <p:cNvPr id="8" name="Text 5"/>
          <p:cNvSpPr/>
          <p:nvPr/>
        </p:nvSpPr>
        <p:spPr>
          <a:xfrm>
            <a:off x="1132840" y="2391410"/>
            <a:ext cx="9649460" cy="6858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101600" tIns="33757" rIns="1270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22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Laby we własnym tempie</a:t>
            </a:r>
            <a:endParaRPr lang="en-US" sz="1220" dirty="0"/>
          </a:p>
          <a:p>
            <a:pPr algn="l" indent="0" marL="0">
              <a:lnSpc>
                <a:spcPts val="1430"/>
              </a:lnSpc>
              <a:spcBef>
                <a:spcPts val="396"/>
              </a:spcBef>
              <a:buNone/>
            </a:pPr>
            <a:r>
              <a:rPr lang="en-US" sz="98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Ćwiczenia robisz we własnym tempie. Jeśli skończysz wcześniej, zajrzyj do sekcji "Bonus Challenges" w notebookach. Pomóż też innym, jeśli potrzebują!</a:t>
            </a:r>
            <a:endParaRPr lang="en-US" sz="1220" dirty="0"/>
          </a:p>
        </p:txBody>
      </p:sp>
      <p:pic>
        <p:nvPicPr>
          <p:cNvPr id="9" name="Image 1" descr="assets/icon_p06_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940" y="2620010"/>
            <a:ext cx="186690" cy="22352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628650" y="3210560"/>
            <a:ext cx="10172700" cy="734060"/>
          </a:xfrm>
          <a:prstGeom prst="roundRect">
            <a:avLst>
              <a:gd name="adj" fmla="val 6920"/>
            </a:avLst>
          </a:prstGeom>
          <a:solidFill>
            <a:srgbClr val="F8DEDC"/>
          </a:solidFill>
          <a:ln/>
        </p:spPr>
      </p:sp>
      <p:sp>
        <p:nvSpPr>
          <p:cNvPr id="11" name="Text 7"/>
          <p:cNvSpPr/>
          <p:nvPr/>
        </p:nvSpPr>
        <p:spPr>
          <a:xfrm>
            <a:off x="1132840" y="3229610"/>
            <a:ext cx="9649460" cy="69596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101600" tIns="33757" rIns="1270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22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Błędy są mile widziane</a:t>
            </a:r>
            <a:endParaRPr lang="en-US" sz="1220" dirty="0"/>
          </a:p>
          <a:p>
            <a:pPr algn="l" indent="0" marL="0">
              <a:lnSpc>
                <a:spcPts val="1430"/>
              </a:lnSpc>
              <a:spcBef>
                <a:spcPts val="396"/>
              </a:spcBef>
              <a:buNone/>
            </a:pPr>
            <a:r>
              <a:rPr lang="en-US" sz="98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Nie bój się pomyłek, to najlepsza droga do nauki. Od tego jest </a:t>
            </a:r>
            <a:pPr algn="l" indent="0" marL="0">
              <a:lnSpc>
                <a:spcPts val="1430"/>
              </a:lnSpc>
              <a:spcBef>
                <a:spcPts val="396"/>
              </a:spcBef>
              <a:buNone/>
            </a:pPr>
            <a:r>
              <a:rPr lang="en-US" sz="98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time travel</a:t>
            </a:r>
            <a:pPr algn="l" indent="0" marL="0">
              <a:lnSpc>
                <a:spcPts val="1430"/>
              </a:lnSpc>
              <a:spcBef>
                <a:spcPts val="396"/>
              </a:spcBef>
              <a:buNone/>
            </a:pPr>
            <a:r>
              <a:rPr lang="en-US" sz="98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w Delta Lake, który dziś poznamy!</a:t>
            </a:r>
            <a:endParaRPr lang="en-US" sz="1220" dirty="0"/>
          </a:p>
        </p:txBody>
      </p:sp>
      <p:pic>
        <p:nvPicPr>
          <p:cNvPr id="12" name="Image 2" descr="assets/icon_p06_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90" y="3477260"/>
            <a:ext cx="224790" cy="20320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628650" y="4057650"/>
            <a:ext cx="10172700" cy="723900"/>
          </a:xfrm>
          <a:prstGeom prst="roundRect">
            <a:avLst>
              <a:gd name="adj" fmla="val 7018"/>
            </a:avLst>
          </a:prstGeom>
          <a:solidFill>
            <a:srgbClr val="F8DEDC"/>
          </a:solidFill>
          <a:ln/>
        </p:spPr>
      </p:sp>
      <p:sp>
        <p:nvSpPr>
          <p:cNvPr id="14" name="Text 9"/>
          <p:cNvSpPr/>
          <p:nvPr/>
        </p:nvSpPr>
        <p:spPr>
          <a:xfrm>
            <a:off x="1132840" y="4076700"/>
            <a:ext cx="9649460" cy="6858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101600" tIns="33757" rIns="1270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22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Współpracuj</a:t>
            </a:r>
            <a:endParaRPr lang="en-US" sz="1220" dirty="0"/>
          </a:p>
          <a:p>
            <a:pPr algn="l" indent="0" marL="0">
              <a:lnSpc>
                <a:spcPts val="1430"/>
              </a:lnSpc>
              <a:spcBef>
                <a:spcPts val="406"/>
              </a:spcBef>
              <a:buNone/>
            </a:pPr>
            <a:r>
              <a:rPr lang="en-US" sz="98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Omawiaj rozwiązania z sąsiadem, zanim uruchomisz kod. Wspólne rozwiązywanie problemów pogłębia zrozumienie tematu.</a:t>
            </a:r>
            <a:endParaRPr lang="en-US" sz="1220" dirty="0"/>
          </a:p>
        </p:txBody>
      </p:sp>
      <p:pic>
        <p:nvPicPr>
          <p:cNvPr id="15" name="Image 3" descr="assets/icon_p06_3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0890" y="4315460"/>
            <a:ext cx="224790" cy="204470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628650" y="4904740"/>
            <a:ext cx="10172700" cy="886460"/>
          </a:xfrm>
          <a:prstGeom prst="roundRect">
            <a:avLst>
              <a:gd name="adj" fmla="val 5731"/>
            </a:avLst>
          </a:prstGeom>
          <a:solidFill>
            <a:srgbClr val="F8DEDC"/>
          </a:solidFill>
          <a:ln/>
        </p:spPr>
      </p:sp>
      <p:sp>
        <p:nvSpPr>
          <p:cNvPr id="17" name="Text 11"/>
          <p:cNvSpPr/>
          <p:nvPr/>
        </p:nvSpPr>
        <p:spPr>
          <a:xfrm>
            <a:off x="1132840" y="4923790"/>
            <a:ext cx="9649460" cy="84836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101600" tIns="35027" rIns="1270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22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Korzystaj z asystenta AI</a:t>
            </a:r>
            <a:endParaRPr lang="en-US" sz="1220" dirty="0"/>
          </a:p>
          <a:p>
            <a:pPr algn="l" indent="0" marL="0">
              <a:lnSpc>
                <a:spcPts val="1430"/>
              </a:lnSpc>
              <a:spcBef>
                <a:spcPts val="396"/>
              </a:spcBef>
              <a:buNone/>
            </a:pPr>
            <a:r>
              <a:rPr lang="en-US" sz="98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 Databricks masz wbudowanego asystenta AI. Skrót </a:t>
            </a:r>
            <a:pPr algn="l" indent="0" marL="0">
              <a:lnSpc>
                <a:spcPts val="1430"/>
              </a:lnSpc>
              <a:spcBef>
                <a:spcPts val="396"/>
              </a:spcBef>
              <a:buNone/>
            </a:pPr>
            <a:r>
              <a:rPr lang="en-US" sz="980" dirty="0">
                <a:solidFill>
                  <a:srgbClr val="000000"/>
                </a:solidFill>
                <a:highlight>
                  <a:srgbClr val="F2F2F2"/>
                </a:highlight>
                <a:latin typeface="Open Sans" pitchFamily="34" charset="0"/>
                <a:ea typeface="Open Sans" pitchFamily="34" charset="-122"/>
                <a:cs typeface="Open Sans" pitchFamily="34" charset="-120"/>
              </a:rPr>
              <a:t>Cmd+i</a:t>
            </a:r>
            <a:pPr algn="l" indent="0" marL="0">
              <a:lnSpc>
                <a:spcPts val="1430"/>
              </a:lnSpc>
              <a:spcBef>
                <a:spcPts val="396"/>
              </a:spcBef>
              <a:buNone/>
            </a:pPr>
            <a:r>
              <a:rPr lang="en-US" sz="98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(lub </a:t>
            </a:r>
            <a:pPr algn="l" indent="0" marL="0">
              <a:lnSpc>
                <a:spcPts val="1430"/>
              </a:lnSpc>
              <a:spcBef>
                <a:spcPts val="396"/>
              </a:spcBef>
              <a:buNone/>
            </a:pPr>
            <a:r>
              <a:rPr lang="en-US" sz="980" dirty="0">
                <a:solidFill>
                  <a:srgbClr val="000000"/>
                </a:solidFill>
                <a:highlight>
                  <a:srgbClr val="F2F2F2"/>
                </a:highlight>
                <a:latin typeface="Open Sans" pitchFamily="34" charset="0"/>
                <a:ea typeface="Open Sans" pitchFamily="34" charset="-122"/>
                <a:cs typeface="Open Sans" pitchFamily="34" charset="-120"/>
              </a:rPr>
              <a:t>Ctrl+i</a:t>
            </a:r>
            <a:pPr algn="l" indent="0" marL="0">
              <a:lnSpc>
                <a:spcPts val="1430"/>
              </a:lnSpc>
              <a:spcBef>
                <a:spcPts val="396"/>
              </a:spcBef>
              <a:buNone/>
            </a:pPr>
            <a:r>
              <a:rPr lang="en-US" sz="98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na Windows) pomoże w notebooku, zoptymalizuje kod i wyjaśni błędy.</a:t>
            </a:r>
            <a:endParaRPr lang="en-US" sz="1220" dirty="0"/>
          </a:p>
        </p:txBody>
      </p:sp>
      <p:pic>
        <p:nvPicPr>
          <p:cNvPr id="18" name="Image 4" descr="assets/icon_p06_4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050" y="5229860"/>
            <a:ext cx="204470" cy="223520"/>
          </a:xfrm>
          <a:prstGeom prst="rect">
            <a:avLst/>
          </a:prstGeom>
        </p:spPr>
      </p:pic>
      <p:pic>
        <p:nvPicPr>
          <p:cNvPr id="19" name="Image 5" descr="assets/altkom_logo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2240" y="6038850"/>
            <a:ext cx="637540" cy="2565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61000" y="6054281"/>
            <a:ext cx="508000" cy="1524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000000"/>
                </a:solidFill>
                <a:latin typeface="DM Sans"/>
                <a:ea typeface="DM Sans"/>
                <a:cs typeface="DM Sans"/>
              </a:defRPr>
            </a:lvl1pPr>
          </a:lstStyle>
          <a:p>
            <a:pPr algn="ct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2300" y="729171"/>
            <a:ext cx="10185400" cy="522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13"/>
              </a:lnSpc>
              <a:buNone/>
            </a:pPr>
            <a:r>
              <a:rPr lang="en-US" sz="305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Czego się dziś nauczysz</a:t>
            </a:r>
            <a:endParaRPr lang="en-US" sz="3050" dirty="0"/>
          </a:p>
        </p:txBody>
      </p:sp>
      <p:sp>
        <p:nvSpPr>
          <p:cNvPr id="3" name="Text 1"/>
          <p:cNvSpPr/>
          <p:nvPr/>
        </p:nvSpPr>
        <p:spPr>
          <a:xfrm>
            <a:off x="619760" y="1581150"/>
            <a:ext cx="5019040" cy="1143000"/>
          </a:xfrm>
          <a:prstGeom prst="roundRect">
            <a:avLst>
              <a:gd name="adj" fmla="val 6667"/>
            </a:avLst>
          </a:prstGeom>
          <a:solidFill>
            <a:srgbClr val="F8DEDC"/>
          </a:solidFill>
          <a:ln/>
        </p:spPr>
        <p:txBody>
          <a:bodyPr wrap="square" lIns="154940" tIns="126835" rIns="101600" bIns="0" rtlCol="0" anchor="t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53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Platforma</a:t>
            </a:r>
            <a:endParaRPr lang="en-US" sz="1530" dirty="0"/>
          </a:p>
          <a:p>
            <a:pPr algn="l" indent="0" marL="0">
              <a:lnSpc>
                <a:spcPts val="1950"/>
              </a:lnSpc>
              <a:spcBef>
                <a:spcPts val="474"/>
              </a:spcBef>
              <a:buNone/>
            </a:pPr>
            <a:r>
              <a:rPr lang="en-US" sz="122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Poruszanie się po środowisku Databricks, praca z compute, model Lakehouse</a:t>
            </a:r>
            <a:endParaRPr lang="en-US" sz="1530" dirty="0"/>
          </a:p>
        </p:txBody>
      </p:sp>
      <p:sp>
        <p:nvSpPr>
          <p:cNvPr id="4" name="Text 2"/>
          <p:cNvSpPr/>
          <p:nvPr/>
        </p:nvSpPr>
        <p:spPr>
          <a:xfrm>
            <a:off x="5791200" y="1581150"/>
            <a:ext cx="5019040" cy="1143000"/>
          </a:xfrm>
          <a:prstGeom prst="roundRect">
            <a:avLst>
              <a:gd name="adj" fmla="val 6667"/>
            </a:avLst>
          </a:prstGeom>
          <a:solidFill>
            <a:srgbClr val="F8DEDC"/>
          </a:solidFill>
          <a:ln/>
        </p:spPr>
        <p:txBody>
          <a:bodyPr wrap="square" lIns="154940" tIns="126835" rIns="101600" bIns="0" rtlCol="0" anchor="t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53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Spark</a:t>
            </a:r>
            <a:endParaRPr lang="en-US" sz="1530" dirty="0"/>
          </a:p>
          <a:p>
            <a:pPr algn="l" indent="0" marL="0">
              <a:lnSpc>
                <a:spcPts val="1950"/>
              </a:lnSpc>
              <a:spcBef>
                <a:spcPts val="474"/>
              </a:spcBef>
              <a:buNone/>
            </a:pPr>
            <a:r>
              <a:rPr lang="en-US" sz="122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Model wykonania zapytań i transformacje w DataFrame API</a:t>
            </a:r>
            <a:endParaRPr lang="en-US" sz="1530" dirty="0"/>
          </a:p>
        </p:txBody>
      </p:sp>
      <p:sp>
        <p:nvSpPr>
          <p:cNvPr id="5" name="Text 3"/>
          <p:cNvSpPr/>
          <p:nvPr/>
        </p:nvSpPr>
        <p:spPr>
          <a:xfrm>
            <a:off x="619760" y="2876550"/>
            <a:ext cx="5019040" cy="1485900"/>
          </a:xfrm>
          <a:prstGeom prst="roundRect">
            <a:avLst>
              <a:gd name="adj" fmla="val 5128"/>
            </a:avLst>
          </a:prstGeom>
          <a:solidFill>
            <a:srgbClr val="F8DEDC"/>
          </a:solidFill>
          <a:ln/>
        </p:spPr>
        <p:txBody>
          <a:bodyPr wrap="square" lIns="154940" tIns="126835" rIns="101600" bIns="0" rtlCol="0" anchor="t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53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Ingestia</a:t>
            </a:r>
            <a:endParaRPr lang="en-US" sz="1530" dirty="0"/>
          </a:p>
          <a:p>
            <a:pPr algn="l" indent="0" marL="0">
              <a:lnSpc>
                <a:spcPts val="1950"/>
              </a:lnSpc>
              <a:spcBef>
                <a:spcPts val="474"/>
              </a:spcBef>
              <a:buNone/>
            </a:pPr>
            <a:r>
              <a:rPr lang="en-US" sz="122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Wczytywanie plików z Volumes, budowa warstw Bronze i Silver z jawnym schematem</a:t>
            </a:r>
            <a:endParaRPr lang="en-US" sz="1530" dirty="0"/>
          </a:p>
        </p:txBody>
      </p:sp>
      <p:sp>
        <p:nvSpPr>
          <p:cNvPr id="6" name="Text 4"/>
          <p:cNvSpPr/>
          <p:nvPr/>
        </p:nvSpPr>
        <p:spPr>
          <a:xfrm>
            <a:off x="5791200" y="2876550"/>
            <a:ext cx="5019040" cy="1485900"/>
          </a:xfrm>
          <a:prstGeom prst="roundRect">
            <a:avLst>
              <a:gd name="adj" fmla="val 5128"/>
            </a:avLst>
          </a:prstGeom>
          <a:solidFill>
            <a:srgbClr val="F8DEDC"/>
          </a:solidFill>
          <a:ln/>
        </p:spPr>
        <p:txBody>
          <a:bodyPr wrap="square" lIns="154940" tIns="126835" rIns="101600" bIns="0" rtlCol="0" anchor="t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53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Delta Lake</a:t>
            </a:r>
            <a:endParaRPr lang="en-US" sz="1530" dirty="0"/>
          </a:p>
          <a:p>
            <a:pPr algn="l" indent="0" marL="0">
              <a:lnSpc>
                <a:spcPts val="1950"/>
              </a:lnSpc>
              <a:spcBef>
                <a:spcPts val="474"/>
              </a:spcBef>
              <a:buNone/>
            </a:pPr>
            <a:r>
              <a:rPr lang="en-US" sz="122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Transakcje ACID, MERGE, time travel, RESTORE, utrzymanie tabel</a:t>
            </a:r>
            <a:endParaRPr lang="en-US" sz="1530" dirty="0"/>
          </a:p>
        </p:txBody>
      </p:sp>
      <p:sp>
        <p:nvSpPr>
          <p:cNvPr id="7" name="Text 5"/>
          <p:cNvSpPr/>
          <p:nvPr/>
        </p:nvSpPr>
        <p:spPr>
          <a:xfrm>
            <a:off x="619760" y="4514850"/>
            <a:ext cx="5019040" cy="1143000"/>
          </a:xfrm>
          <a:prstGeom prst="roundRect">
            <a:avLst>
              <a:gd name="adj" fmla="val 6667"/>
            </a:avLst>
          </a:prstGeom>
          <a:solidFill>
            <a:srgbClr val="F8DEDC"/>
          </a:solidFill>
          <a:ln/>
        </p:spPr>
        <p:txBody>
          <a:bodyPr wrap="square" lIns="154940" tIns="126835" rIns="101600" bIns="0" rtlCol="0" anchor="t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53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Orkiestracja</a:t>
            </a:r>
            <a:endParaRPr lang="en-US" sz="1530" dirty="0"/>
          </a:p>
          <a:p>
            <a:pPr algn="l" indent="0" marL="0">
              <a:lnSpc>
                <a:spcPts val="1950"/>
              </a:lnSpc>
              <a:spcBef>
                <a:spcPts val="474"/>
              </a:spcBef>
              <a:buNone/>
            </a:pPr>
            <a:r>
              <a:rPr lang="en-US" sz="122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Tworzenie Lakeflow Jobs, harmonogram CRON, Repair Run dla tańszych powtórek</a:t>
            </a:r>
            <a:endParaRPr lang="en-US" sz="1530" dirty="0"/>
          </a:p>
        </p:txBody>
      </p:sp>
      <p:sp>
        <p:nvSpPr>
          <p:cNvPr id="8" name="Text 6"/>
          <p:cNvSpPr/>
          <p:nvPr/>
        </p:nvSpPr>
        <p:spPr>
          <a:xfrm>
            <a:off x="5791200" y="4514850"/>
            <a:ext cx="5019040" cy="1143000"/>
          </a:xfrm>
          <a:prstGeom prst="roundRect">
            <a:avLst>
              <a:gd name="adj" fmla="val 6667"/>
            </a:avLst>
          </a:prstGeom>
          <a:solidFill>
            <a:srgbClr val="F8DEDC"/>
          </a:solidFill>
          <a:ln/>
        </p:spPr>
        <p:txBody>
          <a:bodyPr wrap="square" lIns="154940" tIns="126835" rIns="101600" bIns="0" rtlCol="0" anchor="t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53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Projekt końcowy</a:t>
            </a:r>
            <a:endParaRPr lang="en-US" sz="1530" dirty="0"/>
          </a:p>
          <a:p>
            <a:pPr algn="l" indent="0" marL="0">
              <a:lnSpc>
                <a:spcPts val="1950"/>
              </a:lnSpc>
              <a:spcBef>
                <a:spcPts val="474"/>
              </a:spcBef>
              <a:buNone/>
            </a:pPr>
            <a:r>
              <a:rPr lang="en-US" sz="122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Kompletny pipeline uruchamiany jako job produkcyjny, od Bronze do Gold</a:t>
            </a:r>
            <a:endParaRPr lang="en-US" sz="1530" dirty="0"/>
          </a:p>
        </p:txBody>
      </p:sp>
      <p:pic>
        <p:nvPicPr>
          <p:cNvPr id="9" name="Image 0" descr="assets/altko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240" y="6038850"/>
            <a:ext cx="637540" cy="2565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61000" y="6054281"/>
            <a:ext cx="508000" cy="1524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000000"/>
                </a:solidFill>
                <a:latin typeface="DM Sans"/>
                <a:ea typeface="DM Sans"/>
                <a:cs typeface="DM Sans"/>
              </a:defRPr>
            </a:lvl1pPr>
          </a:lstStyle>
          <a:p>
            <a:pPr algn="ct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2300" y="1778190"/>
            <a:ext cx="10185400" cy="522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13"/>
              </a:lnSpc>
              <a:buNone/>
            </a:pPr>
            <a:r>
              <a:rPr lang="en-US" sz="305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Jak działa środowisko szkoleniowe</a:t>
            </a:r>
            <a:endParaRPr lang="en-US" sz="3050" dirty="0"/>
          </a:p>
        </p:txBody>
      </p:sp>
      <p:sp>
        <p:nvSpPr>
          <p:cNvPr id="3" name="Text 1"/>
          <p:cNvSpPr txBox="1"/>
          <p:nvPr/>
        </p:nvSpPr>
        <p:spPr>
          <a:xfrm>
            <a:off x="1117600" y="2595715"/>
            <a:ext cx="4546600" cy="850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53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Środowisko jest gotowe</a:t>
            </a:r>
            <a:endParaRPr lang="en-US" sz="1530" dirty="0"/>
          </a:p>
          <a:p>
            <a:pPr algn="l" indent="0" marL="0">
              <a:lnSpc>
                <a:spcPts val="1950"/>
              </a:lnSpc>
              <a:spcBef>
                <a:spcPts val="584"/>
              </a:spcBef>
              <a:buNone/>
            </a:pPr>
            <a:r>
              <a:rPr lang="en-US" sz="122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Notebooki są skonfigurowane, compute już działa. Nic nie instalujesz, wystarczy otworzyć przeglądarkę.</a:t>
            </a:r>
            <a:endParaRPr lang="en-US" sz="1530" dirty="0"/>
          </a:p>
        </p:txBody>
      </p:sp>
      <p:sp>
        <p:nvSpPr>
          <p:cNvPr id="4" name="Text 2"/>
          <p:cNvSpPr txBox="1"/>
          <p:nvPr/>
        </p:nvSpPr>
        <p:spPr>
          <a:xfrm>
            <a:off x="6318250" y="2595715"/>
            <a:ext cx="4546600" cy="850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53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Każdy blok: teoria → praktyka</a:t>
            </a:r>
            <a:endParaRPr lang="en-US" sz="1530" dirty="0"/>
          </a:p>
          <a:p>
            <a:pPr algn="l" indent="0" marL="0">
              <a:lnSpc>
                <a:spcPts val="1950"/>
              </a:lnSpc>
              <a:spcBef>
                <a:spcPts val="584"/>
              </a:spcBef>
              <a:buNone/>
            </a:pPr>
            <a:r>
              <a:rPr lang="en-US" sz="122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Najpierw omawiamy temat na slajdach, potem od razu stosujesz go w notebooku. Uczymy się przez praktykę.</a:t>
            </a:r>
            <a:endParaRPr lang="en-US" sz="1530" dirty="0"/>
          </a:p>
        </p:txBody>
      </p:sp>
      <p:sp>
        <p:nvSpPr>
          <p:cNvPr id="5" name="Text 3"/>
          <p:cNvSpPr txBox="1"/>
          <p:nvPr/>
        </p:nvSpPr>
        <p:spPr>
          <a:xfrm>
            <a:off x="1117600" y="3738715"/>
            <a:ext cx="4546600" cy="850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53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Dwa języki, jeden notebook</a:t>
            </a:r>
            <a:endParaRPr lang="en-US" sz="1530" dirty="0"/>
          </a:p>
          <a:p>
            <a:pPr algn="l" indent="0" marL="0">
              <a:lnSpc>
                <a:spcPts val="1950"/>
              </a:lnSpc>
              <a:spcBef>
                <a:spcPts val="584"/>
              </a:spcBef>
              <a:buNone/>
            </a:pPr>
            <a:r>
              <a:rPr lang="en-US" sz="122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Piszemy w </a:t>
            </a:r>
            <a:pPr algn="l" indent="0" marL="0">
              <a:lnSpc>
                <a:spcPts val="1950"/>
              </a:lnSpc>
              <a:spcBef>
                <a:spcPts val="584"/>
              </a:spcBef>
              <a:buNone/>
            </a:pPr>
            <a:r>
              <a:rPr lang="en-US" sz="122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PySpark</a:t>
            </a:r>
            <a:pPr algn="l" indent="0" marL="0">
              <a:lnSpc>
                <a:spcPts val="1950"/>
              </a:lnSpc>
              <a:spcBef>
                <a:spcPts val="584"/>
              </a:spcBef>
              <a:buNone/>
            </a:pPr>
            <a:r>
              <a:rPr lang="en-US" sz="122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i </a:t>
            </a:r>
            <a:pPr algn="l" indent="0" marL="0">
              <a:lnSpc>
                <a:spcPts val="1950"/>
              </a:lnSpc>
              <a:spcBef>
                <a:spcPts val="584"/>
              </a:spcBef>
              <a:buNone/>
            </a:pPr>
            <a:r>
              <a:rPr lang="en-US" sz="122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SQL</a:t>
            </a:r>
            <a:pPr algn="l" indent="0" marL="0">
              <a:lnSpc>
                <a:spcPts val="1950"/>
              </a:lnSpc>
              <a:spcBef>
                <a:spcPts val="584"/>
              </a:spcBef>
              <a:buNone/>
            </a:pPr>
            <a:r>
              <a:rPr lang="en-US" sz="122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w tym samym notebooku. Przełączasz się magic commands.</a:t>
            </a:r>
            <a:endParaRPr lang="en-US" sz="1530" dirty="0"/>
          </a:p>
        </p:txBody>
      </p:sp>
      <p:sp>
        <p:nvSpPr>
          <p:cNvPr id="6" name="Text 4"/>
          <p:cNvSpPr txBox="1"/>
          <p:nvPr/>
        </p:nvSpPr>
        <p:spPr>
          <a:xfrm>
            <a:off x="6318250" y="3738715"/>
            <a:ext cx="4546600" cy="850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53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Natychmiastowy efekt</a:t>
            </a:r>
            <a:endParaRPr lang="en-US" sz="1530" dirty="0"/>
          </a:p>
          <a:p>
            <a:pPr algn="l" indent="0" marL="0">
              <a:lnSpc>
                <a:spcPts val="1950"/>
              </a:lnSpc>
              <a:spcBef>
                <a:spcPts val="584"/>
              </a:spcBef>
              <a:buNone/>
            </a:pPr>
            <a:r>
              <a:rPr lang="en-US" sz="122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Wynik widzisz zaraz po uruchomieniu komórki. Błędy pokazują się od razu, debugowanie to część nauki.</a:t>
            </a:r>
            <a:endParaRPr lang="en-US" sz="1530" dirty="0"/>
          </a:p>
        </p:txBody>
      </p:sp>
      <p:pic>
        <p:nvPicPr>
          <p:cNvPr id="7" name="Image 0" descr="assets/icon_p08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6590" y="2635250"/>
            <a:ext cx="269240" cy="232410"/>
          </a:xfrm>
          <a:prstGeom prst="rect">
            <a:avLst/>
          </a:prstGeom>
        </p:spPr>
      </p:pic>
      <p:pic>
        <p:nvPicPr>
          <p:cNvPr id="8" name="Image 1" descr="assets/icon_p08_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8350" y="2635250"/>
            <a:ext cx="267970" cy="232410"/>
          </a:xfrm>
          <a:prstGeom prst="rect">
            <a:avLst/>
          </a:prstGeom>
        </p:spPr>
      </p:pic>
      <p:pic>
        <p:nvPicPr>
          <p:cNvPr id="9" name="Image 2" descr="assets/icon_p08_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590" y="3778250"/>
            <a:ext cx="269240" cy="232410"/>
          </a:xfrm>
          <a:prstGeom prst="rect">
            <a:avLst/>
          </a:prstGeom>
        </p:spPr>
      </p:pic>
      <p:pic>
        <p:nvPicPr>
          <p:cNvPr id="10" name="Image 3" descr="assets/icon_p08_3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8350" y="3778250"/>
            <a:ext cx="267970" cy="232410"/>
          </a:xfrm>
          <a:prstGeom prst="rect">
            <a:avLst/>
          </a:prstGeom>
        </p:spPr>
      </p:pic>
      <p:pic>
        <p:nvPicPr>
          <p:cNvPr id="11" name="Image 4" descr="assets/altkom_log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2240" y="6038850"/>
            <a:ext cx="637540" cy="2565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61000" y="6054281"/>
            <a:ext cx="508000" cy="1524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000000"/>
                </a:solidFill>
                <a:latin typeface="DM Sans"/>
                <a:ea typeface="DM Sans"/>
                <a:cs typeface="DM Sans"/>
              </a:defRPr>
            </a:lvl1pPr>
          </a:lstStyle>
          <a:p>
            <a:pPr algn="ct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9760" y="2562860"/>
            <a:ext cx="800100" cy="285750"/>
          </a:xfrm>
          <a:prstGeom prst="roundRect">
            <a:avLst>
              <a:gd name="adj" fmla="val 17778"/>
            </a:avLst>
          </a:prstGeom>
          <a:solidFill>
            <a:srgbClr val="F6D6D5"/>
          </a:solidFill>
          <a:ln/>
        </p:spPr>
        <p:txBody>
          <a:bodyPr wrap="square" lIns="95250" tIns="20599" rIns="2540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98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SEKCJA 2</a:t>
            </a:r>
            <a:endParaRPr lang="en-US" sz="980" dirty="0"/>
          </a:p>
        </p:txBody>
      </p:sp>
      <p:sp>
        <p:nvSpPr>
          <p:cNvPr id="3" name="Text 1"/>
          <p:cNvSpPr txBox="1"/>
          <p:nvPr/>
        </p:nvSpPr>
        <p:spPr>
          <a:xfrm>
            <a:off x="622300" y="2861501"/>
            <a:ext cx="10185400" cy="522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13"/>
              </a:lnSpc>
              <a:buNone/>
            </a:pPr>
            <a:r>
              <a:rPr lang="en-US" sz="305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Platforma Databricks</a:t>
            </a:r>
            <a:endParaRPr lang="en-US" sz="3050" dirty="0"/>
          </a:p>
        </p:txBody>
      </p:sp>
      <p:sp>
        <p:nvSpPr>
          <p:cNvPr id="4" name="Text 2"/>
          <p:cNvSpPr txBox="1"/>
          <p:nvPr/>
        </p:nvSpPr>
        <p:spPr>
          <a:xfrm>
            <a:off x="622300" y="3577057"/>
            <a:ext cx="101854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22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Zrozumienie platformy, zanim napiszemy pierwszą linię kodu.</a:t>
            </a:r>
            <a:endParaRPr lang="en-US" sz="1220" dirty="0"/>
          </a:p>
        </p:txBody>
      </p:sp>
      <p:pic>
        <p:nvPicPr>
          <p:cNvPr id="5" name="Image 0" descr="assets/altko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240" y="6038850"/>
            <a:ext cx="637540" cy="2565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61000" y="6054281"/>
            <a:ext cx="508000" cy="1524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000000"/>
                </a:solidFill>
                <a:latin typeface="DM Sans"/>
                <a:ea typeface="DM Sans"/>
                <a:cs typeface="DM Sans"/>
              </a:defRPr>
            </a:lvl1pPr>
          </a:lstStyle>
          <a:p>
            <a:pPr algn="ct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2300" y="547116"/>
            <a:ext cx="10185400" cy="38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Świat danych dziś, wyzwania</a:t>
            </a:r>
            <a:endParaRPr lang="en-US" sz="2200" dirty="0"/>
          </a:p>
        </p:txBody>
      </p:sp>
      <p:pic>
        <p:nvPicPr>
          <p:cNvPr id="3" name="Image 0" descr="assets/p10_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050" y="1276350"/>
            <a:ext cx="2847340" cy="2847340"/>
          </a:xfrm>
          <a:prstGeom prst="rect">
            <a:avLst/>
          </a:prstGeom>
        </p:spPr>
      </p:pic>
      <p:pic>
        <p:nvPicPr>
          <p:cNvPr id="4" name="Image 1" descr="assets/p10_1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5140" y="1276350"/>
            <a:ext cx="2857500" cy="2847340"/>
          </a:xfrm>
          <a:prstGeom prst="rect">
            <a:avLst/>
          </a:prstGeom>
        </p:spPr>
      </p:pic>
      <p:pic>
        <p:nvPicPr>
          <p:cNvPr id="5" name="Image 2" descr="assets/p10_2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0660" y="1276350"/>
            <a:ext cx="2847340" cy="2847340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615950" y="4246410"/>
            <a:ext cx="3200400" cy="1350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3"/>
              </a:lnSpc>
              <a:buNone/>
            </a:pPr>
            <a:r>
              <a:rPr lang="en-US" sz="137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Klasyczne hurtownie danych</a:t>
            </a:r>
            <a:endParaRPr lang="en-US" sz="1370" dirty="0"/>
          </a:p>
          <a:p>
            <a:pPr algn="l" marL="228600" indent="-228600">
              <a:lnSpc>
                <a:spcPts val="1650"/>
              </a:lnSpc>
              <a:spcBef>
                <a:spcPts val="870"/>
              </a:spcBef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Wysokie koszty licencji i infrastruktury</a:t>
            </a:r>
            <a:endParaRPr lang="en-US" sz="1370" dirty="0"/>
          </a:p>
          <a:p>
            <a:pPr algn="l" marL="228600" indent="-228600">
              <a:lnSpc>
                <a:spcPts val="1650"/>
              </a:lnSpc>
              <a:spcBef>
                <a:spcPts val="400"/>
              </a:spcBef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Ograniczona skalowalność</a:t>
            </a:r>
            <a:endParaRPr lang="en-US" sz="1370" dirty="0"/>
          </a:p>
          <a:p>
            <a:pPr algn="l" marL="228600" indent="-228600">
              <a:lnSpc>
                <a:spcPts val="1650"/>
              </a:lnSpc>
              <a:spcBef>
                <a:spcPts val="350"/>
              </a:spcBef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Sztywne schematy</a:t>
            </a:r>
            <a:endParaRPr lang="en-US" sz="1370" dirty="0"/>
          </a:p>
          <a:p>
            <a:pPr algn="l" marL="228600" indent="-228600">
              <a:lnSpc>
                <a:spcPts val="1650"/>
              </a:lnSpc>
              <a:spcBef>
                <a:spcPts val="400"/>
              </a:spcBef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Głównie dane ustrukturyzowane</a:t>
            </a:r>
            <a:endParaRPr lang="en-US" sz="1370" dirty="0"/>
          </a:p>
        </p:txBody>
      </p:sp>
      <p:sp>
        <p:nvSpPr>
          <p:cNvPr id="7" name="Text 2"/>
          <p:cNvSpPr txBox="1"/>
          <p:nvPr/>
        </p:nvSpPr>
        <p:spPr>
          <a:xfrm>
            <a:off x="4140200" y="4246410"/>
            <a:ext cx="3200400" cy="1553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3"/>
              </a:lnSpc>
              <a:buNone/>
            </a:pPr>
            <a:r>
              <a:rPr lang="en-US" sz="137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Data Lake</a:t>
            </a:r>
            <a:endParaRPr lang="en-US" sz="1370" dirty="0"/>
          </a:p>
          <a:p>
            <a:pPr algn="l" marL="228600" indent="-228600">
              <a:lnSpc>
                <a:spcPts val="1650"/>
              </a:lnSpc>
              <a:spcBef>
                <a:spcPts val="870"/>
              </a:spcBef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Tani storage, ale grozi "data swamp"</a:t>
            </a:r>
            <a:endParaRPr lang="en-US" sz="1370" dirty="0"/>
          </a:p>
          <a:p>
            <a:pPr algn="l" marL="228600" indent="-228600">
              <a:lnSpc>
                <a:spcPts val="1650"/>
              </a:lnSpc>
              <a:spcBef>
                <a:spcPts val="350"/>
              </a:spcBef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Brak transakcji ACID (atomowość, spójność, izolacja, trwałość)</a:t>
            </a:r>
            <a:endParaRPr lang="en-US" sz="1370" dirty="0"/>
          </a:p>
          <a:p>
            <a:pPr algn="l" marL="228600" indent="-228600">
              <a:lnSpc>
                <a:spcPts val="1650"/>
              </a:lnSpc>
              <a:spcBef>
                <a:spcPts val="400"/>
              </a:spcBef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Problemy z zarządzaniem (data governance)</a:t>
            </a:r>
            <a:endParaRPr lang="en-US" sz="1370" dirty="0"/>
          </a:p>
          <a:p>
            <a:pPr algn="l" marL="228600" indent="-228600">
              <a:lnSpc>
                <a:spcPts val="1650"/>
              </a:lnSpc>
              <a:spcBef>
                <a:spcPts val="350"/>
              </a:spcBef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Trudne wyszukiwanie danych i lineage</a:t>
            </a:r>
            <a:endParaRPr lang="en-US" sz="1370" dirty="0"/>
          </a:p>
        </p:txBody>
      </p:sp>
      <p:sp>
        <p:nvSpPr>
          <p:cNvPr id="8" name="Text 3"/>
          <p:cNvSpPr txBox="1"/>
          <p:nvPr/>
        </p:nvSpPr>
        <p:spPr>
          <a:xfrm>
            <a:off x="7658100" y="4246410"/>
            <a:ext cx="3200400" cy="1553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3"/>
              </a:lnSpc>
              <a:buNone/>
            </a:pPr>
            <a:r>
              <a:rPr lang="en-US" sz="137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Rozproszone środowiska</a:t>
            </a:r>
            <a:endParaRPr lang="en-US" sz="1370" dirty="0"/>
          </a:p>
          <a:p>
            <a:pPr algn="l" marL="228600" indent="-228600">
              <a:lnSpc>
                <a:spcPts val="1650"/>
              </a:lnSpc>
              <a:spcBef>
                <a:spcPts val="870"/>
              </a:spcBef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Osobne systemy dla analityki i machine learningu</a:t>
            </a:r>
            <a:endParaRPr lang="en-US" sz="1370" dirty="0"/>
          </a:p>
          <a:p>
            <a:pPr algn="l" marL="228600" indent="-228600">
              <a:lnSpc>
                <a:spcPts val="1650"/>
              </a:lnSpc>
              <a:spcBef>
                <a:spcPts val="400"/>
              </a:spcBef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Duplikacja danych i logiki</a:t>
            </a:r>
            <a:endParaRPr lang="en-US" sz="1370" dirty="0"/>
          </a:p>
          <a:p>
            <a:pPr algn="l" marL="228600" indent="-228600">
              <a:lnSpc>
                <a:spcPts val="1650"/>
              </a:lnSpc>
              <a:spcBef>
                <a:spcPts val="350"/>
              </a:spcBef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Silosy organizacyjne</a:t>
            </a:r>
            <a:endParaRPr lang="en-US" sz="1370" dirty="0"/>
          </a:p>
          <a:p>
            <a:pPr algn="l" marL="228600" indent="-228600">
              <a:lnSpc>
                <a:spcPts val="1650"/>
              </a:lnSpc>
              <a:spcBef>
                <a:spcPts val="350"/>
              </a:spcBef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Problemy z wydajnością przy skali</a:t>
            </a:r>
            <a:endParaRPr lang="en-US" sz="1370" dirty="0"/>
          </a:p>
        </p:txBody>
      </p:sp>
      <p:pic>
        <p:nvPicPr>
          <p:cNvPr id="9" name="Image 3" descr="assets/altkom_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2240" y="6038850"/>
            <a:ext cx="637540" cy="2565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61000" y="6054281"/>
            <a:ext cx="508000" cy="1524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000000"/>
                </a:solidFill>
                <a:latin typeface="DM Sans"/>
                <a:ea typeface="DM Sans"/>
                <a:cs typeface="DM Sans"/>
              </a:defRPr>
            </a:lvl1pPr>
          </a:lstStyle>
          <a:p>
            <a:pPr algn="ct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2300" y="491833"/>
            <a:ext cx="10185400" cy="805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20"/>
              </a:lnSpc>
              <a:buNone/>
            </a:pPr>
            <a:r>
              <a:rPr lang="en-US" sz="243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Wpływ sztucznej inteligencji i dużych modeli językowych na wymagania wobec platform danych</a:t>
            </a:r>
            <a:endParaRPr lang="en-US" sz="2430" dirty="0"/>
          </a:p>
        </p:txBody>
      </p:sp>
      <p:pic>
        <p:nvPicPr>
          <p:cNvPr id="3" name="Image 0" descr="assets/p11_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9760" y="1551940"/>
            <a:ext cx="3952240" cy="39624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277610" y="1529956"/>
            <a:ext cx="4445000" cy="3385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0"/>
              </a:lnSpc>
              <a:buNone/>
            </a:pPr>
            <a:r>
              <a:rPr lang="en-US" sz="121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Dane nieustrukturyzowane</a:t>
            </a:r>
            <a:endParaRPr lang="en-US" sz="1210" dirty="0"/>
          </a:p>
          <a:p>
            <a:pPr algn="l" indent="0" marL="0">
              <a:lnSpc>
                <a:spcPts val="1380"/>
              </a:lnSpc>
              <a:spcBef>
                <a:spcPts val="756"/>
              </a:spcBef>
              <a:buNone/>
            </a:pPr>
            <a:r>
              <a:rPr lang="en-US" sz="97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Modele AI potrzebują tekstu, obrazów, audio i wideo. To znacznie więcej niż klasyczne tabele.</a:t>
            </a:r>
            <a:endParaRPr lang="en-US" sz="1210" dirty="0"/>
          </a:p>
          <a:p>
            <a:pPr algn="l" indent="0" marL="0">
              <a:lnSpc>
                <a:spcPts val="1510"/>
              </a:lnSpc>
              <a:spcBef>
                <a:spcPts val="1574"/>
              </a:spcBef>
              <a:buNone/>
            </a:pPr>
            <a:r>
              <a:rPr lang="en-US" sz="121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Jedna platforma</a:t>
            </a:r>
            <a:endParaRPr lang="en-US" sz="1210" dirty="0"/>
          </a:p>
          <a:p>
            <a:pPr algn="l" indent="0" marL="0">
              <a:lnSpc>
                <a:spcPts val="1380"/>
              </a:lnSpc>
              <a:spcBef>
                <a:spcPts val="736"/>
              </a:spcBef>
              <a:buNone/>
            </a:pPr>
            <a:r>
              <a:rPr lang="en-US" sz="97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Jedno miejsce na dane surowe, cechy, modele i metadane. Koniec z kopiowaniem między systemami.</a:t>
            </a:r>
            <a:endParaRPr lang="en-US" sz="1210" dirty="0"/>
          </a:p>
          <a:p>
            <a:pPr algn="l" indent="0" marL="0">
              <a:lnSpc>
                <a:spcPts val="1510"/>
              </a:lnSpc>
              <a:spcBef>
                <a:spcPts val="1594"/>
              </a:spcBef>
              <a:buNone/>
            </a:pPr>
            <a:r>
              <a:rPr lang="en-US" sz="121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Governance i jakość</a:t>
            </a:r>
            <a:endParaRPr lang="en-US" sz="1210" dirty="0"/>
          </a:p>
          <a:p>
            <a:pPr algn="l" indent="0" marL="0">
              <a:lnSpc>
                <a:spcPts val="1380"/>
              </a:lnSpc>
              <a:spcBef>
                <a:spcPts val="736"/>
              </a:spcBef>
              <a:buNone/>
            </a:pPr>
            <a:r>
              <a:rPr lang="en-US" sz="97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AI i LLM-y mnożą problemy z jakością danych. Rośnie rola lineage, audytu i kontroli dostępu.</a:t>
            </a:r>
            <a:endParaRPr lang="en-US" sz="1210" dirty="0"/>
          </a:p>
          <a:p>
            <a:pPr algn="l" indent="0" marL="0">
              <a:lnSpc>
                <a:spcPts val="1510"/>
              </a:lnSpc>
              <a:spcBef>
                <a:spcPts val="1594"/>
              </a:spcBef>
              <a:buNone/>
            </a:pPr>
            <a:r>
              <a:rPr lang="en-US" sz="121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Zbieżność hurtowni, data lake i machine learningu</a:t>
            </a:r>
            <a:endParaRPr lang="en-US" sz="1210" dirty="0"/>
          </a:p>
          <a:p>
            <a:pPr algn="l" indent="0" marL="0">
              <a:lnSpc>
                <a:spcPts val="1380"/>
              </a:lnSpc>
              <a:spcBef>
                <a:spcPts val="776"/>
              </a:spcBef>
              <a:buNone/>
            </a:pPr>
            <a:r>
              <a:rPr lang="en-US" sz="97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Potrzebna jest platforma łącząca możliwości hurtowni, elastyczność data lake i wsparcie dla AI w jednym.</a:t>
            </a:r>
            <a:endParaRPr lang="en-US" sz="1210" dirty="0"/>
          </a:p>
        </p:txBody>
      </p:sp>
      <p:pic>
        <p:nvPicPr>
          <p:cNvPr id="5" name="Image 1" descr="assets/icon_p11_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5500" y="1553210"/>
            <a:ext cx="220980" cy="191770"/>
          </a:xfrm>
          <a:prstGeom prst="rect">
            <a:avLst/>
          </a:prstGeom>
        </p:spPr>
      </p:pic>
      <p:pic>
        <p:nvPicPr>
          <p:cNvPr id="6" name="Image 2" descr="assets/icon_p11_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5500" y="2400300"/>
            <a:ext cx="220980" cy="193040"/>
          </a:xfrm>
          <a:prstGeom prst="rect">
            <a:avLst/>
          </a:prstGeom>
        </p:spPr>
      </p:pic>
      <p:pic>
        <p:nvPicPr>
          <p:cNvPr id="7" name="Image 3" descr="assets/icon_p11_2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5500" y="3238500"/>
            <a:ext cx="220980" cy="193040"/>
          </a:xfrm>
          <a:prstGeom prst="rect">
            <a:avLst/>
          </a:prstGeom>
        </p:spPr>
      </p:pic>
      <p:pic>
        <p:nvPicPr>
          <p:cNvPr id="8" name="Image 4" descr="assets/icon_p11_3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5500" y="4076700"/>
            <a:ext cx="220980" cy="193040"/>
          </a:xfrm>
          <a:prstGeom prst="rect">
            <a:avLst/>
          </a:prstGeom>
        </p:spPr>
      </p:pic>
      <p:sp>
        <p:nvSpPr>
          <p:cNvPr id="9" name="Text 2"/>
          <p:cNvSpPr txBox="1"/>
          <p:nvPr/>
        </p:nvSpPr>
        <p:spPr>
          <a:xfrm>
            <a:off x="619760" y="5700179"/>
            <a:ext cx="101854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97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Era generatywnej AI zmienia oczekiwania wobec platform danych i wymusza konsolidację oraz modernizację architektury.</a:t>
            </a:r>
            <a:endParaRPr lang="en-US" sz="970" dirty="0"/>
          </a:p>
        </p:txBody>
      </p:sp>
      <p:pic>
        <p:nvPicPr>
          <p:cNvPr id="10" name="Image 5" descr="assets/altkom_logo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2240" y="6038850"/>
            <a:ext cx="637540" cy="2565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61000" y="6054281"/>
            <a:ext cx="508000" cy="1524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000000"/>
                </a:solidFill>
                <a:latin typeface="DM Sans"/>
                <a:ea typeface="DM Sans"/>
                <a:cs typeface="DM Sans"/>
              </a:defRPr>
            </a:lvl1pPr>
          </a:lstStyle>
          <a:p>
            <a:pPr algn="ct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2300" y="2152523"/>
            <a:ext cx="10185400" cy="1971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600"/>
              </a:lnSpc>
              <a:buNone/>
            </a:pPr>
            <a:r>
              <a:rPr lang="en-US" sz="610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Databricks:</a:t>
            </a:r>
            <a:endParaRPr lang="en-US" sz="6100" dirty="0"/>
          </a:p>
          <a:p>
            <a:pPr algn="l" indent="0" marL="0">
              <a:lnSpc>
                <a:spcPts val="7600"/>
              </a:lnSpc>
              <a:spcBef>
                <a:spcPts val="20"/>
              </a:spcBef>
              <a:buNone/>
            </a:pPr>
            <a:r>
              <a:rPr lang="en-US" sz="610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Platforma Data + AI</a:t>
            </a:r>
            <a:endParaRPr lang="en-US" sz="6100" dirty="0"/>
          </a:p>
        </p:txBody>
      </p:sp>
      <p:pic>
        <p:nvPicPr>
          <p:cNvPr id="3" name="Image 0" descr="assets/altko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240" y="6038850"/>
            <a:ext cx="637540" cy="2565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61000" y="6054281"/>
            <a:ext cx="508000" cy="1524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000000"/>
                </a:solidFill>
                <a:latin typeface="DM Sans"/>
                <a:ea typeface="DM Sans"/>
                <a:cs typeface="DM Sans"/>
              </a:defRPr>
            </a:lvl1pPr>
          </a:lstStyle>
          <a:p>
            <a:pPr algn="ct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2300" y="1477201"/>
            <a:ext cx="6350000" cy="522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13"/>
              </a:lnSpc>
              <a:buNone/>
            </a:pPr>
            <a:r>
              <a:rPr lang="en-US" sz="305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Czym jest Databricks?</a:t>
            </a:r>
            <a:endParaRPr lang="en-US" sz="3050" dirty="0"/>
          </a:p>
        </p:txBody>
      </p:sp>
      <p:sp>
        <p:nvSpPr>
          <p:cNvPr id="3" name="Text 1"/>
          <p:cNvSpPr txBox="1"/>
          <p:nvPr/>
        </p:nvSpPr>
        <p:spPr>
          <a:xfrm>
            <a:off x="622300" y="2345157"/>
            <a:ext cx="6045200" cy="2400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22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Databricks to platforma analityczna zbudowana na Apache Spark przez twórców tego projektu z UC Berkeley. Daje kompletne rozwiązanie klasy lakehouse, łączące:</a:t>
            </a:r>
            <a:endParaRPr lang="en-US" sz="1220" dirty="0"/>
          </a:p>
          <a:p>
            <a:pPr algn="l" marL="241300" indent="-241300">
              <a:lnSpc>
                <a:spcPts val="1950"/>
              </a:lnSpc>
              <a:spcBef>
                <a:spcPts val="1050"/>
              </a:spcBef>
              <a:buSzPct val="100000"/>
              <a:buChar char="•"/>
            </a:pPr>
            <a:r>
              <a:rPr lang="en-US" sz="122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Data engineering, czyli przetwarzanie i przygotowanie danych</a:t>
            </a:r>
            <a:endParaRPr lang="en-US" sz="1220" dirty="0"/>
          </a:p>
          <a:p>
            <a:pPr algn="l" marL="241300" indent="-241300">
              <a:lnSpc>
                <a:spcPts val="1950"/>
              </a:lnSpc>
              <a:spcBef>
                <a:spcPts val="450"/>
              </a:spcBef>
              <a:buSzPct val="100000"/>
              <a:buChar char="•"/>
            </a:pPr>
            <a:r>
              <a:rPr lang="en-US" sz="122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Data science, czyli zaawansowaną analitykę i machine learning</a:t>
            </a:r>
            <a:endParaRPr lang="en-US" sz="1220" dirty="0"/>
          </a:p>
          <a:p>
            <a:pPr algn="l" marL="241300" indent="-241300">
              <a:lnSpc>
                <a:spcPts val="1950"/>
              </a:lnSpc>
              <a:spcBef>
                <a:spcPts val="450"/>
              </a:spcBef>
              <a:buSzPct val="100000"/>
              <a:buChar char="•"/>
            </a:pPr>
            <a:r>
              <a:rPr lang="en-US" sz="122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Analitykę biznesową, czyli wizualizacje i raporty</a:t>
            </a:r>
            <a:endParaRPr lang="en-US" sz="1220" dirty="0"/>
          </a:p>
          <a:p>
            <a:pPr algn="l" indent="0" marL="0">
              <a:lnSpc>
                <a:spcPts val="1950"/>
              </a:lnSpc>
              <a:spcBef>
                <a:spcPts val="1050"/>
              </a:spcBef>
              <a:buNone/>
            </a:pPr>
            <a:r>
              <a:rPr lang="en-US" sz="122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Platforma działa we wszystkich głównych chmurach (AWS, Azure, GCP), więc wdrożenie pasuje do posiadanej infrastruktury.</a:t>
            </a:r>
            <a:endParaRPr lang="en-US" sz="1220" dirty="0"/>
          </a:p>
        </p:txBody>
      </p:sp>
      <p:pic>
        <p:nvPicPr>
          <p:cNvPr id="4" name="Image 0" descr="assets/p13_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72300" y="2428240"/>
            <a:ext cx="3848100" cy="2019300"/>
          </a:xfrm>
          <a:prstGeom prst="rect">
            <a:avLst/>
          </a:prstGeom>
        </p:spPr>
      </p:pic>
      <p:pic>
        <p:nvPicPr>
          <p:cNvPr id="5" name="Image 1" descr="assets/altkom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240" y="6038850"/>
            <a:ext cx="637540" cy="2565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61000" y="6054281"/>
            <a:ext cx="508000" cy="1524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000000"/>
                </a:solidFill>
                <a:latin typeface="DM Sans"/>
                <a:ea typeface="DM Sans"/>
                <a:cs typeface="DM Sans"/>
              </a:defRPr>
            </a:lvl1pPr>
          </a:lstStyle>
          <a:p>
            <a:pPr algn="ct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p14_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0160"/>
            <a:ext cx="4290060" cy="642874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904740" y="1248601"/>
            <a:ext cx="5905500" cy="522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13"/>
              </a:lnSpc>
              <a:buNone/>
            </a:pPr>
            <a:r>
              <a:rPr lang="en-US" sz="305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Początki Databricks</a:t>
            </a:r>
            <a:endParaRPr lang="en-US" sz="3050" dirty="0"/>
          </a:p>
        </p:txBody>
      </p:sp>
      <p:sp>
        <p:nvSpPr>
          <p:cNvPr id="4" name="Text 1"/>
          <p:cNvSpPr/>
          <p:nvPr/>
        </p:nvSpPr>
        <p:spPr>
          <a:xfrm>
            <a:off x="4904740" y="2019300"/>
            <a:ext cx="5905500" cy="1143000"/>
          </a:xfrm>
          <a:prstGeom prst="roundRect">
            <a:avLst>
              <a:gd name="adj" fmla="val 6667"/>
            </a:avLst>
          </a:prstGeom>
          <a:solidFill>
            <a:srgbClr val="F8DEDC"/>
          </a:solidFill>
          <a:ln/>
        </p:spPr>
        <p:txBody>
          <a:bodyPr wrap="square" lIns="162560" tIns="133185" rIns="101600" bIns="0" rtlCol="0" anchor="t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53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2013: powstanie Databricks</a:t>
            </a:r>
            <a:endParaRPr lang="en-US" sz="1530" dirty="0"/>
          </a:p>
          <a:p>
            <a:pPr algn="l" indent="0" marL="0">
              <a:lnSpc>
                <a:spcPts val="1950"/>
              </a:lnSpc>
              <a:spcBef>
                <a:spcPts val="504"/>
              </a:spcBef>
              <a:buNone/>
            </a:pPr>
            <a:r>
              <a:rPr lang="en-US" sz="122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Założyciele, twórcy Apache Spark z UC Berkeley, w tym Matei Zaharia, Ali Ghodsi i Ion Stoica, postanawiają skomercjalizować technologię.</a:t>
            </a:r>
            <a:endParaRPr lang="en-US" sz="1530" dirty="0"/>
          </a:p>
        </p:txBody>
      </p:sp>
      <p:sp>
        <p:nvSpPr>
          <p:cNvPr id="5" name="Text 2"/>
          <p:cNvSpPr/>
          <p:nvPr/>
        </p:nvSpPr>
        <p:spPr>
          <a:xfrm>
            <a:off x="4904740" y="3324860"/>
            <a:ext cx="5905500" cy="1132840"/>
          </a:xfrm>
          <a:prstGeom prst="roundRect">
            <a:avLst>
              <a:gd name="adj" fmla="val 6726"/>
            </a:avLst>
          </a:prstGeom>
          <a:solidFill>
            <a:srgbClr val="F8DEDC"/>
          </a:solidFill>
          <a:ln/>
        </p:spPr>
        <p:txBody>
          <a:bodyPr wrap="square" lIns="162560" tIns="126835" rIns="101600" bIns="0" rtlCol="0" anchor="t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53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Misja firmy</a:t>
            </a:r>
            <a:endParaRPr lang="en-US" sz="1530" dirty="0"/>
          </a:p>
          <a:p>
            <a:pPr algn="l" indent="0" marL="0">
              <a:lnSpc>
                <a:spcPts val="1950"/>
              </a:lnSpc>
              <a:spcBef>
                <a:spcPts val="474"/>
              </a:spcBef>
              <a:buNone/>
            </a:pPr>
            <a:r>
              <a:rPr lang="en-US" sz="122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Uprościć korzystanie z Apache Spark w produkcji i w chmurze. Udostępnić zaawansowaną analitykę szerszemu gronu organizacji.</a:t>
            </a:r>
            <a:endParaRPr lang="en-US" sz="1530" dirty="0"/>
          </a:p>
        </p:txBody>
      </p:sp>
      <p:sp>
        <p:nvSpPr>
          <p:cNvPr id="6" name="Text 3"/>
          <p:cNvSpPr txBox="1"/>
          <p:nvPr/>
        </p:nvSpPr>
        <p:spPr>
          <a:xfrm>
            <a:off x="4904740" y="4593057"/>
            <a:ext cx="5905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22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Databricks założył zespół, który nie tylko stworzył Sparka, ale nadal rozwija zarówno silnik, jak i cały ekosystem wokół niego.</a:t>
            </a:r>
            <a:endParaRPr lang="en-US" sz="1220" dirty="0"/>
          </a:p>
        </p:txBody>
      </p:sp>
      <p:pic>
        <p:nvPicPr>
          <p:cNvPr id="7" name="Image 1" descr="assets/altkom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9760" y="6038850"/>
            <a:ext cx="637540" cy="2565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61650" y="6054281"/>
            <a:ext cx="508000" cy="1524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000000"/>
                </a:solidFill>
                <a:latin typeface="DM Sans"/>
                <a:ea typeface="DM Sans"/>
                <a:cs typeface="DM Sans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p16_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0160"/>
            <a:ext cx="4290060" cy="642874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904740" y="582422"/>
            <a:ext cx="5905500" cy="498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25"/>
              </a:lnSpc>
              <a:buNone/>
            </a:pPr>
            <a:r>
              <a:rPr lang="en-US" sz="290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Elementy platformy</a:t>
            </a:r>
            <a:endParaRPr lang="en-US" sz="2900" dirty="0"/>
          </a:p>
        </p:txBody>
      </p:sp>
      <p:sp>
        <p:nvSpPr>
          <p:cNvPr id="4" name="Text 1"/>
          <p:cNvSpPr txBox="1"/>
          <p:nvPr/>
        </p:nvSpPr>
        <p:spPr>
          <a:xfrm>
            <a:off x="4904740" y="1261415"/>
            <a:ext cx="59182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6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Databricks to chmurowa platforma Data + AI zbudowana na technologiach open source:</a:t>
            </a:r>
            <a:endParaRPr lang="en-US" sz="1160" dirty="0"/>
          </a:p>
        </p:txBody>
      </p:sp>
      <p:sp>
        <p:nvSpPr>
          <p:cNvPr id="5" name="Text 2"/>
          <p:cNvSpPr/>
          <p:nvPr/>
        </p:nvSpPr>
        <p:spPr>
          <a:xfrm>
            <a:off x="4914900" y="1924050"/>
            <a:ext cx="2867660" cy="1551940"/>
          </a:xfrm>
          <a:prstGeom prst="roundRect">
            <a:avLst>
              <a:gd name="adj" fmla="val 4910"/>
            </a:avLst>
          </a:prstGeom>
          <a:solidFill>
            <a:srgbClr val="FFFFFF"/>
          </a:solidFill>
          <a:ln w="19050">
            <a:solidFill>
              <a:srgbClr val="F8DEDC"/>
            </a:solidFill>
          </a:ln>
        </p:spPr>
        <p:txBody>
          <a:bodyPr wrap="square" lIns="152400" tIns="130493" rIns="76200" bIns="0" rtlCol="0" anchor="t"/>
          <a:lstStyle/>
          <a:p>
            <a:pPr algn="l" indent="0" marL="0">
              <a:lnSpc>
                <a:spcPts val="1813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Apache Spark</a:t>
            </a:r>
            <a:endParaRPr lang="en-US" sz="1450" dirty="0"/>
          </a:p>
          <a:p>
            <a:pPr algn="l" indent="0" marL="0">
              <a:lnSpc>
                <a:spcPts val="1800"/>
              </a:lnSpc>
              <a:spcBef>
                <a:spcPts val="542"/>
              </a:spcBef>
              <a:buNone/>
            </a:pPr>
            <a:r>
              <a:rPr lang="en-US" sz="116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Rozproszone przetwarzanie w pamięci, standardowy silnik analityczny dla dużych zbiorów danych.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7934960" y="1924050"/>
            <a:ext cx="2867660" cy="1551940"/>
          </a:xfrm>
          <a:prstGeom prst="roundRect">
            <a:avLst>
              <a:gd name="adj" fmla="val 4910"/>
            </a:avLst>
          </a:prstGeom>
          <a:solidFill>
            <a:srgbClr val="FFFFFF"/>
          </a:solidFill>
          <a:ln w="19050">
            <a:solidFill>
              <a:srgbClr val="F8DEDC"/>
            </a:solidFill>
          </a:ln>
        </p:spPr>
        <p:txBody>
          <a:bodyPr wrap="square" lIns="152400" tIns="130493" rIns="76200" bIns="0" rtlCol="0" anchor="t"/>
          <a:lstStyle/>
          <a:p>
            <a:pPr algn="l" indent="0" marL="0">
              <a:lnSpc>
                <a:spcPts val="1813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Delta Lake</a:t>
            </a:r>
            <a:endParaRPr lang="en-US" sz="1450" dirty="0"/>
          </a:p>
          <a:p>
            <a:pPr algn="l" indent="0" marL="0">
              <a:lnSpc>
                <a:spcPts val="1800"/>
              </a:lnSpc>
              <a:spcBef>
                <a:spcPts val="542"/>
              </a:spcBef>
              <a:buNone/>
            </a:pPr>
            <a:r>
              <a:rPr lang="en-US" sz="116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Otwarty format tabel z transakcjami ACID i time travel, fundament Lakehouse.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4914900" y="3638550"/>
            <a:ext cx="2867660" cy="1543050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9050">
            <a:solidFill>
              <a:srgbClr val="F8DEDC"/>
            </a:solidFill>
          </a:ln>
        </p:spPr>
        <p:txBody>
          <a:bodyPr wrap="square" lIns="152400" tIns="117792" rIns="76200" bIns="0" rtlCol="0" anchor="t"/>
          <a:lstStyle/>
          <a:p>
            <a:pPr algn="l" indent="0" marL="0">
              <a:lnSpc>
                <a:spcPts val="1813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MLflow</a:t>
            </a:r>
            <a:endParaRPr lang="en-US" sz="1450" dirty="0"/>
          </a:p>
          <a:p>
            <a:pPr algn="l" indent="0" marL="0">
              <a:lnSpc>
                <a:spcPts val="1800"/>
              </a:lnSpc>
              <a:spcBef>
                <a:spcPts val="542"/>
              </a:spcBef>
              <a:buNone/>
            </a:pPr>
            <a:r>
              <a:rPr lang="en-US" sz="116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Otwarta platforma do zarządzania cyklem życia modeli ML, od eksperymentu po wdrożenie.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934960" y="3638550"/>
            <a:ext cx="2867660" cy="1543050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9050">
            <a:solidFill>
              <a:srgbClr val="F8DEDC"/>
            </a:solidFill>
          </a:ln>
        </p:spPr>
        <p:txBody>
          <a:bodyPr wrap="square" lIns="152400" tIns="117792" rIns="76200" bIns="0" rtlCol="0" anchor="t"/>
          <a:lstStyle/>
          <a:p>
            <a:pPr algn="l" indent="0" marL="0">
              <a:lnSpc>
                <a:spcPts val="1813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Unity Catalog</a:t>
            </a:r>
            <a:endParaRPr lang="en-US" sz="1450" dirty="0"/>
          </a:p>
          <a:p>
            <a:pPr algn="l" indent="0" marL="0">
              <a:lnSpc>
                <a:spcPts val="1800"/>
              </a:lnSpc>
              <a:spcBef>
                <a:spcPts val="542"/>
              </a:spcBef>
              <a:buNone/>
            </a:pPr>
            <a:r>
              <a:rPr lang="en-US" sz="116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Centralny katalog metadanych z governance, śledzeniem lineage i kontrolą dostępu.</a:t>
            </a:r>
            <a:endParaRPr lang="en-US" sz="1450" dirty="0"/>
          </a:p>
        </p:txBody>
      </p:sp>
      <p:sp>
        <p:nvSpPr>
          <p:cNvPr id="9" name="Text 6"/>
          <p:cNvSpPr txBox="1"/>
          <p:nvPr/>
        </p:nvSpPr>
        <p:spPr>
          <a:xfrm>
            <a:off x="4904740" y="5300015"/>
            <a:ext cx="59436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6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Dostępny w głównych chmurach, w tym jako Azure Databricks, natywnie zintegrowany z ekosystemem Microsoft Azure.</a:t>
            </a:r>
            <a:endParaRPr lang="en-US" sz="1160" dirty="0"/>
          </a:p>
        </p:txBody>
      </p:sp>
      <p:pic>
        <p:nvPicPr>
          <p:cNvPr id="10" name="Image 1" descr="assets/altkom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9760" y="6038850"/>
            <a:ext cx="637540" cy="2565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61650" y="6054281"/>
            <a:ext cx="508000" cy="1524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000000"/>
                </a:solidFill>
                <a:latin typeface="DM Sans"/>
                <a:ea typeface="DM Sans"/>
                <a:cs typeface="DM Sans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p17_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09920" y="8890"/>
            <a:ext cx="5726430" cy="642874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09600" y="493306"/>
            <a:ext cx="4762500" cy="1409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87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Architektura Databricks: control plane i data plane</a:t>
            </a:r>
            <a:endParaRPr lang="en-US" sz="2870" dirty="0"/>
          </a:p>
        </p:txBody>
      </p:sp>
      <p:sp>
        <p:nvSpPr>
          <p:cNvPr id="4" name="Text 1"/>
          <p:cNvSpPr txBox="1"/>
          <p:nvPr/>
        </p:nvSpPr>
        <p:spPr>
          <a:xfrm>
            <a:off x="609600" y="2220062"/>
            <a:ext cx="2070100" cy="3510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2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Control plane</a:t>
            </a:r>
            <a:endParaRPr lang="en-US" sz="1720" dirty="0"/>
          </a:p>
          <a:p>
            <a:pPr algn="l" indent="0" marL="0">
              <a:lnSpc>
                <a:spcPts val="1800"/>
              </a:lnSpc>
              <a:spcBef>
                <a:spcPts val="993"/>
              </a:spcBef>
              <a:buNone/>
            </a:pPr>
            <a:r>
              <a:rPr lang="en-US" sz="115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Zarządzane przez Databricks:</a:t>
            </a:r>
            <a:endParaRPr lang="en-US" sz="1720" dirty="0"/>
          </a:p>
          <a:p>
            <a:pPr algn="l" marL="241300" indent="-241300">
              <a:lnSpc>
                <a:spcPts val="1800"/>
              </a:lnSpc>
              <a:spcBef>
                <a:spcPts val="800"/>
              </a:spcBef>
              <a:buSzPct val="100000"/>
              <a:buChar char="•"/>
            </a:pPr>
            <a:r>
              <a:rPr lang="en-US" sz="11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Aplikacja webowa, interfejs</a:t>
            </a:r>
            <a:endParaRPr lang="en-US" sz="1720" dirty="0"/>
          </a:p>
          <a:p>
            <a:pPr algn="l" marL="241300" indent="-241300">
              <a:lnSpc>
                <a:spcPts val="1800"/>
              </a:lnSpc>
              <a:spcBef>
                <a:spcPts val="400"/>
              </a:spcBef>
              <a:buSzPct val="100000"/>
              <a:buChar char="•"/>
            </a:pPr>
            <a:r>
              <a:rPr lang="en-US" sz="11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Cluster manager, zarządzanie compute</a:t>
            </a:r>
            <a:endParaRPr lang="en-US" sz="1720" dirty="0"/>
          </a:p>
          <a:p>
            <a:pPr algn="l" marL="241300" indent="-241300">
              <a:lnSpc>
                <a:spcPts val="1800"/>
              </a:lnSpc>
              <a:spcBef>
                <a:spcPts val="400"/>
              </a:spcBef>
              <a:buSzPct val="100000"/>
              <a:buChar char="•"/>
            </a:pPr>
            <a:r>
              <a:rPr lang="en-US" sz="11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Job scheduler, harmonogram zadań</a:t>
            </a:r>
            <a:endParaRPr lang="en-US" sz="1720" dirty="0"/>
          </a:p>
          <a:p>
            <a:pPr algn="l" marL="241300" indent="-241300">
              <a:lnSpc>
                <a:spcPts val="1800"/>
              </a:lnSpc>
              <a:spcBef>
                <a:spcPts val="300"/>
              </a:spcBef>
              <a:buSzPct val="100000"/>
              <a:buChar char="•"/>
            </a:pPr>
            <a:r>
              <a:rPr lang="en-US" sz="11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Notebook server, środowisko pracy</a:t>
            </a:r>
            <a:endParaRPr lang="en-US" sz="1720" dirty="0"/>
          </a:p>
          <a:p>
            <a:pPr algn="l" marL="241300" indent="-241300">
              <a:lnSpc>
                <a:spcPts val="1800"/>
              </a:lnSpc>
              <a:spcBef>
                <a:spcPts val="400"/>
              </a:spcBef>
              <a:buSzPct val="100000"/>
              <a:buChar char="•"/>
            </a:pPr>
            <a:r>
              <a:rPr lang="en-US" sz="11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Security i governance</a:t>
            </a:r>
            <a:endParaRPr lang="en-US" sz="1720" dirty="0"/>
          </a:p>
          <a:p>
            <a:pPr algn="l" marL="241300" indent="-241300">
              <a:lnSpc>
                <a:spcPts val="1800"/>
              </a:lnSpc>
              <a:spcBef>
                <a:spcPts val="300"/>
              </a:spcBef>
              <a:buSzPct val="100000"/>
              <a:buChar char="•"/>
            </a:pPr>
            <a:r>
              <a:rPr lang="en-US" sz="11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Metastore, metadane</a:t>
            </a:r>
            <a:endParaRPr lang="en-US" sz="1720" dirty="0"/>
          </a:p>
        </p:txBody>
      </p:sp>
      <p:sp>
        <p:nvSpPr>
          <p:cNvPr id="5" name="Text 2"/>
          <p:cNvSpPr txBox="1"/>
          <p:nvPr/>
        </p:nvSpPr>
        <p:spPr>
          <a:xfrm>
            <a:off x="3048000" y="2220062"/>
            <a:ext cx="2120900" cy="2520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2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Data plane</a:t>
            </a:r>
            <a:endParaRPr lang="en-US" sz="1720" dirty="0"/>
          </a:p>
          <a:p>
            <a:pPr algn="l" indent="0" marL="0">
              <a:lnSpc>
                <a:spcPts val="1800"/>
              </a:lnSpc>
              <a:spcBef>
                <a:spcPts val="993"/>
              </a:spcBef>
              <a:buNone/>
            </a:pPr>
            <a:r>
              <a:rPr lang="en-US" sz="115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Środowisko klienta:</a:t>
            </a:r>
            <a:endParaRPr lang="en-US" sz="1720" dirty="0"/>
          </a:p>
          <a:p>
            <a:pPr algn="l" marL="241300" indent="-241300">
              <a:lnSpc>
                <a:spcPts val="1800"/>
              </a:lnSpc>
              <a:spcBef>
                <a:spcPts val="800"/>
              </a:spcBef>
              <a:buSzPct val="100000"/>
              <a:buChar char="•"/>
            </a:pPr>
            <a:r>
              <a:rPr lang="en-US" sz="11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Klastry compute (Apache Spark)</a:t>
            </a:r>
            <a:endParaRPr lang="en-US" sz="1720" dirty="0"/>
          </a:p>
          <a:p>
            <a:pPr algn="l" marL="241300" indent="-241300">
              <a:lnSpc>
                <a:spcPts val="1800"/>
              </a:lnSpc>
              <a:spcBef>
                <a:spcPts val="400"/>
              </a:spcBef>
              <a:buSzPct val="100000"/>
              <a:buChar char="•"/>
            </a:pPr>
            <a:r>
              <a:rPr lang="en-US" sz="11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Storage klienta (S3/ADLS/GCS)</a:t>
            </a:r>
            <a:endParaRPr lang="en-US" sz="1720" dirty="0"/>
          </a:p>
          <a:p>
            <a:pPr algn="l" marL="241300" indent="-241300">
              <a:lnSpc>
                <a:spcPts val="1800"/>
              </a:lnSpc>
              <a:spcBef>
                <a:spcPts val="400"/>
              </a:spcBef>
              <a:buSzPct val="100000"/>
              <a:buChar char="•"/>
            </a:pPr>
            <a:r>
              <a:rPr lang="en-US" sz="11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Sieć (VPC/VNet)</a:t>
            </a:r>
            <a:endParaRPr lang="en-US" sz="1720" dirty="0"/>
          </a:p>
          <a:p>
            <a:pPr algn="l" marL="241300" indent="-241300">
              <a:lnSpc>
                <a:spcPts val="1800"/>
              </a:lnSpc>
              <a:spcBef>
                <a:spcPts val="400"/>
              </a:spcBef>
              <a:buSzPct val="100000"/>
              <a:buChar char="•"/>
            </a:pPr>
            <a:r>
              <a:rPr lang="en-US" sz="11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Grupy i polityki bezpieczeństwa</a:t>
            </a:r>
            <a:endParaRPr lang="en-US" sz="1720" dirty="0"/>
          </a:p>
        </p:txBody>
      </p:sp>
      <p:sp>
        <p:nvSpPr>
          <p:cNvPr id="6" name="Text 3"/>
          <p:cNvSpPr txBox="1"/>
          <p:nvPr/>
        </p:nvSpPr>
        <p:spPr>
          <a:xfrm>
            <a:off x="3048000" y="4816285"/>
            <a:ext cx="2032000" cy="1181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Przy compute serverless sam klaster działa po stronie Databricks, a dane zostają w Twoim storage.</a:t>
            </a:r>
            <a:endParaRPr lang="en-US" sz="1150" dirty="0"/>
          </a:p>
        </p:txBody>
      </p:sp>
      <p:pic>
        <p:nvPicPr>
          <p:cNvPr id="7" name="Image 1" descr="assets/altkom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240" y="6038850"/>
            <a:ext cx="637540" cy="2565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223510" y="6054281"/>
            <a:ext cx="508000" cy="1524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000000"/>
                </a:solidFill>
                <a:latin typeface="DM Sans"/>
                <a:ea typeface="DM Sans"/>
                <a:cs typeface="DM Sans"/>
              </a:defRPr>
            </a:lvl1pPr>
          </a:lstStyle>
          <a:p>
            <a:pPr algn="ct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p18_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3730" y="10160"/>
            <a:ext cx="5717540" cy="642874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22300" y="579768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70"/>
              </a:lnSpc>
              <a:buNone/>
            </a:pPr>
            <a:r>
              <a:rPr lang="en-US" sz="259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Architektura Databricks Lakehouse w skrócie</a:t>
            </a:r>
            <a:endParaRPr lang="en-US" sz="2590" dirty="0"/>
          </a:p>
        </p:txBody>
      </p:sp>
      <p:sp>
        <p:nvSpPr>
          <p:cNvPr id="4" name="Text 1"/>
          <p:cNvSpPr/>
          <p:nvPr/>
        </p:nvSpPr>
        <p:spPr>
          <a:xfrm>
            <a:off x="628650" y="1628140"/>
            <a:ext cx="4457700" cy="942340"/>
          </a:xfrm>
          <a:prstGeom prst="roundRect">
            <a:avLst>
              <a:gd name="adj" fmla="val 8086"/>
            </a:avLst>
          </a:prstGeom>
          <a:solidFill>
            <a:srgbClr val="FFFFFF"/>
          </a:solidFill>
          <a:ln w="19050">
            <a:solidFill>
              <a:srgbClr val="F8DEDC"/>
            </a:solidFill>
          </a:ln>
        </p:spPr>
        <p:txBody>
          <a:bodyPr wrap="square" lIns="146050" tIns="114554" rIns="12700" bIns="0" rtlCol="0" anchor="t"/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Warstwa storage</a:t>
            </a:r>
            <a:endParaRPr lang="en-US" sz="1300" dirty="0"/>
          </a:p>
          <a:p>
            <a:pPr algn="l" indent="0" marL="0">
              <a:lnSpc>
                <a:spcPts val="1580"/>
              </a:lnSpc>
              <a:spcBef>
                <a:spcPts val="419"/>
              </a:spcBef>
              <a:buNone/>
            </a:pPr>
            <a:r>
              <a:rPr lang="en-US" sz="104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Object storage (ADLS/S3/GCS), tani, skalowalny, trwały. Wszystkie dane w jednym miejscu, bez duplikacji.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628650" y="2705100"/>
            <a:ext cx="4457700" cy="942340"/>
          </a:xfrm>
          <a:prstGeom prst="roundRect">
            <a:avLst>
              <a:gd name="adj" fmla="val 8086"/>
            </a:avLst>
          </a:prstGeom>
          <a:solidFill>
            <a:srgbClr val="FFFFFF"/>
          </a:solidFill>
          <a:ln w="19050">
            <a:solidFill>
              <a:srgbClr val="F8DEDC"/>
            </a:solidFill>
          </a:ln>
        </p:spPr>
        <p:txBody>
          <a:bodyPr wrap="square" lIns="146050" tIns="114554" rIns="12700" bIns="0" rtlCol="0" anchor="t"/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Warstwa tabel</a:t>
            </a:r>
            <a:endParaRPr lang="en-US" sz="1300" dirty="0"/>
          </a:p>
          <a:p>
            <a:pPr algn="l" indent="0" marL="0">
              <a:lnSpc>
                <a:spcPts val="1580"/>
              </a:lnSpc>
              <a:spcBef>
                <a:spcPts val="419"/>
              </a:spcBef>
              <a:buNone/>
            </a:pPr>
            <a:r>
              <a:rPr lang="en-US" sz="104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Tabele Delta, Unity Catalog, metadane. Warstwa abstrakcji dająca strukturę i transakcyjność.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28650" y="3782060"/>
            <a:ext cx="4457700" cy="942340"/>
          </a:xfrm>
          <a:prstGeom prst="roundRect">
            <a:avLst>
              <a:gd name="adj" fmla="val 8086"/>
            </a:avLst>
          </a:prstGeom>
          <a:solidFill>
            <a:srgbClr val="FFFFFF"/>
          </a:solidFill>
          <a:ln w="19050">
            <a:solidFill>
              <a:srgbClr val="F8DEDC"/>
            </a:solidFill>
          </a:ln>
        </p:spPr>
        <p:txBody>
          <a:bodyPr wrap="square" lIns="146050" tIns="114554" rIns="12700" bIns="0" rtlCol="0" anchor="t"/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Warstwa compute</a:t>
            </a:r>
            <a:endParaRPr lang="en-US" sz="1300" dirty="0"/>
          </a:p>
          <a:p>
            <a:pPr algn="l" indent="0" marL="0">
              <a:lnSpc>
                <a:spcPts val="1580"/>
              </a:lnSpc>
              <a:spcBef>
                <a:spcPts val="419"/>
              </a:spcBef>
              <a:buNone/>
            </a:pPr>
            <a:r>
              <a:rPr lang="en-US" sz="104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Klastry Apache Spark, SQL warehouses z Photonem. Rozproszony silnik, który skaluje się elastycznie.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28650" y="4857750"/>
            <a:ext cx="4457700" cy="942340"/>
          </a:xfrm>
          <a:prstGeom prst="roundRect">
            <a:avLst>
              <a:gd name="adj" fmla="val 8086"/>
            </a:avLst>
          </a:prstGeom>
          <a:solidFill>
            <a:srgbClr val="FFFFFF"/>
          </a:solidFill>
          <a:ln w="19050">
            <a:solidFill>
              <a:srgbClr val="F8DEDC"/>
            </a:solidFill>
          </a:ln>
        </p:spPr>
        <p:txBody>
          <a:bodyPr wrap="square" lIns="146050" tIns="114554" rIns="12700" bIns="0" rtlCol="0" anchor="t"/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Warstwa governance</a:t>
            </a:r>
            <a:endParaRPr lang="en-US" sz="1300" dirty="0"/>
          </a:p>
          <a:p>
            <a:pPr algn="l" indent="0" marL="0">
              <a:lnSpc>
                <a:spcPts val="1580"/>
              </a:lnSpc>
              <a:spcBef>
                <a:spcPts val="419"/>
              </a:spcBef>
              <a:buNone/>
            </a:pPr>
            <a:r>
              <a:rPr lang="en-US" sz="104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Unity Catalog, polityki bezpieczeństwa, lineage. Jednolite zarządzanie dostępem i audyt całej platformy.</a:t>
            </a:r>
            <a:endParaRPr lang="en-US" sz="1300" dirty="0"/>
          </a:p>
        </p:txBody>
      </p:sp>
      <p:pic>
        <p:nvPicPr>
          <p:cNvPr id="8" name="Image 1" descr="assets/altkom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240" y="6038850"/>
            <a:ext cx="637540" cy="2565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207000" y="6054281"/>
            <a:ext cx="508000" cy="1524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000000"/>
                </a:solidFill>
                <a:latin typeface="DM Sans"/>
                <a:ea typeface="DM Sans"/>
                <a:cs typeface="DM Sans"/>
              </a:defRPr>
            </a:lvl1pPr>
          </a:lstStyle>
          <a:p>
            <a:pPr algn="ct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p19_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42480" y="10160"/>
            <a:ext cx="4290060" cy="642874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22300" y="805371"/>
            <a:ext cx="6350000" cy="522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13"/>
              </a:lnSpc>
              <a:buNone/>
            </a:pPr>
            <a:r>
              <a:rPr lang="en-US" sz="305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Integracja Databricks z chmurą</a:t>
            </a:r>
            <a:endParaRPr lang="en-US" sz="3050" dirty="0"/>
          </a:p>
        </p:txBody>
      </p:sp>
      <p:sp>
        <p:nvSpPr>
          <p:cNvPr id="4" name="Text 1"/>
          <p:cNvSpPr/>
          <p:nvPr/>
        </p:nvSpPr>
        <p:spPr>
          <a:xfrm>
            <a:off x="628650" y="1590040"/>
            <a:ext cx="2857500" cy="1905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F8DEDC"/>
            </a:solidFill>
          </a:ln>
        </p:spPr>
        <p:txBody>
          <a:bodyPr wrap="square" lIns="171450" tIns="129375" rIns="76200" bIns="0" rtlCol="0" anchor="t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53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Storage danych</a:t>
            </a:r>
            <a:endParaRPr lang="en-US" sz="1530" dirty="0"/>
          </a:p>
          <a:p>
            <a:pPr algn="l" indent="0" marL="0">
              <a:lnSpc>
                <a:spcPts val="1950"/>
              </a:lnSpc>
              <a:spcBef>
                <a:spcPts val="584"/>
              </a:spcBef>
              <a:buNone/>
            </a:pPr>
            <a:r>
              <a:rPr lang="en-US" sz="122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Natywna integracja z Azure Data Lake Storage, AWS S3 i Google Cloud Storage. Databricks czyta i zapisuje dane wprost w chmurze, bez pośredników.</a:t>
            </a:r>
            <a:endParaRPr lang="en-US" sz="1530" dirty="0"/>
          </a:p>
        </p:txBody>
      </p:sp>
      <p:sp>
        <p:nvSpPr>
          <p:cNvPr id="5" name="Text 2"/>
          <p:cNvSpPr/>
          <p:nvPr/>
        </p:nvSpPr>
        <p:spPr>
          <a:xfrm>
            <a:off x="3657600" y="1590040"/>
            <a:ext cx="2857500" cy="1905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F8DEDC"/>
            </a:solidFill>
          </a:ln>
        </p:spPr>
        <p:txBody>
          <a:bodyPr wrap="square" lIns="171450" tIns="129375" rIns="76200" bIns="0" rtlCol="0" anchor="t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53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Bezpieczeństwo i tożsamość</a:t>
            </a:r>
            <a:endParaRPr lang="en-US" sz="1530" dirty="0"/>
          </a:p>
          <a:p>
            <a:pPr algn="l" indent="0" marL="0">
              <a:lnSpc>
                <a:spcPts val="1950"/>
              </a:lnSpc>
              <a:spcBef>
                <a:spcPts val="584"/>
              </a:spcBef>
              <a:buNone/>
            </a:pPr>
            <a:r>
              <a:rPr lang="en-US" sz="122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Microsoft Entra ID, AWS IAM, Google Cloud IAM do uwierzytelniania. SCIM i SSO dla firm. Szyfrowanie w spoczynku i w transporcie.</a:t>
            </a:r>
            <a:endParaRPr lang="en-US" sz="1530" dirty="0"/>
          </a:p>
        </p:txBody>
      </p:sp>
      <p:sp>
        <p:nvSpPr>
          <p:cNvPr id="6" name="Text 3"/>
          <p:cNvSpPr/>
          <p:nvPr/>
        </p:nvSpPr>
        <p:spPr>
          <a:xfrm>
            <a:off x="628650" y="3667760"/>
            <a:ext cx="2857500" cy="1905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F8DEDC"/>
            </a:solidFill>
          </a:ln>
        </p:spPr>
        <p:txBody>
          <a:bodyPr wrap="square" lIns="171450" tIns="130645" rIns="76200" bIns="0" rtlCol="0" anchor="t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53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Integracje BI</a:t>
            </a:r>
            <a:endParaRPr lang="en-US" sz="1530" dirty="0"/>
          </a:p>
          <a:p>
            <a:pPr algn="l" indent="0" marL="0">
              <a:lnSpc>
                <a:spcPts val="1950"/>
              </a:lnSpc>
              <a:spcBef>
                <a:spcPts val="554"/>
              </a:spcBef>
              <a:buNone/>
            </a:pPr>
            <a:r>
              <a:rPr lang="en-US" sz="122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Konektory do Power BI, Tableau, Looker i Qlik. Sterowniki JDBC/ODBC dla dowolnych narzędzi SQL. Partner Connect na szybki start.</a:t>
            </a:r>
            <a:endParaRPr lang="en-US" sz="1530" dirty="0"/>
          </a:p>
        </p:txBody>
      </p:sp>
      <p:sp>
        <p:nvSpPr>
          <p:cNvPr id="7" name="Text 4"/>
          <p:cNvSpPr/>
          <p:nvPr/>
        </p:nvSpPr>
        <p:spPr>
          <a:xfrm>
            <a:off x="3657600" y="3667760"/>
            <a:ext cx="2857500" cy="1905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F8DEDC"/>
            </a:solidFill>
          </a:ln>
        </p:spPr>
        <p:txBody>
          <a:bodyPr wrap="square" lIns="171450" tIns="130645" rIns="76200" bIns="0" rtlCol="0" anchor="t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53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Integracje ETL/ELT</a:t>
            </a:r>
            <a:endParaRPr lang="en-US" sz="1530" dirty="0"/>
          </a:p>
          <a:p>
            <a:pPr algn="l" indent="0" marL="0">
              <a:lnSpc>
                <a:spcPts val="1950"/>
              </a:lnSpc>
              <a:spcBef>
                <a:spcPts val="554"/>
              </a:spcBef>
              <a:buNone/>
            </a:pPr>
            <a:r>
              <a:rPr lang="en-US" sz="122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Współpraca z Fivetran, dbt, Azure Data Factory, Informatica i Talend. Auto Loader do przyrostowego ładowania plików ze storage.</a:t>
            </a:r>
            <a:endParaRPr lang="en-US" sz="1530" dirty="0"/>
          </a:p>
        </p:txBody>
      </p:sp>
      <p:pic>
        <p:nvPicPr>
          <p:cNvPr id="8" name="Image 1" descr="assets/altkom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240" y="6038850"/>
            <a:ext cx="637540" cy="2565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648450" y="6054281"/>
            <a:ext cx="508000" cy="1524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000000"/>
                </a:solidFill>
                <a:latin typeface="DM Sans"/>
                <a:ea typeface="DM Sans"/>
                <a:cs typeface="DM Sans"/>
              </a:defRPr>
            </a:lvl1pPr>
          </a:lstStyle>
          <a:p>
            <a:pPr algn="ct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2300" y="956500"/>
            <a:ext cx="10185400" cy="522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13"/>
              </a:lnSpc>
              <a:buNone/>
            </a:pPr>
            <a:r>
              <a:rPr lang="en-US" sz="305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Główne elementy platformy</a:t>
            </a:r>
            <a:endParaRPr lang="en-US" sz="3050" dirty="0"/>
          </a:p>
        </p:txBody>
      </p:sp>
      <p:sp>
        <p:nvSpPr>
          <p:cNvPr id="3" name="Text 1"/>
          <p:cNvSpPr txBox="1"/>
          <p:nvPr/>
        </p:nvSpPr>
        <p:spPr>
          <a:xfrm>
            <a:off x="622300" y="2358225"/>
            <a:ext cx="3314700" cy="10854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53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Workspace</a:t>
            </a:r>
            <a:endParaRPr lang="en-US" sz="1530" dirty="0"/>
          </a:p>
          <a:p>
            <a:pPr algn="l" indent="0" marL="0">
              <a:lnSpc>
                <a:spcPts val="1950"/>
              </a:lnSpc>
              <a:spcBef>
                <a:spcPts val="484"/>
              </a:spcBef>
              <a:buNone/>
            </a:pPr>
            <a:r>
              <a:rPr lang="en-US" sz="122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Twoje środowisko pracy: notebooki, repozytoria Git, pipeline’y i joby, wszystko w jednym miejscu.</a:t>
            </a:r>
            <a:endParaRPr lang="en-US" sz="1530" dirty="0"/>
          </a:p>
        </p:txBody>
      </p:sp>
      <p:sp>
        <p:nvSpPr>
          <p:cNvPr id="4" name="Text 2"/>
          <p:cNvSpPr txBox="1"/>
          <p:nvPr/>
        </p:nvSpPr>
        <p:spPr>
          <a:xfrm>
            <a:off x="4076700" y="2358225"/>
            <a:ext cx="3314700" cy="10854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53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Compute</a:t>
            </a:r>
            <a:endParaRPr lang="en-US" sz="1530" dirty="0"/>
          </a:p>
          <a:p>
            <a:pPr algn="l" indent="0" marL="0">
              <a:lnSpc>
                <a:spcPts val="1950"/>
              </a:lnSpc>
              <a:spcBef>
                <a:spcPts val="484"/>
              </a:spcBef>
              <a:buNone/>
            </a:pPr>
            <a:r>
              <a:rPr lang="en-US" sz="122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Compute serverless albo klasyczne klastry Spark. Płacisz za DBU × czas, więc bezczynny klaster to strata pieniędzy.</a:t>
            </a:r>
            <a:endParaRPr lang="en-US" sz="1530" dirty="0"/>
          </a:p>
        </p:txBody>
      </p:sp>
      <p:sp>
        <p:nvSpPr>
          <p:cNvPr id="5" name="Text 3"/>
          <p:cNvSpPr txBox="1"/>
          <p:nvPr/>
        </p:nvSpPr>
        <p:spPr>
          <a:xfrm>
            <a:off x="7543800" y="2358225"/>
            <a:ext cx="3314700" cy="10854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53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Storage</a:t>
            </a:r>
            <a:endParaRPr lang="en-US" sz="1530" dirty="0"/>
          </a:p>
          <a:p>
            <a:pPr algn="l" indent="0" marL="0">
              <a:lnSpc>
                <a:spcPts val="1950"/>
              </a:lnSpc>
              <a:spcBef>
                <a:spcPts val="484"/>
              </a:spcBef>
              <a:buNone/>
            </a:pPr>
            <a:r>
              <a:rPr lang="en-US" sz="122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Dane leżą w storage w chmurze (ADLS, S3, GCS), a sięgasz po nie przez tabele i Volumes w Unity Catalog.</a:t>
            </a:r>
            <a:endParaRPr lang="en-US" sz="1530" dirty="0"/>
          </a:p>
        </p:txBody>
      </p:sp>
      <p:sp>
        <p:nvSpPr>
          <p:cNvPr id="6" name="Text 4"/>
          <p:cNvSpPr txBox="1"/>
          <p:nvPr/>
        </p:nvSpPr>
        <p:spPr>
          <a:xfrm>
            <a:off x="622300" y="4326725"/>
            <a:ext cx="3314700" cy="10854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53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Unity Catalog</a:t>
            </a:r>
            <a:endParaRPr lang="en-US" sz="1530" dirty="0"/>
          </a:p>
          <a:p>
            <a:pPr algn="l" indent="0" marL="0">
              <a:lnSpc>
                <a:spcPts val="1950"/>
              </a:lnSpc>
              <a:spcBef>
                <a:spcPts val="484"/>
              </a:spcBef>
              <a:buNone/>
            </a:pPr>
            <a:r>
              <a:rPr lang="en-US" sz="122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Centralny katalog metadanych i warstwa governance dla całej organizacji: tabele, uprawnienia, lineage, audyt.</a:t>
            </a:r>
            <a:endParaRPr lang="en-US" sz="1530" dirty="0"/>
          </a:p>
        </p:txBody>
      </p:sp>
      <p:sp>
        <p:nvSpPr>
          <p:cNvPr id="7" name="Text 5"/>
          <p:cNvSpPr txBox="1"/>
          <p:nvPr/>
        </p:nvSpPr>
        <p:spPr>
          <a:xfrm>
            <a:off x="4076700" y="4326725"/>
            <a:ext cx="3314700" cy="10854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53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Delta Lake</a:t>
            </a:r>
            <a:endParaRPr lang="en-US" sz="1530" dirty="0"/>
          </a:p>
          <a:p>
            <a:pPr algn="l" indent="0" marL="0">
              <a:lnSpc>
                <a:spcPts val="1950"/>
              </a:lnSpc>
              <a:spcBef>
                <a:spcPts val="484"/>
              </a:spcBef>
              <a:buNone/>
            </a:pPr>
            <a:r>
              <a:rPr lang="en-US" sz="122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Warstwa transakcyjna nad plikami Parquet. Domyślny format tabel w Databricks, wnosi ACID do data lake.</a:t>
            </a:r>
            <a:endParaRPr lang="en-US" sz="1530" dirty="0"/>
          </a:p>
        </p:txBody>
      </p:sp>
      <p:pic>
        <p:nvPicPr>
          <p:cNvPr id="8" name="Image 0" descr="assets/icon_p20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0710" y="1830070"/>
            <a:ext cx="425450" cy="328930"/>
          </a:xfrm>
          <a:prstGeom prst="rect">
            <a:avLst/>
          </a:prstGeom>
        </p:spPr>
      </p:pic>
      <p:pic>
        <p:nvPicPr>
          <p:cNvPr id="9" name="Image 1" descr="assets/icon_p20_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7650" y="1794510"/>
            <a:ext cx="425450" cy="398780"/>
          </a:xfrm>
          <a:prstGeom prst="rect">
            <a:avLst/>
          </a:prstGeom>
        </p:spPr>
      </p:pic>
      <p:pic>
        <p:nvPicPr>
          <p:cNvPr id="10" name="Image 2" descr="assets/icon_p20_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6020" y="1850390"/>
            <a:ext cx="424180" cy="287020"/>
          </a:xfrm>
          <a:prstGeom prst="rect">
            <a:avLst/>
          </a:prstGeom>
        </p:spPr>
      </p:pic>
      <p:pic>
        <p:nvPicPr>
          <p:cNvPr id="11" name="Image 3" descr="assets/icon_p20_3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330" y="3752850"/>
            <a:ext cx="408940" cy="425450"/>
          </a:xfrm>
          <a:prstGeom prst="rect">
            <a:avLst/>
          </a:prstGeom>
        </p:spPr>
      </p:pic>
      <p:pic>
        <p:nvPicPr>
          <p:cNvPr id="12" name="Image 4" descr="assets/icon_p20_4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57650" y="3778250"/>
            <a:ext cx="425450" cy="374650"/>
          </a:xfrm>
          <a:prstGeom prst="rect">
            <a:avLst/>
          </a:prstGeom>
        </p:spPr>
      </p:pic>
      <p:pic>
        <p:nvPicPr>
          <p:cNvPr id="13" name="Image 5" descr="assets/altkom_logo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2240" y="6038850"/>
            <a:ext cx="637540" cy="2565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61000" y="6054281"/>
            <a:ext cx="508000" cy="1524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000000"/>
                </a:solidFill>
                <a:latin typeface="DM Sans"/>
                <a:ea typeface="DM Sans"/>
                <a:cs typeface="DM Sans"/>
              </a:defRPr>
            </a:lvl1pPr>
          </a:lstStyle>
          <a:p>
            <a:pPr algn="ct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2300" y="524701"/>
            <a:ext cx="10185400" cy="522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13"/>
              </a:lnSpc>
              <a:buNone/>
            </a:pPr>
            <a:r>
              <a:rPr lang="en-US" sz="305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Jak odnaleźć się w workspace</a:t>
            </a:r>
            <a:endParaRPr lang="en-US" sz="3050" dirty="0"/>
          </a:p>
        </p:txBody>
      </p:sp>
      <p:sp>
        <p:nvSpPr>
          <p:cNvPr id="3" name="Text 1"/>
          <p:cNvSpPr/>
          <p:nvPr/>
        </p:nvSpPr>
        <p:spPr>
          <a:xfrm>
            <a:off x="619760" y="1381760"/>
            <a:ext cx="5019040" cy="1390650"/>
          </a:xfrm>
          <a:prstGeom prst="roundRect">
            <a:avLst>
              <a:gd name="adj" fmla="val 5479"/>
            </a:avLst>
          </a:prstGeom>
          <a:solidFill>
            <a:srgbClr val="F8DEDC"/>
          </a:solidFill>
          <a:ln/>
        </p:spPr>
        <p:txBody>
          <a:bodyPr wrap="square" lIns="154940" tIns="123025" rIns="76200" bIns="0" rtlCol="0" anchor="t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53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Notebooki</a:t>
            </a:r>
            <a:endParaRPr lang="en-US" sz="1530" dirty="0"/>
          </a:p>
          <a:p>
            <a:pPr algn="l" indent="0" marL="0">
              <a:lnSpc>
                <a:spcPts val="1950"/>
              </a:lnSpc>
              <a:spcBef>
                <a:spcPts val="504"/>
              </a:spcBef>
              <a:buNone/>
            </a:pPr>
            <a:r>
              <a:rPr lang="en-US" sz="122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Główne miejsce pracy. Komórki w Pythonie, SQL, Scali lub R, wyniki i wykresy od razu, komentarze i wspólna edycja na żywo.</a:t>
            </a:r>
            <a:endParaRPr lang="en-US" sz="1530" dirty="0"/>
          </a:p>
        </p:txBody>
      </p:sp>
      <p:sp>
        <p:nvSpPr>
          <p:cNvPr id="4" name="Text 2"/>
          <p:cNvSpPr/>
          <p:nvPr/>
        </p:nvSpPr>
        <p:spPr>
          <a:xfrm>
            <a:off x="5791200" y="1381760"/>
            <a:ext cx="5019040" cy="1390650"/>
          </a:xfrm>
          <a:prstGeom prst="roundRect">
            <a:avLst>
              <a:gd name="adj" fmla="val 5479"/>
            </a:avLst>
          </a:prstGeom>
          <a:solidFill>
            <a:srgbClr val="F8DEDC"/>
          </a:solidFill>
          <a:ln/>
        </p:spPr>
        <p:txBody>
          <a:bodyPr wrap="square" lIns="154940" tIns="123025" rIns="76200" bIns="0" rtlCol="0" anchor="t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53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SQL editor i dashboardy</a:t>
            </a:r>
            <a:endParaRPr lang="en-US" sz="1530" dirty="0"/>
          </a:p>
          <a:p>
            <a:pPr algn="l" indent="0" marL="0">
              <a:lnSpc>
                <a:spcPts val="1950"/>
              </a:lnSpc>
              <a:spcBef>
                <a:spcPts val="504"/>
              </a:spcBef>
              <a:buNone/>
            </a:pPr>
            <a:r>
              <a:rPr lang="en-US" sz="122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Piszesz zapytania na SQL warehouse, zapisujesz je i robisz z wyniku dashboard AI/BI bez opuszczania platformy.</a:t>
            </a:r>
            <a:endParaRPr lang="en-US" sz="1530" dirty="0"/>
          </a:p>
        </p:txBody>
      </p:sp>
      <p:sp>
        <p:nvSpPr>
          <p:cNvPr id="5" name="Text 3"/>
          <p:cNvSpPr/>
          <p:nvPr/>
        </p:nvSpPr>
        <p:spPr>
          <a:xfrm>
            <a:off x="619760" y="2923540"/>
            <a:ext cx="5019040" cy="1390650"/>
          </a:xfrm>
          <a:prstGeom prst="roundRect">
            <a:avLst>
              <a:gd name="adj" fmla="val 5479"/>
            </a:avLst>
          </a:prstGeom>
          <a:solidFill>
            <a:srgbClr val="F8DEDC"/>
          </a:solidFill>
          <a:ln/>
        </p:spPr>
        <p:txBody>
          <a:bodyPr wrap="square" lIns="154940" tIns="123025" rIns="76200" bIns="0" rtlCol="0" anchor="t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53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Catalog Explorer</a:t>
            </a:r>
            <a:endParaRPr lang="en-US" sz="1530" dirty="0"/>
          </a:p>
          <a:p>
            <a:pPr algn="l" indent="0" marL="0">
              <a:lnSpc>
                <a:spcPts val="1950"/>
              </a:lnSpc>
              <a:spcBef>
                <a:spcPts val="504"/>
              </a:spcBef>
              <a:buNone/>
            </a:pPr>
            <a:r>
              <a:rPr lang="en-US" sz="122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Przeglądasz katalogi, schematy, tabele i volumes. Podgląd danych, schemat, uprawnienia, lineage i historia w jednym miejscu.</a:t>
            </a:r>
            <a:endParaRPr lang="en-US" sz="1530" dirty="0"/>
          </a:p>
        </p:txBody>
      </p:sp>
      <p:sp>
        <p:nvSpPr>
          <p:cNvPr id="6" name="Text 4"/>
          <p:cNvSpPr/>
          <p:nvPr/>
        </p:nvSpPr>
        <p:spPr>
          <a:xfrm>
            <a:off x="5791200" y="2923540"/>
            <a:ext cx="5019040" cy="1390650"/>
          </a:xfrm>
          <a:prstGeom prst="roundRect">
            <a:avLst>
              <a:gd name="adj" fmla="val 5479"/>
            </a:avLst>
          </a:prstGeom>
          <a:solidFill>
            <a:srgbClr val="F8DEDC"/>
          </a:solidFill>
          <a:ln/>
        </p:spPr>
        <p:txBody>
          <a:bodyPr wrap="square" lIns="154940" tIns="123025" rIns="76200" bIns="0" rtlCol="0" anchor="t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53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Git folders</a:t>
            </a:r>
            <a:endParaRPr lang="en-US" sz="1530" dirty="0"/>
          </a:p>
          <a:p>
            <a:pPr algn="l" indent="0" marL="0">
              <a:lnSpc>
                <a:spcPts val="1950"/>
              </a:lnSpc>
              <a:spcBef>
                <a:spcPts val="504"/>
              </a:spcBef>
              <a:buNone/>
            </a:pPr>
            <a:r>
              <a:rPr lang="en-US" sz="122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Podłączasz workspace do repozytorium Git, pracujesz na branchu, commitujesz i otwierasz pull requesty z poziomu Databricks.</a:t>
            </a:r>
            <a:endParaRPr lang="en-US" sz="1530" dirty="0"/>
          </a:p>
        </p:txBody>
      </p:sp>
      <p:sp>
        <p:nvSpPr>
          <p:cNvPr id="7" name="Text 5"/>
          <p:cNvSpPr/>
          <p:nvPr/>
        </p:nvSpPr>
        <p:spPr>
          <a:xfrm>
            <a:off x="619760" y="4467860"/>
            <a:ext cx="5019040" cy="1390650"/>
          </a:xfrm>
          <a:prstGeom prst="roundRect">
            <a:avLst>
              <a:gd name="adj" fmla="val 5479"/>
            </a:avLst>
          </a:prstGeom>
          <a:solidFill>
            <a:srgbClr val="F8DEDC"/>
          </a:solidFill>
          <a:ln/>
        </p:spPr>
        <p:txBody>
          <a:bodyPr wrap="square" lIns="154940" tIns="123025" rIns="76200" bIns="0" rtlCol="0" anchor="t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53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Joby i pipeline’y</a:t>
            </a:r>
            <a:endParaRPr lang="en-US" sz="1530" dirty="0"/>
          </a:p>
          <a:p>
            <a:pPr algn="l" indent="0" marL="0">
              <a:lnSpc>
                <a:spcPts val="1950"/>
              </a:lnSpc>
              <a:spcBef>
                <a:spcPts val="504"/>
              </a:spcBef>
              <a:buNone/>
            </a:pPr>
            <a:r>
              <a:rPr lang="en-US" sz="122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Lakeflow Jobs do orkiestracji i Lakeflow pipelines do deklaratywnego ETL. Oba znajdziesz w menu po lewej.</a:t>
            </a:r>
            <a:endParaRPr lang="en-US" sz="1530" dirty="0"/>
          </a:p>
        </p:txBody>
      </p:sp>
      <p:sp>
        <p:nvSpPr>
          <p:cNvPr id="8" name="Text 6"/>
          <p:cNvSpPr/>
          <p:nvPr/>
        </p:nvSpPr>
        <p:spPr>
          <a:xfrm>
            <a:off x="5791200" y="4467860"/>
            <a:ext cx="5019040" cy="1390650"/>
          </a:xfrm>
          <a:prstGeom prst="roundRect">
            <a:avLst>
              <a:gd name="adj" fmla="val 5479"/>
            </a:avLst>
          </a:prstGeom>
          <a:solidFill>
            <a:srgbClr val="F8DEDC"/>
          </a:solidFill>
          <a:ln/>
        </p:spPr>
        <p:txBody>
          <a:bodyPr wrap="square" lIns="154940" tIns="123025" rIns="76200" bIns="0" rtlCol="0" anchor="t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53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Databricks Assistant</a:t>
            </a:r>
            <a:endParaRPr lang="en-US" sz="1530" dirty="0"/>
          </a:p>
          <a:p>
            <a:pPr algn="l" indent="0" marL="0">
              <a:lnSpc>
                <a:spcPts val="1950"/>
              </a:lnSpc>
              <a:spcBef>
                <a:spcPts val="504"/>
              </a:spcBef>
              <a:buNone/>
            </a:pPr>
            <a:r>
              <a:rPr lang="en-US" sz="122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Wbudowany asystent AI. Wyjaśnia błędy, pisze i poprawia kod, odpowiada na pytania o Twoje tabele. Skrót Cmd+i lub Ctrl+i.</a:t>
            </a:r>
            <a:endParaRPr lang="en-US" sz="1530" dirty="0"/>
          </a:p>
        </p:txBody>
      </p:sp>
      <p:pic>
        <p:nvPicPr>
          <p:cNvPr id="9" name="Image 0" descr="assets/altko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240" y="6038850"/>
            <a:ext cx="637540" cy="2565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61000" y="6054281"/>
            <a:ext cx="508000" cy="1524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000000"/>
                </a:solidFill>
                <a:latin typeface="DM Sans"/>
                <a:ea typeface="DM Sans"/>
                <a:cs typeface="DM Sans"/>
              </a:defRPr>
            </a:lvl1pPr>
          </a:lstStyle>
          <a:p>
            <a:pPr algn="ct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2300" y="651701"/>
            <a:ext cx="10185400" cy="522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13"/>
              </a:lnSpc>
              <a:buNone/>
            </a:pPr>
            <a:r>
              <a:rPr lang="en-US" sz="305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Unity Catalog, czyli gdzie mieszkają dane</a:t>
            </a:r>
            <a:endParaRPr lang="en-US" sz="3050" dirty="0"/>
          </a:p>
        </p:txBody>
      </p:sp>
      <p:sp>
        <p:nvSpPr>
          <p:cNvPr id="3" name="Text 1"/>
          <p:cNvSpPr/>
          <p:nvPr/>
        </p:nvSpPr>
        <p:spPr>
          <a:xfrm>
            <a:off x="619760" y="1625600"/>
            <a:ext cx="10191750" cy="1219200"/>
          </a:xfrm>
          <a:prstGeom prst="roundRect">
            <a:avLst>
              <a:gd name="adj" fmla="val 6250"/>
            </a:avLst>
          </a:prstGeom>
          <a:solidFill>
            <a:srgbClr val="F2F2F2"/>
          </a:solidFill>
          <a:ln/>
        </p:spPr>
        <p:txBody>
          <a:bodyPr wrap="square" lIns="142240" tIns="84557" rIns="7620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22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-- Każdy obiekt ma nazwę trzypoziomową</a:t>
            </a:r>
            <a:endParaRPr lang="en-US" sz="122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22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SELECT * FROM retail_prod.bronze.orders;      -- katalog . schemat . tabela</a:t>
            </a:r>
            <a:endParaRPr lang="en-US" sz="122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22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SELECT * FROM read_files('/Volumes/retail_prod/bronze/landing/orders.json');</a:t>
            </a:r>
            <a:endParaRPr lang="en-US" sz="1220" dirty="0"/>
          </a:p>
        </p:txBody>
      </p:sp>
      <p:sp>
        <p:nvSpPr>
          <p:cNvPr id="4" name="Text 2"/>
          <p:cNvSpPr/>
          <p:nvPr/>
        </p:nvSpPr>
        <p:spPr>
          <a:xfrm>
            <a:off x="619760" y="3200400"/>
            <a:ext cx="3295650" cy="1422400"/>
          </a:xfrm>
          <a:prstGeom prst="roundRect">
            <a:avLst>
              <a:gd name="adj" fmla="val 5357"/>
            </a:avLst>
          </a:prstGeom>
          <a:solidFill>
            <a:srgbClr val="F8DEDC"/>
          </a:solidFill>
          <a:ln/>
        </p:spPr>
        <p:txBody>
          <a:bodyPr wrap="square" lIns="154940" tIns="133185" rIns="76200" bIns="0" rtlCol="0" anchor="t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53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Katalog</a:t>
            </a:r>
            <a:endParaRPr lang="en-US" sz="1530" dirty="0"/>
          </a:p>
          <a:p>
            <a:pPr algn="l" indent="0" marL="0">
              <a:lnSpc>
                <a:spcPts val="1950"/>
              </a:lnSpc>
              <a:spcBef>
                <a:spcPts val="504"/>
              </a:spcBef>
              <a:buNone/>
            </a:pPr>
            <a:r>
              <a:rPr lang="en-US" sz="122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Najwyższy poziom, zwykle jeden na środowisko lub domenę: dev, test, prod. Tu zaczyna się izolacja i uprawnienia.</a:t>
            </a:r>
            <a:endParaRPr lang="en-US" sz="1530" dirty="0"/>
          </a:p>
        </p:txBody>
      </p:sp>
      <p:sp>
        <p:nvSpPr>
          <p:cNvPr id="5" name="Text 3"/>
          <p:cNvSpPr/>
          <p:nvPr/>
        </p:nvSpPr>
        <p:spPr>
          <a:xfrm>
            <a:off x="4066540" y="3200400"/>
            <a:ext cx="3295650" cy="1422400"/>
          </a:xfrm>
          <a:prstGeom prst="roundRect">
            <a:avLst>
              <a:gd name="adj" fmla="val 5357"/>
            </a:avLst>
          </a:prstGeom>
          <a:solidFill>
            <a:srgbClr val="F8DEDC"/>
          </a:solidFill>
          <a:ln/>
        </p:spPr>
        <p:txBody>
          <a:bodyPr wrap="square" lIns="154940" tIns="133185" rIns="76200" bIns="0" rtlCol="0" anchor="t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53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Schemat</a:t>
            </a:r>
            <a:endParaRPr lang="en-US" sz="1530" dirty="0"/>
          </a:p>
          <a:p>
            <a:pPr algn="l" indent="0" marL="0">
              <a:lnSpc>
                <a:spcPts val="1950"/>
              </a:lnSpc>
              <a:spcBef>
                <a:spcPts val="504"/>
              </a:spcBef>
              <a:buNone/>
            </a:pPr>
            <a:r>
              <a:rPr lang="en-US" sz="122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Grupa powiązanych obiektów w katalogu, u nas bronze, silver i gold.</a:t>
            </a:r>
            <a:endParaRPr lang="en-US" sz="1530" dirty="0"/>
          </a:p>
        </p:txBody>
      </p:sp>
      <p:sp>
        <p:nvSpPr>
          <p:cNvPr id="6" name="Text 4"/>
          <p:cNvSpPr/>
          <p:nvPr/>
        </p:nvSpPr>
        <p:spPr>
          <a:xfrm>
            <a:off x="7515860" y="3200400"/>
            <a:ext cx="3295650" cy="1422400"/>
          </a:xfrm>
          <a:prstGeom prst="roundRect">
            <a:avLst>
              <a:gd name="adj" fmla="val 5357"/>
            </a:avLst>
          </a:prstGeom>
          <a:solidFill>
            <a:srgbClr val="F8DEDC"/>
          </a:solidFill>
          <a:ln/>
        </p:spPr>
        <p:txBody>
          <a:bodyPr wrap="square" lIns="154940" tIns="133185" rIns="76200" bIns="0" rtlCol="0" anchor="t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53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Tabela, widok, volume</a:t>
            </a:r>
            <a:endParaRPr lang="en-US" sz="1530" dirty="0"/>
          </a:p>
          <a:p>
            <a:pPr algn="l" indent="0" marL="0">
              <a:lnSpc>
                <a:spcPts val="1950"/>
              </a:lnSpc>
              <a:spcBef>
                <a:spcPts val="504"/>
              </a:spcBef>
              <a:buNone/>
            </a:pPr>
            <a:r>
              <a:rPr lang="en-US" sz="122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Tabele i widoki trzymają dane ustrukturyzowane. Volumes trzymają pliki: JSON, CSV, PDF, obrazy, artefakty modeli.</a:t>
            </a:r>
            <a:endParaRPr lang="en-US" sz="1530" dirty="0"/>
          </a:p>
        </p:txBody>
      </p:sp>
      <p:sp>
        <p:nvSpPr>
          <p:cNvPr id="7" name="Text 5"/>
          <p:cNvSpPr/>
          <p:nvPr/>
        </p:nvSpPr>
        <p:spPr>
          <a:xfrm>
            <a:off x="619760" y="5003800"/>
            <a:ext cx="10191750" cy="666750"/>
          </a:xfrm>
          <a:prstGeom prst="roundRect">
            <a:avLst>
              <a:gd name="adj" fmla="val 11429"/>
            </a:avLst>
          </a:prstGeom>
          <a:solidFill>
            <a:srgbClr val="F2C1BF"/>
          </a:solidFill>
          <a:ln/>
        </p:spPr>
        <p:txBody>
          <a:bodyPr wrap="square" lIns="497840" tIns="148057" rIns="15240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22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Volumes zastępują mounty DBFS. Ścieżka zaczyna się zawsze od </a:t>
            </a:r>
            <a:pPr algn="l" indent="0" marL="0">
              <a:lnSpc>
                <a:spcPts val="1950"/>
              </a:lnSpc>
              <a:buNone/>
            </a:pPr>
            <a:r>
              <a:rPr lang="en-US" sz="1220" dirty="0">
                <a:solidFill>
                  <a:srgbClr val="000000"/>
                </a:solidFill>
                <a:highlight>
                  <a:srgbClr val="F2F2F2"/>
                </a:highlight>
                <a:latin typeface="Open Sans" pitchFamily="34" charset="0"/>
                <a:ea typeface="Open Sans" pitchFamily="34" charset="-122"/>
                <a:cs typeface="Open Sans" pitchFamily="34" charset="-120"/>
              </a:rPr>
              <a:t>/Volumes/&lt;katalog&gt;/&lt;schemat&gt;/&lt;volume&gt;/</a:t>
            </a:r>
            <a:pPr algn="l" indent="0" marL="0">
              <a:lnSpc>
                <a:spcPts val="1950"/>
              </a:lnSpc>
              <a:buNone/>
            </a:pPr>
            <a:r>
              <a:rPr lang="en-US" sz="122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i podlega uprawnieniom Unity Catalog.</a:t>
            </a:r>
            <a:endParaRPr lang="en-US" sz="1220" dirty="0"/>
          </a:p>
        </p:txBody>
      </p:sp>
      <p:pic>
        <p:nvPicPr>
          <p:cNvPr id="8" name="Image 0" descr="assets/icon_p02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0" y="5204460"/>
            <a:ext cx="173990" cy="173990"/>
          </a:xfrm>
          <a:prstGeom prst="rect">
            <a:avLst/>
          </a:prstGeom>
        </p:spPr>
      </p:pic>
      <p:pic>
        <p:nvPicPr>
          <p:cNvPr id="9" name="Image 1" descr="assets/altkom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240" y="6038850"/>
            <a:ext cx="637540" cy="2565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61000" y="6054281"/>
            <a:ext cx="508000" cy="1524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000000"/>
                </a:solidFill>
                <a:latin typeface="DM Sans"/>
                <a:ea typeface="DM Sans"/>
                <a:cs typeface="DM Sans"/>
              </a:defRPr>
            </a:lvl1pPr>
          </a:lstStyle>
          <a:p>
            <a:pPr algn="ct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2300" y="1145731"/>
            <a:ext cx="10185400" cy="522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13"/>
              </a:lnSpc>
              <a:buNone/>
            </a:pPr>
            <a:r>
              <a:rPr lang="en-US" sz="305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Compute, rodzaje i dobre praktyki</a:t>
            </a:r>
            <a:endParaRPr lang="en-US" sz="3050" dirty="0"/>
          </a:p>
        </p:txBody>
      </p:sp>
      <p:sp>
        <p:nvSpPr>
          <p:cNvPr id="3" name="Shape 1"/>
          <p:cNvSpPr/>
          <p:nvPr/>
        </p:nvSpPr>
        <p:spPr>
          <a:xfrm>
            <a:off x="619760" y="1991360"/>
            <a:ext cx="10191750" cy="1638300"/>
          </a:xfrm>
          <a:prstGeom prst="roundRect">
            <a:avLst>
              <a:gd name="adj" fmla="val 4651"/>
            </a:avLst>
          </a:prstGeom>
          <a:solidFill>
            <a:srgbClr val="F8DEDC"/>
          </a:solidFill>
          <a:ln/>
        </p:spPr>
      </p:sp>
      <p:sp>
        <p:nvSpPr>
          <p:cNvPr id="4" name="Shape 2"/>
          <p:cNvSpPr/>
          <p:nvPr/>
        </p:nvSpPr>
        <p:spPr>
          <a:xfrm>
            <a:off x="3167380" y="1991360"/>
            <a:ext cx="19050" cy="1638300"/>
          </a:xfrm>
          <a:prstGeom prst="rect">
            <a:avLst/>
          </a:prstGeom>
          <a:solidFill>
            <a:srgbClr val="DEC4C2"/>
          </a:solidFill>
          <a:ln/>
        </p:spPr>
      </p:sp>
      <p:sp>
        <p:nvSpPr>
          <p:cNvPr id="5" name="Shape 3"/>
          <p:cNvSpPr/>
          <p:nvPr/>
        </p:nvSpPr>
        <p:spPr>
          <a:xfrm>
            <a:off x="5715000" y="1991360"/>
            <a:ext cx="19050" cy="1638300"/>
          </a:xfrm>
          <a:prstGeom prst="rect">
            <a:avLst/>
          </a:prstGeom>
          <a:solidFill>
            <a:srgbClr val="DEC4C2"/>
          </a:solidFill>
          <a:ln/>
        </p:spPr>
      </p:sp>
      <p:sp>
        <p:nvSpPr>
          <p:cNvPr id="6" name="Shape 4"/>
          <p:cNvSpPr/>
          <p:nvPr/>
        </p:nvSpPr>
        <p:spPr>
          <a:xfrm>
            <a:off x="8262620" y="1991360"/>
            <a:ext cx="19050" cy="1638300"/>
          </a:xfrm>
          <a:prstGeom prst="rect">
            <a:avLst/>
          </a:prstGeom>
          <a:solidFill>
            <a:srgbClr val="DEC4C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4700" y="2127085"/>
            <a:ext cx="2387600" cy="13318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53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Serverless</a:t>
            </a:r>
            <a:endParaRPr lang="en-US" sz="1530" dirty="0"/>
          </a:p>
          <a:p>
            <a:pPr algn="l" indent="0" marL="0">
              <a:lnSpc>
                <a:spcPts val="1950"/>
              </a:lnSpc>
              <a:spcBef>
                <a:spcPts val="474"/>
              </a:spcBef>
              <a:buNone/>
            </a:pPr>
            <a:r>
              <a:rPr lang="en-US" sz="122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Startuje w sekundy, zawsze najnowszy runtime, nic nie konfigurujesz. Domyślnie dostępny w workspace z UC.</a:t>
            </a:r>
            <a:endParaRPr lang="en-US" sz="1530" dirty="0"/>
          </a:p>
        </p:txBody>
      </p:sp>
      <p:sp>
        <p:nvSpPr>
          <p:cNvPr id="8" name="Text 6"/>
          <p:cNvSpPr txBox="1"/>
          <p:nvPr/>
        </p:nvSpPr>
        <p:spPr>
          <a:xfrm>
            <a:off x="3326130" y="2127085"/>
            <a:ext cx="2387600" cy="13318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53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All-purpose cluster</a:t>
            </a:r>
            <a:endParaRPr lang="en-US" sz="1530" dirty="0"/>
          </a:p>
          <a:p>
            <a:pPr algn="l" indent="0" marL="0">
              <a:lnSpc>
                <a:spcPts val="1950"/>
              </a:lnSpc>
              <a:spcBef>
                <a:spcPts val="474"/>
              </a:spcBef>
              <a:buNone/>
            </a:pPr>
            <a:r>
              <a:rPr lang="en-US" sz="122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Praca interaktywna w notebookach, współdzielony. Elastyczny, ale droższy, ustaw auto-terminate na 10 min.</a:t>
            </a:r>
            <a:endParaRPr lang="en-US" sz="1530" dirty="0"/>
          </a:p>
        </p:txBody>
      </p:sp>
      <p:sp>
        <p:nvSpPr>
          <p:cNvPr id="9" name="Text 7"/>
          <p:cNvSpPr txBox="1"/>
          <p:nvPr/>
        </p:nvSpPr>
        <p:spPr>
          <a:xfrm>
            <a:off x="5873750" y="2127085"/>
            <a:ext cx="2387600" cy="13318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53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Job cluster</a:t>
            </a:r>
            <a:endParaRPr lang="en-US" sz="1530" dirty="0"/>
          </a:p>
          <a:p>
            <a:pPr algn="l" indent="0" marL="0">
              <a:lnSpc>
                <a:spcPts val="1950"/>
              </a:lnSpc>
              <a:spcBef>
                <a:spcPts val="474"/>
              </a:spcBef>
              <a:buNone/>
            </a:pPr>
            <a:r>
              <a:rPr lang="en-US" sz="122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Tworzony automatycznie na czas joba i kasowany po nim. Tani i izolowany, klasyk dla produkcji.</a:t>
            </a:r>
            <a:endParaRPr lang="en-US" sz="1530" dirty="0"/>
          </a:p>
        </p:txBody>
      </p:sp>
      <p:sp>
        <p:nvSpPr>
          <p:cNvPr id="10" name="Text 8"/>
          <p:cNvSpPr txBox="1"/>
          <p:nvPr/>
        </p:nvSpPr>
        <p:spPr>
          <a:xfrm>
            <a:off x="8421370" y="2127085"/>
            <a:ext cx="2387600" cy="10841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53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SQL warehouse</a:t>
            </a:r>
            <a:endParaRPr lang="en-US" sz="1530" dirty="0"/>
          </a:p>
          <a:p>
            <a:pPr algn="l" indent="0" marL="0">
              <a:lnSpc>
                <a:spcPts val="1950"/>
              </a:lnSpc>
              <a:spcBef>
                <a:spcPts val="474"/>
              </a:spcBef>
              <a:buNone/>
            </a:pPr>
            <a:r>
              <a:rPr lang="en-US" sz="122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Dedykowany compute dla SQL i dashboardów. Zoptymalizowany pod zapytania BI i wielu użytkowników.</a:t>
            </a:r>
            <a:endParaRPr lang="en-US" sz="1530" dirty="0"/>
          </a:p>
        </p:txBody>
      </p:sp>
      <p:sp>
        <p:nvSpPr>
          <p:cNvPr id="11" name="Text 9"/>
          <p:cNvSpPr txBox="1"/>
          <p:nvPr/>
        </p:nvSpPr>
        <p:spPr>
          <a:xfrm>
            <a:off x="622300" y="3930485"/>
            <a:ext cx="4800600" cy="11515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53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Autoskalowanie</a:t>
            </a:r>
            <a:endParaRPr lang="en-US" sz="1530" dirty="0"/>
          </a:p>
          <a:p>
            <a:pPr algn="l" indent="0" marL="0">
              <a:lnSpc>
                <a:spcPts val="1950"/>
              </a:lnSpc>
              <a:spcBef>
                <a:spcPts val="1004"/>
              </a:spcBef>
              <a:buNone/>
            </a:pPr>
            <a:r>
              <a:rPr lang="en-US" sz="122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Klasyczny klaster dobiera liczbę workerów do obciążenia. Serverless skaluje się sam i liczy koszt tylko w czasie pracy.</a:t>
            </a:r>
            <a:endParaRPr lang="en-US" sz="1530" dirty="0"/>
          </a:p>
        </p:txBody>
      </p:sp>
      <p:sp>
        <p:nvSpPr>
          <p:cNvPr id="12" name="Text 10"/>
          <p:cNvSpPr txBox="1"/>
          <p:nvPr/>
        </p:nvSpPr>
        <p:spPr>
          <a:xfrm>
            <a:off x="5918200" y="3930485"/>
            <a:ext cx="4800600" cy="11515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53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Wersje runtime</a:t>
            </a:r>
            <a:endParaRPr lang="en-US" sz="1530" dirty="0"/>
          </a:p>
          <a:p>
            <a:pPr algn="l" indent="0" marL="0">
              <a:lnSpc>
                <a:spcPts val="1950"/>
              </a:lnSpc>
              <a:spcBef>
                <a:spcPts val="1004"/>
              </a:spcBef>
              <a:buNone/>
            </a:pPr>
            <a:r>
              <a:rPr lang="en-US" sz="122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Klasyczny klaster ma przypisany Databricks Runtime. Dla stabilności wybierz LTS, na przykład DBR 18 LTS ze Sparkiem 4.1, dla nowości DBR 19.</a:t>
            </a:r>
            <a:endParaRPr lang="en-US" sz="1530" dirty="0"/>
          </a:p>
        </p:txBody>
      </p:sp>
      <p:pic>
        <p:nvPicPr>
          <p:cNvPr id="13" name="Image 0" descr="assets/altko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240" y="6038850"/>
            <a:ext cx="637540" cy="2565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61000" y="6054281"/>
            <a:ext cx="508000" cy="1524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000000"/>
                </a:solidFill>
                <a:latin typeface="DM Sans"/>
                <a:ea typeface="DM Sans"/>
                <a:cs typeface="DM Sans"/>
              </a:defRPr>
            </a:lvl1pPr>
          </a:lstStyle>
          <a:p>
            <a:pPr algn="ct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2300" y="651701"/>
            <a:ext cx="10185400" cy="522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13"/>
              </a:lnSpc>
              <a:buNone/>
            </a:pPr>
            <a:r>
              <a:rPr lang="en-US" sz="305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Jak trzymać koszty compute w ryzach</a:t>
            </a:r>
            <a:endParaRPr lang="en-US" sz="3050" dirty="0"/>
          </a:p>
        </p:txBody>
      </p:sp>
      <p:sp>
        <p:nvSpPr>
          <p:cNvPr id="3" name="Text 1"/>
          <p:cNvSpPr txBox="1"/>
          <p:nvPr/>
        </p:nvSpPr>
        <p:spPr>
          <a:xfrm>
            <a:off x="622300" y="1379957"/>
            <a:ext cx="101854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22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Compute rozliczasz w DBU razy czas, plus maszyny w chmurze pod spodem. Cztery nawyki trzymają rachunek w ryzach:</a:t>
            </a:r>
            <a:endParaRPr lang="en-US" sz="1220" dirty="0"/>
          </a:p>
        </p:txBody>
      </p:sp>
      <p:sp>
        <p:nvSpPr>
          <p:cNvPr id="4" name="Text 2"/>
          <p:cNvSpPr/>
          <p:nvPr/>
        </p:nvSpPr>
        <p:spPr>
          <a:xfrm>
            <a:off x="628650" y="2095500"/>
            <a:ext cx="3276600" cy="17780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9050">
            <a:solidFill>
              <a:srgbClr val="F8DEDC"/>
            </a:solidFill>
          </a:ln>
        </p:spPr>
        <p:txBody>
          <a:bodyPr wrap="square" lIns="171450" tIns="133185" rIns="101600" bIns="0" rtlCol="0" anchor="t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53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Dobierz compute do zadania</a:t>
            </a:r>
            <a:endParaRPr lang="en-US" sz="1530" dirty="0"/>
          </a:p>
          <a:p>
            <a:pPr algn="l" indent="0" marL="0">
              <a:lnSpc>
                <a:spcPts val="1950"/>
              </a:lnSpc>
              <a:spcBef>
                <a:spcPts val="504"/>
              </a:spcBef>
              <a:buNone/>
            </a:pPr>
            <a:r>
              <a:rPr lang="en-US" sz="122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Nie uruchamiaj pipeline’u z harmonogramu na all-purpose cluster. Serverless lub job cluster startuje na żądanie i gaśnie po zadaniu.</a:t>
            </a:r>
            <a:endParaRPr lang="en-US" sz="1530" dirty="0"/>
          </a:p>
        </p:txBody>
      </p:sp>
      <p:sp>
        <p:nvSpPr>
          <p:cNvPr id="5" name="Text 3"/>
          <p:cNvSpPr/>
          <p:nvPr/>
        </p:nvSpPr>
        <p:spPr>
          <a:xfrm>
            <a:off x="4076700" y="2095500"/>
            <a:ext cx="3276600" cy="17780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9050">
            <a:solidFill>
              <a:srgbClr val="F8DEDC"/>
            </a:solidFill>
          </a:ln>
        </p:spPr>
        <p:txBody>
          <a:bodyPr wrap="square" lIns="171450" tIns="133185" rIns="101600" bIns="0" rtlCol="0" anchor="t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53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Auto-terminate i auto-stop</a:t>
            </a:r>
            <a:endParaRPr lang="en-US" sz="1530" dirty="0"/>
          </a:p>
          <a:p>
            <a:pPr algn="l" indent="0" marL="0">
              <a:lnSpc>
                <a:spcPts val="1950"/>
              </a:lnSpc>
              <a:spcBef>
                <a:spcPts val="504"/>
              </a:spcBef>
              <a:buNone/>
            </a:pPr>
            <a:r>
              <a:rPr lang="en-US" sz="122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Każdy klaster interaktywny potrzebuje timeoutu, zwykle 10 do 30 minut. SQL warehouse zatrzyma się sam po kilku minutach bezczynności.</a:t>
            </a:r>
            <a:endParaRPr lang="en-US" sz="1530" dirty="0"/>
          </a:p>
        </p:txBody>
      </p:sp>
      <p:sp>
        <p:nvSpPr>
          <p:cNvPr id="6" name="Text 4"/>
          <p:cNvSpPr/>
          <p:nvPr/>
        </p:nvSpPr>
        <p:spPr>
          <a:xfrm>
            <a:off x="7524750" y="2095500"/>
            <a:ext cx="3276600" cy="17780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9050">
            <a:solidFill>
              <a:srgbClr val="F8DEDC"/>
            </a:solidFill>
          </a:ln>
        </p:spPr>
        <p:txBody>
          <a:bodyPr wrap="square" lIns="171450" tIns="133185" rIns="101600" bIns="0" rtlCol="0" anchor="t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53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Cluster policies</a:t>
            </a:r>
            <a:endParaRPr lang="en-US" sz="1530" dirty="0"/>
          </a:p>
          <a:p>
            <a:pPr algn="l" indent="0" marL="0">
              <a:lnSpc>
                <a:spcPts val="1950"/>
              </a:lnSpc>
              <a:spcBef>
                <a:spcPts val="504"/>
              </a:spcBef>
              <a:buNone/>
            </a:pPr>
            <a:r>
              <a:rPr lang="en-US" sz="122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Administrator ustala polityki ograniczające typy maszyn, liczbę workerów i runtime, żeby nikt nie wstał z 40 węzłami do pliku 10 MB.</a:t>
            </a:r>
            <a:endParaRPr lang="en-US" sz="1530" dirty="0"/>
          </a:p>
        </p:txBody>
      </p:sp>
      <p:sp>
        <p:nvSpPr>
          <p:cNvPr id="7" name="Text 5"/>
          <p:cNvSpPr txBox="1"/>
          <p:nvPr/>
        </p:nvSpPr>
        <p:spPr>
          <a:xfrm>
            <a:off x="622300" y="4247985"/>
            <a:ext cx="4826000" cy="11515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53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Taguj i monitoruj</a:t>
            </a:r>
            <a:endParaRPr lang="en-US" sz="1530" dirty="0"/>
          </a:p>
          <a:p>
            <a:pPr algn="l" indent="0" marL="0">
              <a:lnSpc>
                <a:spcPts val="1950"/>
              </a:lnSpc>
              <a:spcBef>
                <a:spcPts val="1004"/>
              </a:spcBef>
              <a:buNone/>
            </a:pPr>
            <a:r>
              <a:rPr lang="en-US" sz="122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Oznaczaj joby i klastry nazwą zespołu lub projektu, a potem śledź wydatki w dashboardach i tabelach systemowych.</a:t>
            </a:r>
            <a:endParaRPr lang="en-US" sz="1530" dirty="0"/>
          </a:p>
        </p:txBody>
      </p:sp>
      <p:sp>
        <p:nvSpPr>
          <p:cNvPr id="8" name="Text 6"/>
          <p:cNvSpPr txBox="1"/>
          <p:nvPr/>
        </p:nvSpPr>
        <p:spPr>
          <a:xfrm>
            <a:off x="5918200" y="4247985"/>
            <a:ext cx="4826000" cy="11515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53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Rozmiar pod dane, nie pod wygodę</a:t>
            </a:r>
            <a:endParaRPr lang="en-US" sz="1530" dirty="0"/>
          </a:p>
          <a:p>
            <a:pPr algn="l" indent="0" marL="0">
              <a:lnSpc>
                <a:spcPts val="1950"/>
              </a:lnSpc>
              <a:spcBef>
                <a:spcPts val="1004"/>
              </a:spcBef>
              <a:buNone/>
            </a:pPr>
            <a:r>
              <a:rPr lang="en-US" sz="122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Zacznij mało i zwiększaj dopiero, gdy etap faktycznie zwalnia. Photon i Spark UI pokażą, gdzie ucieka czas.</a:t>
            </a:r>
            <a:endParaRPr lang="en-US" sz="1530" dirty="0"/>
          </a:p>
        </p:txBody>
      </p:sp>
      <p:pic>
        <p:nvPicPr>
          <p:cNvPr id="9" name="Image 0" descr="assets/altko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240" y="6038850"/>
            <a:ext cx="637540" cy="2565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61000" y="6054281"/>
            <a:ext cx="508000" cy="1524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000000"/>
                </a:solidFill>
                <a:latin typeface="DM Sans"/>
                <a:ea typeface="DM Sans"/>
                <a:cs typeface="DM Sans"/>
              </a:defRPr>
            </a:lvl1pPr>
          </a:lstStyle>
          <a:p>
            <a:pPr algn="ct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p22_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620"/>
            <a:ext cx="11430000" cy="19380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22300" y="2721801"/>
            <a:ext cx="10185400" cy="522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13"/>
              </a:lnSpc>
              <a:buNone/>
            </a:pPr>
            <a:r>
              <a:rPr lang="en-US" sz="305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Czym jest Photon</a:t>
            </a:r>
            <a:endParaRPr lang="en-US" sz="3050" dirty="0"/>
          </a:p>
        </p:txBody>
      </p:sp>
      <p:sp>
        <p:nvSpPr>
          <p:cNvPr id="4" name="Text 1"/>
          <p:cNvSpPr txBox="1"/>
          <p:nvPr/>
        </p:nvSpPr>
        <p:spPr>
          <a:xfrm>
            <a:off x="622300" y="3450057"/>
            <a:ext cx="101854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22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Photon to natywny, wysokowydajny silnik zapytań stworzony przez Databricks:</a:t>
            </a:r>
            <a:endParaRPr lang="en-US" sz="1220" dirty="0"/>
          </a:p>
        </p:txBody>
      </p:sp>
      <p:sp>
        <p:nvSpPr>
          <p:cNvPr id="5" name="Text 2"/>
          <p:cNvSpPr/>
          <p:nvPr/>
        </p:nvSpPr>
        <p:spPr>
          <a:xfrm>
            <a:off x="628650" y="3934460"/>
            <a:ext cx="3276600" cy="1657350"/>
          </a:xfrm>
          <a:prstGeom prst="roundRect">
            <a:avLst>
              <a:gd name="adj" fmla="val 4598"/>
            </a:avLst>
          </a:prstGeom>
          <a:solidFill>
            <a:srgbClr val="FFFFFF"/>
          </a:solidFill>
          <a:ln w="19050">
            <a:solidFill>
              <a:srgbClr val="F8DEDC"/>
            </a:solidFill>
          </a:ln>
        </p:spPr>
        <p:txBody>
          <a:bodyPr wrap="square" lIns="171450" tIns="133185" rIns="76200" bIns="0" rtlCol="0" anchor="t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53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Wykonanie wektorowe</a:t>
            </a:r>
            <a:endParaRPr lang="en-US" sz="1530" dirty="0"/>
          </a:p>
          <a:p>
            <a:pPr algn="l" indent="0" marL="0">
              <a:lnSpc>
                <a:spcPts val="1950"/>
              </a:lnSpc>
              <a:spcBef>
                <a:spcPts val="524"/>
              </a:spcBef>
              <a:buNone/>
            </a:pPr>
            <a:r>
              <a:rPr lang="en-US" sz="122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Operacje na kolumnach zamiast wiersz po wierszu. Instrukcje SIMD wyciskają maksimum z CPU.</a:t>
            </a:r>
            <a:endParaRPr lang="en-US" sz="1530" dirty="0"/>
          </a:p>
        </p:txBody>
      </p:sp>
      <p:sp>
        <p:nvSpPr>
          <p:cNvPr id="6" name="Text 3"/>
          <p:cNvSpPr/>
          <p:nvPr/>
        </p:nvSpPr>
        <p:spPr>
          <a:xfrm>
            <a:off x="4076700" y="3934460"/>
            <a:ext cx="3276600" cy="1657350"/>
          </a:xfrm>
          <a:prstGeom prst="roundRect">
            <a:avLst>
              <a:gd name="adj" fmla="val 4598"/>
            </a:avLst>
          </a:prstGeom>
          <a:solidFill>
            <a:srgbClr val="FFFFFF"/>
          </a:solidFill>
          <a:ln w="19050">
            <a:solidFill>
              <a:srgbClr val="F8DEDC"/>
            </a:solidFill>
          </a:ln>
        </p:spPr>
        <p:txBody>
          <a:bodyPr wrap="square" lIns="171450" tIns="133185" rIns="152400" bIns="0" rtlCol="0" anchor="t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53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Zgodność</a:t>
            </a:r>
            <a:endParaRPr lang="en-US" sz="1530" dirty="0"/>
          </a:p>
          <a:p>
            <a:pPr algn="l" indent="0" marL="0">
              <a:lnSpc>
                <a:spcPts val="1950"/>
              </a:lnSpc>
              <a:spcBef>
                <a:spcPts val="524"/>
              </a:spcBef>
              <a:buNone/>
            </a:pPr>
            <a:r>
              <a:rPr lang="en-US" sz="122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Pełna zgodność ze Spark SQL i DataFrame API. Nie zmieniasz kodu, Photon włączasz jednym przełącznikiem.</a:t>
            </a:r>
            <a:endParaRPr lang="en-US" sz="1530" dirty="0"/>
          </a:p>
        </p:txBody>
      </p:sp>
      <p:sp>
        <p:nvSpPr>
          <p:cNvPr id="7" name="Text 4"/>
          <p:cNvSpPr/>
          <p:nvPr/>
        </p:nvSpPr>
        <p:spPr>
          <a:xfrm>
            <a:off x="7524750" y="3934460"/>
            <a:ext cx="3276600" cy="1657350"/>
          </a:xfrm>
          <a:prstGeom prst="roundRect">
            <a:avLst>
              <a:gd name="adj" fmla="val 4598"/>
            </a:avLst>
          </a:prstGeom>
          <a:solidFill>
            <a:srgbClr val="FFFFFF"/>
          </a:solidFill>
          <a:ln w="19050">
            <a:solidFill>
              <a:srgbClr val="F8DEDC"/>
            </a:solidFill>
          </a:ln>
        </p:spPr>
        <p:txBody>
          <a:bodyPr wrap="square" lIns="171450" tIns="133185" rIns="76200" bIns="0" rtlCol="0" anchor="t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53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Cel biznesowy</a:t>
            </a:r>
            <a:endParaRPr lang="en-US" sz="1530" dirty="0"/>
          </a:p>
          <a:p>
            <a:pPr algn="l" indent="0" marL="0">
              <a:lnSpc>
                <a:spcPts val="1950"/>
              </a:lnSpc>
              <a:spcBef>
                <a:spcPts val="524"/>
              </a:spcBef>
              <a:buNone/>
            </a:pPr>
            <a:r>
              <a:rPr lang="en-US" sz="122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Szybsze zapytania analityczne przy niższym koszcie compute. Lepszy TCO dla obciążeń SQL i BI.</a:t>
            </a:r>
            <a:endParaRPr lang="en-US" sz="1530" dirty="0"/>
          </a:p>
        </p:txBody>
      </p:sp>
      <p:pic>
        <p:nvPicPr>
          <p:cNvPr id="8" name="Image 1" descr="assets/altkom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240" y="6038850"/>
            <a:ext cx="637540" cy="2565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61000" y="6054281"/>
            <a:ext cx="508000" cy="1524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000000"/>
                </a:solidFill>
                <a:latin typeface="DM Sans"/>
                <a:ea typeface="DM Sans"/>
                <a:cs typeface="DM Sans"/>
              </a:defRPr>
            </a:lvl1pPr>
          </a:lstStyle>
          <a:p>
            <a:pPr algn="ct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9760" y="2562860"/>
            <a:ext cx="800100" cy="285750"/>
          </a:xfrm>
          <a:prstGeom prst="roundRect">
            <a:avLst>
              <a:gd name="adj" fmla="val 17778"/>
            </a:avLst>
          </a:prstGeom>
          <a:solidFill>
            <a:srgbClr val="F6D6D5"/>
          </a:solidFill>
          <a:ln/>
        </p:spPr>
        <p:txBody>
          <a:bodyPr wrap="square" lIns="95250" tIns="20599" rIns="2540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98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SEKCJA 3</a:t>
            </a:r>
            <a:endParaRPr lang="en-US" sz="980" dirty="0"/>
          </a:p>
        </p:txBody>
      </p:sp>
      <p:sp>
        <p:nvSpPr>
          <p:cNvPr id="3" name="Text 1"/>
          <p:cNvSpPr txBox="1"/>
          <p:nvPr/>
        </p:nvSpPr>
        <p:spPr>
          <a:xfrm>
            <a:off x="622300" y="2861501"/>
            <a:ext cx="10185400" cy="522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13"/>
              </a:lnSpc>
              <a:buNone/>
            </a:pPr>
            <a:r>
              <a:rPr lang="en-US" sz="305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Architektura Apache Spark</a:t>
            </a:r>
            <a:endParaRPr lang="en-US" sz="3050" dirty="0"/>
          </a:p>
        </p:txBody>
      </p:sp>
      <p:sp>
        <p:nvSpPr>
          <p:cNvPr id="4" name="Text 2"/>
          <p:cNvSpPr txBox="1"/>
          <p:nvPr/>
        </p:nvSpPr>
        <p:spPr>
          <a:xfrm>
            <a:off x="622300" y="3577057"/>
            <a:ext cx="101854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22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Zrozumienie, jak Spark wykonuje kod, to klucz do wydajnych i skalowalnych pipeline’ów.</a:t>
            </a:r>
            <a:endParaRPr lang="en-US" sz="1220" dirty="0"/>
          </a:p>
        </p:txBody>
      </p:sp>
      <p:pic>
        <p:nvPicPr>
          <p:cNvPr id="5" name="Image 0" descr="assets/altko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240" y="6038850"/>
            <a:ext cx="637540" cy="2565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61000" y="6054281"/>
            <a:ext cx="508000" cy="1524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000000"/>
                </a:solidFill>
                <a:latin typeface="DM Sans"/>
                <a:ea typeface="DM Sans"/>
                <a:cs typeface="DM Sans"/>
              </a:defRPr>
            </a:lvl1pPr>
          </a:lstStyle>
          <a:p>
            <a:pPr algn="ct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2300" y="918401"/>
            <a:ext cx="10185400" cy="522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13"/>
              </a:lnSpc>
              <a:buNone/>
            </a:pPr>
            <a:r>
              <a:rPr lang="en-US" sz="305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Model wykonania w Spark: driver i executory</a:t>
            </a:r>
            <a:endParaRPr lang="en-US" sz="3050" dirty="0"/>
          </a:p>
        </p:txBody>
      </p:sp>
      <p:sp>
        <p:nvSpPr>
          <p:cNvPr id="3" name="Text 1"/>
          <p:cNvSpPr/>
          <p:nvPr/>
        </p:nvSpPr>
        <p:spPr>
          <a:xfrm>
            <a:off x="505460" y="1686560"/>
            <a:ext cx="5133340" cy="3782060"/>
          </a:xfrm>
          <a:prstGeom prst="roundRect">
            <a:avLst>
              <a:gd name="adj" fmla="val 2686"/>
            </a:avLst>
          </a:prstGeom>
          <a:solidFill>
            <a:srgbClr val="F8DEDC"/>
          </a:solidFill>
          <a:ln/>
        </p:spPr>
        <p:txBody>
          <a:bodyPr wrap="square" lIns="154940" tIns="126835" rIns="38100" bIns="0" rtlCol="0" anchor="t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53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Driver</a:t>
            </a:r>
            <a:endParaRPr lang="en-US" sz="1530" dirty="0"/>
          </a:p>
          <a:p>
            <a:pPr algn="l" indent="0" marL="0">
              <a:lnSpc>
                <a:spcPts val="1950"/>
              </a:lnSpc>
              <a:spcBef>
                <a:spcPts val="1074"/>
              </a:spcBef>
              <a:buNone/>
            </a:pPr>
            <a:r>
              <a:rPr lang="en-US" sz="122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Jeden węzeł nadrzędny, który kompiluje kod, buduje DAG operacji i rozdziela zadania na workery. Tu działa cała logika sterująca.</a:t>
            </a:r>
            <a:endParaRPr lang="en-US" sz="1530" dirty="0"/>
          </a:p>
          <a:p>
            <a:pPr algn="l" indent="0" marL="0">
              <a:lnSpc>
                <a:spcPts val="1913"/>
              </a:lnSpc>
              <a:spcBef>
                <a:spcPts val="1433"/>
              </a:spcBef>
              <a:buNone/>
            </a:pPr>
            <a:r>
              <a:rPr lang="en-US" sz="153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⚠️ Uwaga</a:t>
            </a:r>
            <a:endParaRPr lang="en-US" sz="1530" dirty="0"/>
          </a:p>
          <a:p>
            <a:pPr algn="l" indent="0" marL="0">
              <a:lnSpc>
                <a:spcPts val="1950"/>
              </a:lnSpc>
              <a:spcBef>
                <a:spcPts val="1004"/>
              </a:spcBef>
              <a:buNone/>
            </a:pPr>
            <a:r>
              <a:rPr lang="en-US" sz="122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Nie wołaj </a:t>
            </a:r>
            <a:pPr algn="l" indent="0" marL="0">
              <a:lnSpc>
                <a:spcPts val="1950"/>
              </a:lnSpc>
              <a:spcBef>
                <a:spcPts val="1004"/>
              </a:spcBef>
              <a:buNone/>
            </a:pPr>
            <a:r>
              <a:rPr lang="en-US" sz="1220" dirty="0">
                <a:solidFill>
                  <a:srgbClr val="000000"/>
                </a:solidFill>
                <a:highlight>
                  <a:srgbClr val="EBD1CF"/>
                </a:highlight>
                <a:latin typeface="Open Sans" pitchFamily="34" charset="0"/>
                <a:ea typeface="Open Sans" pitchFamily="34" charset="-122"/>
                <a:cs typeface="Open Sans" pitchFamily="34" charset="-120"/>
              </a:rPr>
              <a:t>.collect()</a:t>
            </a:r>
            <a:pPr algn="l" indent="0" marL="0">
              <a:lnSpc>
                <a:spcPts val="1950"/>
              </a:lnSpc>
              <a:spcBef>
                <a:spcPts val="1004"/>
              </a:spcBef>
              <a:buNone/>
            </a:pPr>
            <a:r>
              <a:rPr lang="en-US" sz="122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na dużym DataFrame, wciąga wszystko do pamięci drivera i może go zabić.</a:t>
            </a:r>
            <a:endParaRPr lang="en-US" sz="1530" dirty="0"/>
          </a:p>
        </p:txBody>
      </p:sp>
      <p:sp>
        <p:nvSpPr>
          <p:cNvPr id="4" name="Text 2"/>
          <p:cNvSpPr txBox="1"/>
          <p:nvPr/>
        </p:nvSpPr>
        <p:spPr>
          <a:xfrm>
            <a:off x="5922010" y="1813395"/>
            <a:ext cx="4914900" cy="34971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53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Executory</a:t>
            </a:r>
            <a:endParaRPr lang="en-US" sz="1530" dirty="0"/>
          </a:p>
          <a:p>
            <a:pPr algn="l" indent="0" marL="0">
              <a:lnSpc>
                <a:spcPts val="1950"/>
              </a:lnSpc>
              <a:spcBef>
                <a:spcPts val="1074"/>
              </a:spcBef>
              <a:buNone/>
            </a:pPr>
            <a:r>
              <a:rPr lang="en-US" sz="122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Od jednego do N węzłów, które wykonują zadania i trzymają dane pośrednie w pamięci. Jedno zadanie to dokładnie jedna partycja.</a:t>
            </a:r>
            <a:endParaRPr lang="en-US" sz="1530" dirty="0"/>
          </a:p>
          <a:p>
            <a:pPr algn="l" indent="0" marL="0">
              <a:lnSpc>
                <a:spcPts val="1913"/>
              </a:lnSpc>
              <a:spcBef>
                <a:spcPts val="1413"/>
              </a:spcBef>
              <a:buNone/>
            </a:pPr>
            <a:r>
              <a:rPr lang="en-US" sz="153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Partycje</a:t>
            </a:r>
            <a:endParaRPr lang="en-US" sz="1530" dirty="0"/>
          </a:p>
          <a:p>
            <a:pPr algn="l" indent="0" marL="0">
              <a:lnSpc>
                <a:spcPts val="1950"/>
              </a:lnSpc>
              <a:spcBef>
                <a:spcPts val="1044"/>
              </a:spcBef>
              <a:buNone/>
            </a:pPr>
            <a:r>
              <a:rPr lang="en-US" sz="122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Podstawowa jednostka równoległości w Spark. Więcej partycji = więcej równoległych zadań. Dane nie opuszczają klastra do czasu akcji.</a:t>
            </a:r>
            <a:endParaRPr lang="en-US" sz="1530" dirty="0"/>
          </a:p>
          <a:p>
            <a:pPr algn="l" indent="0" marL="0">
              <a:lnSpc>
                <a:spcPts val="1913"/>
              </a:lnSpc>
              <a:spcBef>
                <a:spcPts val="1363"/>
              </a:spcBef>
              <a:buNone/>
            </a:pPr>
            <a:r>
              <a:rPr lang="en-US" sz="153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Shuffle</a:t>
            </a:r>
            <a:endParaRPr lang="en-US" sz="1530" dirty="0"/>
          </a:p>
          <a:p>
            <a:pPr algn="l" indent="0" marL="0">
              <a:lnSpc>
                <a:spcPts val="1950"/>
              </a:lnSpc>
              <a:spcBef>
                <a:spcPts val="1004"/>
              </a:spcBef>
              <a:buNone/>
            </a:pPr>
            <a:r>
              <a:rPr lang="en-US" sz="122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Najdroższa operacja w pipeline, przenosi dane między partycjami przez sieć. Im mniej shuffle, tym lepsza wydajność.</a:t>
            </a:r>
            <a:endParaRPr lang="en-US" sz="1530" dirty="0"/>
          </a:p>
        </p:txBody>
      </p:sp>
      <p:pic>
        <p:nvPicPr>
          <p:cNvPr id="5" name="Image 0" descr="assets/altko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240" y="6038850"/>
            <a:ext cx="637540" cy="2565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61000" y="6054281"/>
            <a:ext cx="508000" cy="1524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000000"/>
                </a:solidFill>
                <a:latin typeface="DM Sans"/>
                <a:ea typeface="DM Sans"/>
                <a:cs typeface="DM Sans"/>
              </a:defRPr>
            </a:lvl1pPr>
          </a:lstStyle>
          <a:p>
            <a:pPr algn="ct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2300" y="1401001"/>
            <a:ext cx="10185400" cy="522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13"/>
              </a:lnSpc>
              <a:buNone/>
            </a:pPr>
            <a:r>
              <a:rPr lang="en-US" sz="305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Lazy evaluation: transformacje i akcje</a:t>
            </a:r>
            <a:endParaRPr lang="en-US" sz="3050" dirty="0"/>
          </a:p>
        </p:txBody>
      </p:sp>
      <p:sp>
        <p:nvSpPr>
          <p:cNvPr id="3" name="Shape 1"/>
          <p:cNvSpPr/>
          <p:nvPr/>
        </p:nvSpPr>
        <p:spPr>
          <a:xfrm>
            <a:off x="619760" y="2247900"/>
            <a:ext cx="10191750" cy="1409700"/>
          </a:xfrm>
          <a:prstGeom prst="roundRect">
            <a:avLst>
              <a:gd name="adj" fmla="val 5405"/>
            </a:avLst>
          </a:prstGeom>
          <a:solidFill>
            <a:srgbClr val="F8DEDC"/>
          </a:solidFill>
          <a:ln/>
        </p:spPr>
      </p:sp>
      <p:sp>
        <p:nvSpPr>
          <p:cNvPr id="4" name="Shape 2"/>
          <p:cNvSpPr/>
          <p:nvPr/>
        </p:nvSpPr>
        <p:spPr>
          <a:xfrm>
            <a:off x="5715000" y="2247900"/>
            <a:ext cx="19050" cy="1409700"/>
          </a:xfrm>
          <a:prstGeom prst="rect">
            <a:avLst/>
          </a:prstGeom>
          <a:solidFill>
            <a:srgbClr val="DEC4C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4700" y="2368385"/>
            <a:ext cx="4381500" cy="11184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53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Transformacje (lazy)</a:t>
            </a:r>
            <a:endParaRPr lang="en-US" sz="1530" dirty="0"/>
          </a:p>
          <a:p>
            <a:pPr algn="l" indent="0" marL="0">
              <a:lnSpc>
                <a:spcPts val="2020"/>
              </a:lnSpc>
              <a:spcBef>
                <a:spcPts val="534"/>
              </a:spcBef>
              <a:buNone/>
            </a:pPr>
            <a:r>
              <a:rPr lang="en-US" sz="122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Budują plan wykonania, </a:t>
            </a:r>
            <a:pPr algn="l" indent="0" marL="0">
              <a:lnSpc>
                <a:spcPts val="2020"/>
              </a:lnSpc>
              <a:spcBef>
                <a:spcPts val="534"/>
              </a:spcBef>
              <a:buNone/>
            </a:pPr>
            <a:r>
              <a:rPr lang="en-US" sz="122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nic się jeszcze nie liczy</a:t>
            </a:r>
            <a:pPr algn="l" indent="0" marL="0">
              <a:lnSpc>
                <a:spcPts val="2020"/>
              </a:lnSpc>
              <a:spcBef>
                <a:spcPts val="534"/>
              </a:spcBef>
              <a:buNone/>
            </a:pPr>
            <a:r>
              <a:rPr lang="en-US" sz="122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 Na przykład </a:t>
            </a:r>
            <a:pPr algn="l" indent="0" marL="0">
              <a:lnSpc>
                <a:spcPts val="2020"/>
              </a:lnSpc>
              <a:spcBef>
                <a:spcPts val="534"/>
              </a:spcBef>
              <a:buNone/>
            </a:pPr>
            <a:r>
              <a:rPr lang="en-US" sz="1220" dirty="0">
                <a:solidFill>
                  <a:srgbClr val="000000"/>
                </a:solidFill>
                <a:highlight>
                  <a:srgbClr val="F2F2F2"/>
                </a:highlight>
                <a:latin typeface="Open Sans" pitchFamily="34" charset="0"/>
                <a:ea typeface="Open Sans" pitchFamily="34" charset="-122"/>
                <a:cs typeface="Open Sans" pitchFamily="34" charset="-120"/>
              </a:rPr>
              <a:t>select</a:t>
            </a:r>
            <a:pPr algn="l" indent="0" marL="0">
              <a:lnSpc>
                <a:spcPts val="2020"/>
              </a:lnSpc>
              <a:spcBef>
                <a:spcPts val="534"/>
              </a:spcBef>
              <a:buNone/>
            </a:pPr>
            <a:r>
              <a:rPr lang="en-US" sz="122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</a:t>
            </a:r>
            <a:pPr algn="l" indent="0" marL="0">
              <a:lnSpc>
                <a:spcPts val="2020"/>
              </a:lnSpc>
              <a:spcBef>
                <a:spcPts val="534"/>
              </a:spcBef>
              <a:buNone/>
            </a:pPr>
            <a:r>
              <a:rPr lang="en-US" sz="1220" dirty="0">
                <a:solidFill>
                  <a:srgbClr val="000000"/>
                </a:solidFill>
                <a:highlight>
                  <a:srgbClr val="F2F2F2"/>
                </a:highlight>
                <a:latin typeface="Open Sans" pitchFamily="34" charset="0"/>
                <a:ea typeface="Open Sans" pitchFamily="34" charset="-122"/>
                <a:cs typeface="Open Sans" pitchFamily="34" charset="-120"/>
              </a:rPr>
              <a:t>filter</a:t>
            </a:r>
            <a:pPr algn="l" indent="0" marL="0">
              <a:lnSpc>
                <a:spcPts val="2020"/>
              </a:lnSpc>
              <a:spcBef>
                <a:spcPts val="534"/>
              </a:spcBef>
              <a:buNone/>
            </a:pPr>
            <a:r>
              <a:rPr lang="en-US" sz="122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</a:t>
            </a:r>
            <a:pPr algn="l" indent="0" marL="0">
              <a:lnSpc>
                <a:spcPts val="2020"/>
              </a:lnSpc>
              <a:spcBef>
                <a:spcPts val="534"/>
              </a:spcBef>
              <a:buNone/>
            </a:pPr>
            <a:r>
              <a:rPr lang="en-US" sz="1220" dirty="0">
                <a:solidFill>
                  <a:srgbClr val="000000"/>
                </a:solidFill>
                <a:highlight>
                  <a:srgbClr val="F2F2F2"/>
                </a:highlight>
                <a:latin typeface="Open Sans" pitchFamily="34" charset="0"/>
                <a:ea typeface="Open Sans" pitchFamily="34" charset="-122"/>
                <a:cs typeface="Open Sans" pitchFamily="34" charset="-120"/>
              </a:rPr>
              <a:t>withColumn</a:t>
            </a:r>
            <a:pPr algn="l" indent="0" marL="0">
              <a:lnSpc>
                <a:spcPts val="2020"/>
              </a:lnSpc>
              <a:spcBef>
                <a:spcPts val="534"/>
              </a:spcBef>
              <a:buNone/>
            </a:pPr>
            <a:r>
              <a:rPr lang="en-US" sz="122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</a:t>
            </a:r>
            <a:pPr algn="l" indent="0" marL="0">
              <a:lnSpc>
                <a:spcPts val="2020"/>
              </a:lnSpc>
              <a:spcBef>
                <a:spcPts val="534"/>
              </a:spcBef>
              <a:buNone/>
            </a:pPr>
            <a:r>
              <a:rPr lang="en-US" sz="1220" dirty="0">
                <a:solidFill>
                  <a:srgbClr val="000000"/>
                </a:solidFill>
                <a:highlight>
                  <a:srgbClr val="F2F2F2"/>
                </a:highlight>
                <a:latin typeface="Open Sans" pitchFamily="34" charset="0"/>
                <a:ea typeface="Open Sans" pitchFamily="34" charset="-122"/>
                <a:cs typeface="Open Sans" pitchFamily="34" charset="-120"/>
              </a:rPr>
              <a:t>join</a:t>
            </a:r>
            <a:pPr algn="l" indent="0" marL="0">
              <a:lnSpc>
                <a:spcPts val="2020"/>
              </a:lnSpc>
              <a:spcBef>
                <a:spcPts val="534"/>
              </a:spcBef>
              <a:buNone/>
            </a:pPr>
            <a:r>
              <a:rPr lang="en-US" sz="122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</a:t>
            </a:r>
            <a:pPr algn="l" indent="0" marL="0">
              <a:lnSpc>
                <a:spcPts val="2020"/>
              </a:lnSpc>
              <a:spcBef>
                <a:spcPts val="534"/>
              </a:spcBef>
              <a:buNone/>
            </a:pPr>
            <a:r>
              <a:rPr lang="en-US" sz="1220" dirty="0">
                <a:solidFill>
                  <a:srgbClr val="000000"/>
                </a:solidFill>
                <a:highlight>
                  <a:srgbClr val="F2F2F2"/>
                </a:highlight>
                <a:latin typeface="Open Sans" pitchFamily="34" charset="0"/>
                <a:ea typeface="Open Sans" pitchFamily="34" charset="-122"/>
                <a:cs typeface="Open Sans" pitchFamily="34" charset="-120"/>
              </a:rPr>
              <a:t>groupBy</a:t>
            </a:r>
            <a:pPr algn="l" indent="0" marL="0">
              <a:lnSpc>
                <a:spcPts val="2020"/>
              </a:lnSpc>
              <a:spcBef>
                <a:spcPts val="534"/>
              </a:spcBef>
              <a:buNone/>
            </a:pPr>
            <a:r>
              <a:rPr lang="en-US" sz="122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 Spark zapisuje co zrobić, nie kiedy.</a:t>
            </a:r>
            <a:endParaRPr lang="en-US" sz="1530" dirty="0"/>
          </a:p>
        </p:txBody>
      </p:sp>
      <p:sp>
        <p:nvSpPr>
          <p:cNvPr id="6" name="Text 4"/>
          <p:cNvSpPr txBox="1"/>
          <p:nvPr/>
        </p:nvSpPr>
        <p:spPr>
          <a:xfrm>
            <a:off x="6099810" y="2368385"/>
            <a:ext cx="4572000" cy="11184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53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Akcje (eager)</a:t>
            </a:r>
            <a:endParaRPr lang="en-US" sz="1530" dirty="0"/>
          </a:p>
          <a:p>
            <a:pPr algn="l" indent="0" marL="0">
              <a:lnSpc>
                <a:spcPts val="2020"/>
              </a:lnSpc>
              <a:spcBef>
                <a:spcPts val="534"/>
              </a:spcBef>
              <a:buNone/>
            </a:pPr>
            <a:r>
              <a:rPr lang="en-US" sz="122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Uruchamiają cały plan. Na przykład </a:t>
            </a:r>
            <a:pPr algn="l" indent="0" marL="0">
              <a:lnSpc>
                <a:spcPts val="2020"/>
              </a:lnSpc>
              <a:spcBef>
                <a:spcPts val="534"/>
              </a:spcBef>
              <a:buNone/>
            </a:pPr>
            <a:r>
              <a:rPr lang="en-US" sz="1220" dirty="0">
                <a:solidFill>
                  <a:srgbClr val="000000"/>
                </a:solidFill>
                <a:highlight>
                  <a:srgbClr val="F2F2F2"/>
                </a:highlight>
                <a:latin typeface="Open Sans" pitchFamily="34" charset="0"/>
                <a:ea typeface="Open Sans" pitchFamily="34" charset="-122"/>
                <a:cs typeface="Open Sans" pitchFamily="34" charset="-120"/>
              </a:rPr>
              <a:t>count</a:t>
            </a:r>
            <a:pPr algn="l" indent="0" marL="0">
              <a:lnSpc>
                <a:spcPts val="2020"/>
              </a:lnSpc>
              <a:spcBef>
                <a:spcPts val="534"/>
              </a:spcBef>
              <a:buNone/>
            </a:pPr>
            <a:r>
              <a:rPr lang="en-US" sz="122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</a:t>
            </a:r>
            <a:pPr algn="l" indent="0" marL="0">
              <a:lnSpc>
                <a:spcPts val="2020"/>
              </a:lnSpc>
              <a:spcBef>
                <a:spcPts val="534"/>
              </a:spcBef>
              <a:buNone/>
            </a:pPr>
            <a:r>
              <a:rPr lang="en-US" sz="1220" dirty="0">
                <a:solidFill>
                  <a:srgbClr val="000000"/>
                </a:solidFill>
                <a:highlight>
                  <a:srgbClr val="F2F2F2"/>
                </a:highlight>
                <a:latin typeface="Open Sans" pitchFamily="34" charset="0"/>
                <a:ea typeface="Open Sans" pitchFamily="34" charset="-122"/>
                <a:cs typeface="Open Sans" pitchFamily="34" charset="-120"/>
              </a:rPr>
              <a:t>show</a:t>
            </a:r>
            <a:pPr algn="l" indent="0" marL="0">
              <a:lnSpc>
                <a:spcPts val="2020"/>
              </a:lnSpc>
              <a:spcBef>
                <a:spcPts val="534"/>
              </a:spcBef>
              <a:buNone/>
            </a:pPr>
            <a:r>
              <a:rPr lang="en-US" sz="122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</a:t>
            </a:r>
            <a:pPr algn="l" indent="0" marL="0">
              <a:lnSpc>
                <a:spcPts val="2020"/>
              </a:lnSpc>
              <a:spcBef>
                <a:spcPts val="534"/>
              </a:spcBef>
              <a:buNone/>
            </a:pPr>
            <a:r>
              <a:rPr lang="en-US" sz="1220" dirty="0">
                <a:solidFill>
                  <a:srgbClr val="000000"/>
                </a:solidFill>
                <a:highlight>
                  <a:srgbClr val="F2F2F2"/>
                </a:highlight>
                <a:latin typeface="Open Sans" pitchFamily="34" charset="0"/>
                <a:ea typeface="Open Sans" pitchFamily="34" charset="-122"/>
                <a:cs typeface="Open Sans" pitchFamily="34" charset="-120"/>
              </a:rPr>
              <a:t>display</a:t>
            </a:r>
            <a:pPr algn="l" indent="0" marL="0">
              <a:lnSpc>
                <a:spcPts val="2020"/>
              </a:lnSpc>
              <a:spcBef>
                <a:spcPts val="534"/>
              </a:spcBef>
              <a:buNone/>
            </a:pPr>
            <a:r>
              <a:rPr lang="en-US" sz="122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</a:t>
            </a:r>
            <a:pPr algn="l" indent="0" marL="0">
              <a:lnSpc>
                <a:spcPts val="2020"/>
              </a:lnSpc>
              <a:spcBef>
                <a:spcPts val="534"/>
              </a:spcBef>
              <a:buNone/>
            </a:pPr>
            <a:r>
              <a:rPr lang="en-US" sz="1220" dirty="0">
                <a:solidFill>
                  <a:srgbClr val="000000"/>
                </a:solidFill>
                <a:highlight>
                  <a:srgbClr val="F2F2F2"/>
                </a:highlight>
                <a:latin typeface="Open Sans" pitchFamily="34" charset="0"/>
                <a:ea typeface="Open Sans" pitchFamily="34" charset="-122"/>
                <a:cs typeface="Open Sans" pitchFamily="34" charset="-120"/>
              </a:rPr>
              <a:t>write</a:t>
            </a:r>
            <a:pPr algn="l" indent="0" marL="0">
              <a:lnSpc>
                <a:spcPts val="2020"/>
              </a:lnSpc>
              <a:spcBef>
                <a:spcPts val="534"/>
              </a:spcBef>
              <a:buNone/>
            </a:pPr>
            <a:r>
              <a:rPr lang="en-US" sz="122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</a:t>
            </a:r>
            <a:pPr algn="l" indent="0" marL="0">
              <a:lnSpc>
                <a:spcPts val="2020"/>
              </a:lnSpc>
              <a:spcBef>
                <a:spcPts val="534"/>
              </a:spcBef>
              <a:buNone/>
            </a:pPr>
            <a:r>
              <a:rPr lang="en-US" sz="1220" dirty="0">
                <a:solidFill>
                  <a:srgbClr val="000000"/>
                </a:solidFill>
                <a:highlight>
                  <a:srgbClr val="F2F2F2"/>
                </a:highlight>
                <a:latin typeface="Open Sans" pitchFamily="34" charset="0"/>
                <a:ea typeface="Open Sans" pitchFamily="34" charset="-122"/>
                <a:cs typeface="Open Sans" pitchFamily="34" charset="-120"/>
              </a:rPr>
              <a:t>collect</a:t>
            </a:r>
            <a:pPr algn="l" indent="0" marL="0">
              <a:lnSpc>
                <a:spcPts val="2020"/>
              </a:lnSpc>
              <a:spcBef>
                <a:spcPts val="534"/>
              </a:spcBef>
              <a:buNone/>
            </a:pPr>
            <a:r>
              <a:rPr lang="en-US" sz="122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 Dopiero teraz Spark sięga po dane.</a:t>
            </a:r>
            <a:endParaRPr lang="en-US" sz="1530" dirty="0"/>
          </a:p>
        </p:txBody>
      </p:sp>
      <p:pic>
        <p:nvPicPr>
          <p:cNvPr id="7" name="Image 0" descr="assets/icon_p25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21960" y="2755900"/>
            <a:ext cx="386080" cy="3962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19760" y="3829050"/>
            <a:ext cx="10191750" cy="1153160"/>
          </a:xfrm>
          <a:prstGeom prst="roundRect">
            <a:avLst>
              <a:gd name="adj" fmla="val 6608"/>
            </a:avLst>
          </a:prstGeom>
          <a:solidFill>
            <a:srgbClr val="F2C1BF"/>
          </a:solidFill>
          <a:ln/>
        </p:spPr>
        <p:txBody>
          <a:bodyPr wrap="square" lIns="497840" tIns="154407" rIns="10160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22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Główna korzyść:</a:t>
            </a:r>
            <a:pPr algn="l" indent="0" marL="0">
              <a:lnSpc>
                <a:spcPts val="1950"/>
              </a:lnSpc>
              <a:buNone/>
            </a:pPr>
            <a:r>
              <a:rPr lang="en-US" sz="122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przed uruchomieniem </a:t>
            </a:r>
            <a:pPr algn="l" indent="0" marL="0">
              <a:lnSpc>
                <a:spcPts val="1950"/>
              </a:lnSpc>
              <a:buNone/>
            </a:pPr>
            <a:r>
              <a:rPr lang="en-US" sz="122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Catalyst Optimizer</a:t>
            </a:r>
            <a:pPr algn="l" indent="0" marL="0">
              <a:lnSpc>
                <a:spcPts val="1950"/>
              </a:lnSpc>
              <a:buNone/>
            </a:pPr>
            <a:r>
              <a:rPr lang="en-US" sz="122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analizuje cały łańcuch transformacji i przepisuje go na najefektywniejszy plan fizyczny, zmieniając kolejność filtrów, usuwając zbędne kolumny i przesuwając predykaty jak najbliżej źródła.</a:t>
            </a:r>
            <a:endParaRPr lang="en-US" sz="1220" dirty="0"/>
          </a:p>
        </p:txBody>
      </p:sp>
      <p:pic>
        <p:nvPicPr>
          <p:cNvPr id="9" name="Image 1" descr="assets/icon_p25_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4029710"/>
            <a:ext cx="173990" cy="172720"/>
          </a:xfrm>
          <a:prstGeom prst="rect">
            <a:avLst/>
          </a:prstGeom>
        </p:spPr>
      </p:pic>
      <p:pic>
        <p:nvPicPr>
          <p:cNvPr id="10" name="Image 2" descr="assets/altkom_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240" y="6038850"/>
            <a:ext cx="637540" cy="2565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61000" y="6054281"/>
            <a:ext cx="508000" cy="1524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000000"/>
                </a:solidFill>
                <a:latin typeface="DM Sans"/>
                <a:ea typeface="DM Sans"/>
                <a:cs typeface="DM Sans"/>
              </a:defRPr>
            </a:lvl1pPr>
          </a:lstStyle>
          <a:p>
            <a:pPr algn="ct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p26_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7620"/>
            <a:ext cx="5715000" cy="64338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22300" y="1694752"/>
            <a:ext cx="4826000" cy="1003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00"/>
              </a:lnSpc>
              <a:buNone/>
            </a:pPr>
            <a:r>
              <a:rPr lang="en-US" sz="305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DAG i plan wykonania</a:t>
            </a:r>
            <a:endParaRPr lang="en-US" sz="3050" dirty="0"/>
          </a:p>
        </p:txBody>
      </p:sp>
      <p:sp>
        <p:nvSpPr>
          <p:cNvPr id="4" name="Text 1"/>
          <p:cNvSpPr txBox="1"/>
          <p:nvPr/>
        </p:nvSpPr>
        <p:spPr>
          <a:xfrm>
            <a:off x="622300" y="2903957"/>
            <a:ext cx="4597400" cy="2266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22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Każdy job w Spark to graf skierowany acykliczny (DAG), czyli ciąg kroków od źródła do wyniku. Catalyst Optimizer stosuje dwie kluczowe optymalizacje: </a:t>
            </a:r>
            <a:pPr algn="l" indent="0" marL="0">
              <a:lnSpc>
                <a:spcPts val="1950"/>
              </a:lnSpc>
              <a:buNone/>
            </a:pPr>
            <a:r>
              <a:rPr lang="en-US" sz="122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predicate pushdown</a:t>
            </a:r>
            <a:pPr algn="l" indent="0" marL="0">
              <a:lnSpc>
                <a:spcPts val="1950"/>
              </a:lnSpc>
              <a:buNone/>
            </a:pPr>
            <a:r>
              <a:rPr lang="en-US" sz="122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(filtry blisko źródła) i </a:t>
            </a:r>
            <a:pPr algn="l" indent="0" marL="0">
              <a:lnSpc>
                <a:spcPts val="1950"/>
              </a:lnSpc>
              <a:buNone/>
            </a:pPr>
            <a:r>
              <a:rPr lang="en-US" sz="122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column pruning</a:t>
            </a:r>
            <a:pPr algn="l" indent="0" marL="0">
              <a:lnSpc>
                <a:spcPts val="1950"/>
              </a:lnSpc>
              <a:buNone/>
            </a:pPr>
            <a:r>
              <a:rPr lang="en-US" sz="122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(czytanie tylko potrzebnych kolumn). Potem </a:t>
            </a:r>
            <a:pPr algn="l" indent="0" marL="0">
              <a:lnSpc>
                <a:spcPts val="1950"/>
              </a:lnSpc>
              <a:buNone/>
            </a:pPr>
            <a:r>
              <a:rPr lang="en-US" sz="122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Adaptive Query Execution</a:t>
            </a:r>
            <a:pPr algn="l" indent="0" marL="0">
              <a:lnSpc>
                <a:spcPts val="1950"/>
              </a:lnSpc>
              <a:buNone/>
            </a:pPr>
            <a:r>
              <a:rPr lang="en-US" sz="122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przeplanowuje job w trakcie działania na podstawie realnych statystyk, naprawiając skośne joiny i za duże shuffle. Wąskie gardła znajdziesz w </a:t>
            </a:r>
            <a:pPr algn="l" indent="0" marL="0">
              <a:lnSpc>
                <a:spcPts val="1950"/>
              </a:lnSpc>
              <a:buNone/>
            </a:pPr>
            <a:r>
              <a:rPr lang="en-US" sz="122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Spark UI</a:t>
            </a:r>
            <a:pPr algn="l" indent="0" marL="0">
              <a:lnSpc>
                <a:spcPts val="1950"/>
              </a:lnSpc>
              <a:buNone/>
            </a:pPr>
            <a:r>
              <a:rPr lang="en-US" sz="122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zakładki Jobs, Stages i SQL.</a:t>
            </a:r>
            <a:endParaRPr lang="en-US" sz="1220" dirty="0"/>
          </a:p>
        </p:txBody>
      </p:sp>
      <p:pic>
        <p:nvPicPr>
          <p:cNvPr id="5" name="Image 1" descr="assets/altkom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240" y="6038850"/>
            <a:ext cx="637540" cy="2565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205730" y="6054281"/>
            <a:ext cx="508000" cy="1524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000000"/>
                </a:solidFill>
                <a:latin typeface="DM Sans"/>
                <a:ea typeface="DM Sans"/>
                <a:cs typeface="DM Sans"/>
              </a:defRPr>
            </a:lvl1pPr>
          </a:lstStyle>
          <a:p>
            <a:pPr algn="ct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2300" y="1248601"/>
            <a:ext cx="10185400" cy="522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13"/>
              </a:lnSpc>
              <a:buNone/>
            </a:pPr>
            <a:r>
              <a:rPr lang="en-US" sz="305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PySpark DataFrame API, jak czytać kod</a:t>
            </a:r>
            <a:endParaRPr lang="en-US" sz="3050" dirty="0"/>
          </a:p>
        </p:txBody>
      </p:sp>
      <p:sp>
        <p:nvSpPr>
          <p:cNvPr id="3" name="Shape 1"/>
          <p:cNvSpPr/>
          <p:nvPr/>
        </p:nvSpPr>
        <p:spPr>
          <a:xfrm>
            <a:off x="619760" y="2095500"/>
            <a:ext cx="5019040" cy="1437640"/>
          </a:xfrm>
          <a:prstGeom prst="roundRect">
            <a:avLst>
              <a:gd name="adj" fmla="val 4417"/>
            </a:avLst>
          </a:prstGeom>
          <a:solidFill>
            <a:srgbClr val="F8DEDC"/>
          </a:solidFill>
          <a:ln/>
        </p:spPr>
      </p:sp>
      <p:sp>
        <p:nvSpPr>
          <p:cNvPr id="4" name="Text 2"/>
          <p:cNvSpPr/>
          <p:nvPr/>
        </p:nvSpPr>
        <p:spPr>
          <a:xfrm>
            <a:off x="695960" y="2106930"/>
            <a:ext cx="4931410" cy="1414780"/>
          </a:xfrm>
          <a:prstGeom prst="roundRect">
            <a:avLst>
              <a:gd name="adj" fmla="val 3591"/>
            </a:avLst>
          </a:prstGeom>
          <a:solidFill>
            <a:srgbClr val="FFFFFF"/>
          </a:solidFill>
          <a:ln/>
        </p:spPr>
        <p:txBody>
          <a:bodyPr wrap="square" lIns="154940" tIns="134455" rIns="114300" bIns="0" rtlCol="0" anchor="t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53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Model DataFrame</a:t>
            </a:r>
            <a:endParaRPr lang="en-US" sz="1530" dirty="0"/>
          </a:p>
          <a:p>
            <a:pPr algn="l" indent="0" marL="0">
              <a:lnSpc>
                <a:spcPts val="2000"/>
              </a:lnSpc>
              <a:spcBef>
                <a:spcPts val="524"/>
              </a:spcBef>
              <a:buNone/>
            </a:pPr>
            <a:r>
              <a:rPr lang="en-US" sz="122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Rozproszona tabela o niezmiennym schemacie. Operacje łączymy w łańcuch: </a:t>
            </a:r>
            <a:pPr algn="l" indent="0" marL="0">
              <a:lnSpc>
                <a:spcPts val="2000"/>
              </a:lnSpc>
              <a:spcBef>
                <a:spcPts val="524"/>
              </a:spcBef>
              <a:buNone/>
            </a:pPr>
            <a:r>
              <a:rPr lang="en-US" sz="1220" dirty="0">
                <a:solidFill>
                  <a:srgbClr val="000000"/>
                </a:solidFill>
                <a:highlight>
                  <a:srgbClr val="F2F2F2"/>
                </a:highlight>
                <a:latin typeface="Open Sans" pitchFamily="34" charset="0"/>
                <a:ea typeface="Open Sans" pitchFamily="34" charset="-122"/>
                <a:cs typeface="Open Sans" pitchFamily="34" charset="-120"/>
              </a:rPr>
              <a:t>df.filter(...).withColumn(...).groupBy(...).agg(...)</a:t>
            </a:r>
            <a:endParaRPr lang="en-US" sz="1530" dirty="0"/>
          </a:p>
        </p:txBody>
      </p:sp>
      <p:sp>
        <p:nvSpPr>
          <p:cNvPr id="5" name="Shape 3"/>
          <p:cNvSpPr/>
          <p:nvPr/>
        </p:nvSpPr>
        <p:spPr>
          <a:xfrm>
            <a:off x="5791200" y="2095500"/>
            <a:ext cx="5019040" cy="1437640"/>
          </a:xfrm>
          <a:prstGeom prst="roundRect">
            <a:avLst>
              <a:gd name="adj" fmla="val 4417"/>
            </a:avLst>
          </a:prstGeom>
          <a:solidFill>
            <a:srgbClr val="F8DEDC"/>
          </a:solidFill>
          <a:ln/>
        </p:spPr>
      </p:sp>
      <p:sp>
        <p:nvSpPr>
          <p:cNvPr id="6" name="Text 4"/>
          <p:cNvSpPr/>
          <p:nvPr/>
        </p:nvSpPr>
        <p:spPr>
          <a:xfrm>
            <a:off x="5867400" y="2106930"/>
            <a:ext cx="4931410" cy="1414780"/>
          </a:xfrm>
          <a:prstGeom prst="roundRect">
            <a:avLst>
              <a:gd name="adj" fmla="val 3591"/>
            </a:avLst>
          </a:prstGeom>
          <a:solidFill>
            <a:srgbClr val="FFFFFF"/>
          </a:solidFill>
          <a:ln/>
        </p:spPr>
        <p:txBody>
          <a:bodyPr wrap="square" lIns="154940" tIns="134455" rIns="114300" bIns="0" rtlCol="0" anchor="t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53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Odwołania do kolumn</a:t>
            </a:r>
            <a:endParaRPr lang="en-US" sz="1530" dirty="0"/>
          </a:p>
          <a:p>
            <a:pPr algn="l" indent="0" marL="0">
              <a:lnSpc>
                <a:spcPts val="2000"/>
              </a:lnSpc>
              <a:spcBef>
                <a:spcPts val="524"/>
              </a:spcBef>
              <a:buNone/>
            </a:pPr>
            <a:r>
              <a:rPr lang="en-US" sz="122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Używaj </a:t>
            </a:r>
            <a:pPr algn="l" indent="0" marL="0">
              <a:lnSpc>
                <a:spcPts val="2000"/>
              </a:lnSpc>
              <a:spcBef>
                <a:spcPts val="524"/>
              </a:spcBef>
              <a:buNone/>
            </a:pPr>
            <a:r>
              <a:rPr lang="en-US" sz="1220" dirty="0">
                <a:solidFill>
                  <a:srgbClr val="000000"/>
                </a:solidFill>
                <a:highlight>
                  <a:srgbClr val="F2F2F2"/>
                </a:highlight>
                <a:latin typeface="Open Sans" pitchFamily="34" charset="0"/>
                <a:ea typeface="Open Sans" pitchFamily="34" charset="-122"/>
                <a:cs typeface="Open Sans" pitchFamily="34" charset="-120"/>
              </a:rPr>
              <a:t>col("name")</a:t>
            </a:r>
            <a:pPr algn="l" indent="0" marL="0">
              <a:lnSpc>
                <a:spcPts val="2000"/>
              </a:lnSpc>
              <a:spcBef>
                <a:spcPts val="524"/>
              </a:spcBef>
              <a:buNone/>
            </a:pPr>
            <a:r>
              <a:rPr lang="en-US" sz="122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w samodzielnych wyrażeniach, a </a:t>
            </a:r>
            <a:pPr algn="l" indent="0" marL="0">
              <a:lnSpc>
                <a:spcPts val="2000"/>
              </a:lnSpc>
              <a:spcBef>
                <a:spcPts val="524"/>
              </a:spcBef>
              <a:buNone/>
            </a:pPr>
            <a:r>
              <a:rPr lang="en-US" sz="1220" dirty="0">
                <a:solidFill>
                  <a:srgbClr val="000000"/>
                </a:solidFill>
                <a:highlight>
                  <a:srgbClr val="F2F2F2"/>
                </a:highlight>
                <a:latin typeface="Open Sans" pitchFamily="34" charset="0"/>
                <a:ea typeface="Open Sans" pitchFamily="34" charset="-122"/>
                <a:cs typeface="Open Sans" pitchFamily="34" charset="-120"/>
              </a:rPr>
              <a:t>df["name"]</a:t>
            </a:r>
            <a:pPr algn="l" indent="0" marL="0">
              <a:lnSpc>
                <a:spcPts val="2000"/>
              </a:lnSpc>
              <a:spcBef>
                <a:spcPts val="524"/>
              </a:spcBef>
              <a:buNone/>
            </a:pPr>
            <a:r>
              <a:rPr lang="en-US" sz="122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gdy w joinie dwa DataFrame mają kolumnę o tej samej nazwie.</a:t>
            </a:r>
            <a:endParaRPr lang="en-US" sz="1530" dirty="0"/>
          </a:p>
        </p:txBody>
      </p:sp>
      <p:sp>
        <p:nvSpPr>
          <p:cNvPr id="7" name="Shape 5"/>
          <p:cNvSpPr/>
          <p:nvPr/>
        </p:nvSpPr>
        <p:spPr>
          <a:xfrm>
            <a:off x="619760" y="3685540"/>
            <a:ext cx="5019040" cy="1447800"/>
          </a:xfrm>
          <a:prstGeom prst="roundRect">
            <a:avLst>
              <a:gd name="adj" fmla="val 4386"/>
            </a:avLst>
          </a:prstGeom>
          <a:solidFill>
            <a:srgbClr val="F8DEDC"/>
          </a:solidFill>
          <a:ln/>
        </p:spPr>
      </p:sp>
      <p:sp>
        <p:nvSpPr>
          <p:cNvPr id="8" name="Text 6"/>
          <p:cNvSpPr/>
          <p:nvPr/>
        </p:nvSpPr>
        <p:spPr>
          <a:xfrm>
            <a:off x="695960" y="3696970"/>
            <a:ext cx="4931410" cy="1424940"/>
          </a:xfrm>
          <a:prstGeom prst="roundRect">
            <a:avLst>
              <a:gd name="adj" fmla="val 3565"/>
            </a:avLst>
          </a:prstGeom>
          <a:solidFill>
            <a:srgbClr val="FFFFFF"/>
          </a:solidFill>
          <a:ln/>
        </p:spPr>
        <p:txBody>
          <a:bodyPr wrap="square" lIns="154940" tIns="144615" rIns="114300" bIns="0" rtlCol="0" anchor="t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53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display() a show()</a:t>
            </a:r>
            <a:endParaRPr lang="en-US" sz="1530" dirty="0"/>
          </a:p>
          <a:p>
            <a:pPr algn="l" indent="0" marL="0">
              <a:lnSpc>
                <a:spcPts val="2000"/>
              </a:lnSpc>
              <a:spcBef>
                <a:spcPts val="524"/>
              </a:spcBef>
              <a:buNone/>
            </a:pPr>
            <a:r>
              <a:rPr lang="en-US" sz="1220" dirty="0">
                <a:solidFill>
                  <a:srgbClr val="000000"/>
                </a:solidFill>
                <a:highlight>
                  <a:srgbClr val="F2F2F2"/>
                </a:highlight>
                <a:latin typeface="Open Sans" pitchFamily="34" charset="0"/>
                <a:ea typeface="Open Sans" pitchFamily="34" charset="-122"/>
                <a:cs typeface="Open Sans" pitchFamily="34" charset="-120"/>
              </a:rPr>
              <a:t>display(df)</a:t>
            </a:r>
            <a:pPr algn="l" indent="0" marL="0">
              <a:lnSpc>
                <a:spcPts val="2000"/>
              </a:lnSpc>
              <a:spcBef>
                <a:spcPts val="524"/>
              </a:spcBef>
              <a:buNone/>
            </a:pPr>
            <a:r>
              <a:rPr lang="en-US" sz="122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to funkcja Databricks, rysuje tabelę ze stronicowaniem. </a:t>
            </a:r>
            <a:pPr algn="l" indent="0" marL="0">
              <a:lnSpc>
                <a:spcPts val="2000"/>
              </a:lnSpc>
              <a:spcBef>
                <a:spcPts val="524"/>
              </a:spcBef>
              <a:buNone/>
            </a:pPr>
            <a:r>
              <a:rPr lang="en-US" sz="1220" dirty="0">
                <a:solidFill>
                  <a:srgbClr val="000000"/>
                </a:solidFill>
                <a:highlight>
                  <a:srgbClr val="F2F2F2"/>
                </a:highlight>
                <a:latin typeface="Open Sans" pitchFamily="34" charset="0"/>
                <a:ea typeface="Open Sans" pitchFamily="34" charset="-122"/>
                <a:cs typeface="Open Sans" pitchFamily="34" charset="-120"/>
              </a:rPr>
              <a:t>df.show(n, truncate=False)</a:t>
            </a:r>
            <a:pPr algn="l" indent="0" marL="0">
              <a:lnSpc>
                <a:spcPts val="2000"/>
              </a:lnSpc>
              <a:spcBef>
                <a:spcPts val="524"/>
              </a:spcBef>
              <a:buNone/>
            </a:pPr>
            <a:r>
              <a:rPr lang="en-US" sz="122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to standard Sparka, działa też poza Databricks.</a:t>
            </a:r>
            <a:endParaRPr lang="en-US" sz="1530" dirty="0"/>
          </a:p>
        </p:txBody>
      </p:sp>
      <p:sp>
        <p:nvSpPr>
          <p:cNvPr id="9" name="Shape 7"/>
          <p:cNvSpPr/>
          <p:nvPr/>
        </p:nvSpPr>
        <p:spPr>
          <a:xfrm>
            <a:off x="5791200" y="3685540"/>
            <a:ext cx="5019040" cy="1447800"/>
          </a:xfrm>
          <a:prstGeom prst="roundRect">
            <a:avLst>
              <a:gd name="adj" fmla="val 4386"/>
            </a:avLst>
          </a:prstGeom>
          <a:solidFill>
            <a:srgbClr val="F8DEDC"/>
          </a:solidFill>
          <a:ln/>
        </p:spPr>
      </p:sp>
      <p:sp>
        <p:nvSpPr>
          <p:cNvPr id="10" name="Text 8"/>
          <p:cNvSpPr/>
          <p:nvPr/>
        </p:nvSpPr>
        <p:spPr>
          <a:xfrm>
            <a:off x="5867400" y="3696970"/>
            <a:ext cx="4931410" cy="1424940"/>
          </a:xfrm>
          <a:prstGeom prst="roundRect">
            <a:avLst>
              <a:gd name="adj" fmla="val 3565"/>
            </a:avLst>
          </a:prstGeom>
          <a:solidFill>
            <a:srgbClr val="FFFFFF"/>
          </a:solidFill>
          <a:ln/>
        </p:spPr>
        <p:txBody>
          <a:bodyPr wrap="square" lIns="154940" tIns="144615" rIns="114300" bIns="0" rtlCol="0" anchor="t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53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SQL w kodzie</a:t>
            </a:r>
            <a:endParaRPr lang="en-US" sz="1530" dirty="0"/>
          </a:p>
          <a:p>
            <a:pPr algn="l" indent="0" marL="0">
              <a:lnSpc>
                <a:spcPts val="2000"/>
              </a:lnSpc>
              <a:spcBef>
                <a:spcPts val="524"/>
              </a:spcBef>
              <a:buNone/>
            </a:pPr>
            <a:r>
              <a:rPr lang="en-US" sz="1220" dirty="0">
                <a:solidFill>
                  <a:srgbClr val="000000"/>
                </a:solidFill>
                <a:highlight>
                  <a:srgbClr val="F2F2F2"/>
                </a:highlight>
                <a:latin typeface="Open Sans" pitchFamily="34" charset="0"/>
                <a:ea typeface="Open Sans" pitchFamily="34" charset="-122"/>
                <a:cs typeface="Open Sans" pitchFamily="34" charset="-120"/>
              </a:rPr>
              <a:t>spark.sql("SELECT ...")</a:t>
            </a:r>
            <a:pPr algn="l" indent="0" marL="0">
              <a:lnSpc>
                <a:spcPts val="2000"/>
              </a:lnSpc>
              <a:spcBef>
                <a:spcPts val="524"/>
              </a:spcBef>
              <a:buNone/>
            </a:pPr>
            <a:r>
              <a:rPr lang="en-US" sz="122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wykonuje SQL i zwraca DataFrame, więc możesz dalej łączyć transformacje.</a:t>
            </a:r>
            <a:endParaRPr lang="en-US" sz="1530" dirty="0"/>
          </a:p>
        </p:txBody>
      </p:sp>
      <p:pic>
        <p:nvPicPr>
          <p:cNvPr id="11" name="Image 0" descr="assets/altko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240" y="6038850"/>
            <a:ext cx="637540" cy="2565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61000" y="6054281"/>
            <a:ext cx="508000" cy="1524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000000"/>
                </a:solidFill>
                <a:latin typeface="DM Sans"/>
                <a:ea typeface="DM Sans"/>
                <a:cs typeface="DM Sans"/>
              </a:defRPr>
            </a:lvl1pPr>
          </a:lstStyle>
          <a:p>
            <a:pPr algn="ct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9760" y="2562860"/>
            <a:ext cx="800100" cy="285750"/>
          </a:xfrm>
          <a:prstGeom prst="roundRect">
            <a:avLst>
              <a:gd name="adj" fmla="val 17778"/>
            </a:avLst>
          </a:prstGeom>
          <a:solidFill>
            <a:srgbClr val="F6D6D5"/>
          </a:solidFill>
          <a:ln/>
        </p:spPr>
        <p:txBody>
          <a:bodyPr wrap="square" lIns="95250" tIns="20599" rIns="2540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98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SEKCJA 4</a:t>
            </a:r>
            <a:endParaRPr lang="en-US" sz="980" dirty="0"/>
          </a:p>
        </p:txBody>
      </p:sp>
      <p:sp>
        <p:nvSpPr>
          <p:cNvPr id="3" name="Text 1"/>
          <p:cNvSpPr txBox="1"/>
          <p:nvPr/>
        </p:nvSpPr>
        <p:spPr>
          <a:xfrm>
            <a:off x="622300" y="2861501"/>
            <a:ext cx="10185400" cy="522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13"/>
              </a:lnSpc>
              <a:buNone/>
            </a:pPr>
            <a:r>
              <a:rPr lang="en-US" sz="305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Ingestia i architektura medalionowa</a:t>
            </a:r>
            <a:endParaRPr lang="en-US" sz="3050" dirty="0"/>
          </a:p>
        </p:txBody>
      </p:sp>
      <p:sp>
        <p:nvSpPr>
          <p:cNvPr id="4" name="Text 2"/>
          <p:cNvSpPr txBox="1"/>
          <p:nvPr/>
        </p:nvSpPr>
        <p:spPr>
          <a:xfrm>
            <a:off x="622300" y="3577057"/>
            <a:ext cx="101854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22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Podział data lake na warstwy jakości to fundament wiarygodnych pipeline’ów, które da się audytować.</a:t>
            </a:r>
            <a:endParaRPr lang="en-US" sz="1220" dirty="0"/>
          </a:p>
        </p:txBody>
      </p:sp>
      <p:pic>
        <p:nvPicPr>
          <p:cNvPr id="5" name="Image 0" descr="assets/altko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240" y="6038850"/>
            <a:ext cx="637540" cy="2565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61000" y="6054281"/>
            <a:ext cx="508000" cy="1524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000000"/>
                </a:solidFill>
                <a:latin typeface="DM Sans"/>
                <a:ea typeface="DM Sans"/>
                <a:cs typeface="DM Sans"/>
              </a:defRPr>
            </a:lvl1pPr>
          </a:lstStyle>
          <a:p>
            <a:pPr algn="ct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p29_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43750" y="8890"/>
            <a:ext cx="4286250" cy="642874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22300" y="475691"/>
            <a:ext cx="6223000" cy="1003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00"/>
              </a:lnSpc>
              <a:buNone/>
            </a:pPr>
            <a:r>
              <a:rPr lang="en-US" sz="304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Architektura medalionowa, po co trzy warstwy?</a:t>
            </a:r>
            <a:endParaRPr lang="en-US" sz="3040" dirty="0"/>
          </a:p>
        </p:txBody>
      </p:sp>
      <p:sp>
        <p:nvSpPr>
          <p:cNvPr id="4" name="Shape 1"/>
          <p:cNvSpPr/>
          <p:nvPr/>
        </p:nvSpPr>
        <p:spPr>
          <a:xfrm>
            <a:off x="734060" y="1733550"/>
            <a:ext cx="19050" cy="3257550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5" name="Shape 2"/>
          <p:cNvSpPr/>
          <p:nvPr/>
        </p:nvSpPr>
        <p:spPr>
          <a:xfrm>
            <a:off x="685800" y="1847850"/>
            <a:ext cx="114300" cy="114300"/>
          </a:xfrm>
          <a:prstGeom prst="ellipse">
            <a:avLst/>
          </a:prstGeom>
          <a:solidFill>
            <a:srgbClr val="F8DEDC"/>
          </a:solidFill>
          <a:ln/>
        </p:spPr>
      </p:sp>
      <p:sp>
        <p:nvSpPr>
          <p:cNvPr id="6" name="Shape 3"/>
          <p:cNvSpPr/>
          <p:nvPr/>
        </p:nvSpPr>
        <p:spPr>
          <a:xfrm>
            <a:off x="685800" y="3035300"/>
            <a:ext cx="114300" cy="114300"/>
          </a:xfrm>
          <a:prstGeom prst="ellipse">
            <a:avLst/>
          </a:prstGeom>
          <a:solidFill>
            <a:srgbClr val="F8DEDC"/>
          </a:solidFill>
          <a:ln/>
        </p:spPr>
      </p:sp>
      <p:sp>
        <p:nvSpPr>
          <p:cNvPr id="7" name="Shape 4"/>
          <p:cNvSpPr/>
          <p:nvPr/>
        </p:nvSpPr>
        <p:spPr>
          <a:xfrm>
            <a:off x="685800" y="4222750"/>
            <a:ext cx="114300" cy="114300"/>
          </a:xfrm>
          <a:prstGeom prst="ellipse">
            <a:avLst/>
          </a:prstGeom>
          <a:solidFill>
            <a:srgbClr val="F8DEDC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1155700" y="1746606"/>
            <a:ext cx="5257800" cy="32274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2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🥇 Gold</a:t>
            </a:r>
            <a:endParaRPr lang="en-US" sz="1520" dirty="0"/>
          </a:p>
          <a:p>
            <a:pPr algn="l" indent="0" marL="0">
              <a:lnSpc>
                <a:spcPts val="1950"/>
              </a:lnSpc>
              <a:spcBef>
                <a:spcPts val="613"/>
              </a:spcBef>
              <a:buNone/>
            </a:pPr>
            <a:r>
              <a:rPr lang="en-US" sz="122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Agregaty gotowe dla biznesu. Jeden wiersz = jeden wymiar biznesowy. Zasilają raporty, dashboardy i analityków.</a:t>
            </a:r>
            <a:endParaRPr lang="en-US" sz="1520" dirty="0"/>
          </a:p>
          <a:p>
            <a:pPr algn="l" indent="0" marL="0">
              <a:lnSpc>
                <a:spcPts val="1900"/>
              </a:lnSpc>
              <a:spcBef>
                <a:spcPts val="2967"/>
              </a:spcBef>
              <a:buNone/>
            </a:pPr>
            <a:r>
              <a:rPr lang="en-US" sz="152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🥈 Silver</a:t>
            </a:r>
            <a:endParaRPr lang="en-US" sz="1520" dirty="0"/>
          </a:p>
          <a:p>
            <a:pPr algn="l" indent="0" marL="0">
              <a:lnSpc>
                <a:spcPts val="1950"/>
              </a:lnSpc>
              <a:spcBef>
                <a:spcPts val="633"/>
              </a:spcBef>
              <a:buNone/>
            </a:pPr>
            <a:r>
              <a:rPr lang="en-US" sz="122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Dane oczyszczone, otypowane i wzbogacone. Jakość zagwarantowana, gotowe do analiz.</a:t>
            </a:r>
            <a:endParaRPr lang="en-US" sz="1520" dirty="0"/>
          </a:p>
          <a:p>
            <a:pPr algn="l" indent="0" marL="0">
              <a:lnSpc>
                <a:spcPts val="1900"/>
              </a:lnSpc>
              <a:spcBef>
                <a:spcPts val="2937"/>
              </a:spcBef>
              <a:buNone/>
            </a:pPr>
            <a:r>
              <a:rPr lang="en-US" sz="152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🥉 Bronze</a:t>
            </a:r>
            <a:endParaRPr lang="en-US" sz="1520" dirty="0"/>
          </a:p>
          <a:p>
            <a:pPr algn="l" indent="0" marL="0">
              <a:lnSpc>
                <a:spcPts val="1950"/>
              </a:lnSpc>
              <a:spcBef>
                <a:spcPts val="563"/>
              </a:spcBef>
              <a:buNone/>
            </a:pPr>
            <a:r>
              <a:rPr lang="en-US" sz="122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Dane surowe, dokładnie takie jak ze źródła. Bez filtrów i logiki biznesowej. Niezmienny zapis prawdy.</a:t>
            </a:r>
            <a:endParaRPr lang="en-US" sz="1520" dirty="0"/>
          </a:p>
        </p:txBody>
      </p:sp>
      <p:sp>
        <p:nvSpPr>
          <p:cNvPr id="9" name="Text 6"/>
          <p:cNvSpPr txBox="1"/>
          <p:nvPr/>
        </p:nvSpPr>
        <p:spPr>
          <a:xfrm>
            <a:off x="622300" y="5113757"/>
            <a:ext cx="590550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22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Każda warstwa to osobna tabela Delta, którą można odpytać, zaudytować i przywrócić. Błąd w Silver nie psuje Bronze. Kolejne warstwy zawsze przeliczysz od nowa ze źródła.</a:t>
            </a:r>
            <a:endParaRPr lang="en-US" sz="1220" dirty="0"/>
          </a:p>
        </p:txBody>
      </p:sp>
      <p:pic>
        <p:nvPicPr>
          <p:cNvPr id="10" name="Image 1" descr="assets/altkom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240" y="6038850"/>
            <a:ext cx="637540" cy="2565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635750" y="6054281"/>
            <a:ext cx="508000" cy="1524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000000"/>
                </a:solidFill>
                <a:latin typeface="DM Sans"/>
                <a:ea typeface="DM Sans"/>
                <a:cs typeface="DM Sans"/>
              </a:defRPr>
            </a:lvl1pPr>
          </a:lstStyle>
          <a:p>
            <a:pPr algn="ct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2300" y="651701"/>
            <a:ext cx="10185400" cy="522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13"/>
              </a:lnSpc>
              <a:buNone/>
            </a:pPr>
            <a:r>
              <a:rPr lang="en-US" sz="305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Jak dane trafiają do platformy</a:t>
            </a:r>
            <a:endParaRPr lang="en-US" sz="3050" dirty="0"/>
          </a:p>
        </p:txBody>
      </p:sp>
      <p:sp>
        <p:nvSpPr>
          <p:cNvPr id="3" name="Text 1"/>
          <p:cNvSpPr txBox="1"/>
          <p:nvPr/>
        </p:nvSpPr>
        <p:spPr>
          <a:xfrm>
            <a:off x="622300" y="1379957"/>
            <a:ext cx="101854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22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Przed warstwami medalionu zawsze jest ingestia. Databricks daje kilka poziomów automatyzacji:</a:t>
            </a:r>
            <a:endParaRPr lang="en-US" sz="1220" dirty="0"/>
          </a:p>
        </p:txBody>
      </p:sp>
      <p:sp>
        <p:nvSpPr>
          <p:cNvPr id="4" name="Text 2"/>
          <p:cNvSpPr/>
          <p:nvPr/>
        </p:nvSpPr>
        <p:spPr>
          <a:xfrm>
            <a:off x="619760" y="2095500"/>
            <a:ext cx="5019040" cy="165100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9050">
            <a:solidFill>
              <a:srgbClr val="F8DEDC"/>
            </a:solidFill>
          </a:ln>
        </p:spPr>
        <p:txBody>
          <a:bodyPr wrap="square" lIns="171450" tIns="133185" rIns="101600" bIns="0" rtlCol="0" anchor="t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53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Pliki w volume</a:t>
            </a:r>
            <a:endParaRPr lang="en-US" sz="1530" dirty="0"/>
          </a:p>
          <a:p>
            <a:pPr algn="l" indent="0" marL="0">
              <a:lnSpc>
                <a:spcPts val="1960"/>
              </a:lnSpc>
              <a:spcBef>
                <a:spcPts val="494"/>
              </a:spcBef>
              <a:buNone/>
            </a:pPr>
            <a:r>
              <a:rPr lang="en-US" sz="122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Punkt startowy na tym szkoleniu. Pliki lądują w </a:t>
            </a:r>
            <a:pPr algn="l" indent="0" marL="0">
              <a:lnSpc>
                <a:spcPts val="1960"/>
              </a:lnSpc>
              <a:spcBef>
                <a:spcPts val="494"/>
              </a:spcBef>
              <a:buNone/>
            </a:pPr>
            <a:r>
              <a:rPr lang="en-US" sz="1220" dirty="0">
                <a:solidFill>
                  <a:srgbClr val="000000"/>
                </a:solidFill>
                <a:highlight>
                  <a:srgbClr val="F2F2F2"/>
                </a:highlight>
                <a:latin typeface="Open Sans" pitchFamily="34" charset="0"/>
                <a:ea typeface="Open Sans" pitchFamily="34" charset="-122"/>
                <a:cs typeface="Open Sans" pitchFamily="34" charset="-120"/>
              </a:rPr>
              <a:t>/Volumes/&lt;katalog&gt;/&lt;schemat&gt;/&lt;volume&gt;/</a:t>
            </a:r>
            <a:pPr algn="l" indent="0" marL="0">
              <a:lnSpc>
                <a:spcPts val="1960"/>
              </a:lnSpc>
              <a:spcBef>
                <a:spcPts val="494"/>
              </a:spcBef>
              <a:buNone/>
            </a:pPr>
            <a:r>
              <a:rPr lang="en-US" sz="122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czytasz je przez </a:t>
            </a:r>
            <a:pPr algn="l" indent="0" marL="0">
              <a:lnSpc>
                <a:spcPts val="1960"/>
              </a:lnSpc>
              <a:spcBef>
                <a:spcPts val="494"/>
              </a:spcBef>
              <a:buNone/>
            </a:pPr>
            <a:r>
              <a:rPr lang="en-US" sz="1220" dirty="0">
                <a:solidFill>
                  <a:srgbClr val="000000"/>
                </a:solidFill>
                <a:highlight>
                  <a:srgbClr val="F2F2F2"/>
                </a:highlight>
                <a:latin typeface="Open Sans" pitchFamily="34" charset="0"/>
                <a:ea typeface="Open Sans" pitchFamily="34" charset="-122"/>
                <a:cs typeface="Open Sans" pitchFamily="34" charset="-120"/>
              </a:rPr>
              <a:t>spark.read</a:t>
            </a:r>
            <a:pPr algn="l" indent="0" marL="0">
              <a:lnSpc>
                <a:spcPts val="1960"/>
              </a:lnSpc>
              <a:spcBef>
                <a:spcPts val="494"/>
              </a:spcBef>
              <a:buNone/>
            </a:pPr>
            <a:r>
              <a:rPr lang="en-US" sz="122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lub </a:t>
            </a:r>
            <a:pPr algn="l" indent="0" marL="0">
              <a:lnSpc>
                <a:spcPts val="1960"/>
              </a:lnSpc>
              <a:spcBef>
                <a:spcPts val="494"/>
              </a:spcBef>
              <a:buNone/>
            </a:pPr>
            <a:r>
              <a:rPr lang="en-US" sz="1220" dirty="0">
                <a:solidFill>
                  <a:srgbClr val="000000"/>
                </a:solidFill>
                <a:highlight>
                  <a:srgbClr val="F2F2F2"/>
                </a:highlight>
                <a:latin typeface="Open Sans" pitchFamily="34" charset="0"/>
                <a:ea typeface="Open Sans" pitchFamily="34" charset="-122"/>
                <a:cs typeface="Open Sans" pitchFamily="34" charset="-120"/>
              </a:rPr>
              <a:t>read_files()</a:t>
            </a:r>
            <a:pPr algn="l" indent="0" marL="0">
              <a:lnSpc>
                <a:spcPts val="1960"/>
              </a:lnSpc>
              <a:spcBef>
                <a:spcPts val="494"/>
              </a:spcBef>
              <a:buNone/>
            </a:pPr>
            <a:r>
              <a:rPr lang="en-US" sz="122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i zapisujesz tabelę Bronze. Prosto i w pełni ręcznie.</a:t>
            </a:r>
            <a:endParaRPr lang="en-US" sz="1530" dirty="0"/>
          </a:p>
        </p:txBody>
      </p:sp>
      <p:sp>
        <p:nvSpPr>
          <p:cNvPr id="5" name="Text 3"/>
          <p:cNvSpPr/>
          <p:nvPr/>
        </p:nvSpPr>
        <p:spPr>
          <a:xfrm>
            <a:off x="5791200" y="2095500"/>
            <a:ext cx="5019040" cy="165100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9050">
            <a:solidFill>
              <a:srgbClr val="F8DEDC"/>
            </a:solidFill>
          </a:ln>
        </p:spPr>
        <p:txBody>
          <a:bodyPr wrap="square" lIns="171450" tIns="133185" rIns="101600" bIns="0" rtlCol="0" anchor="t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53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Auto Loader</a:t>
            </a:r>
            <a:endParaRPr lang="en-US" sz="1530" dirty="0"/>
          </a:p>
          <a:p>
            <a:pPr algn="l" indent="0" marL="0">
              <a:lnSpc>
                <a:spcPts val="1960"/>
              </a:lnSpc>
              <a:spcBef>
                <a:spcPts val="494"/>
              </a:spcBef>
              <a:buNone/>
            </a:pPr>
            <a:r>
              <a:rPr lang="en-US" sz="122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Przyrostowe ładowanie plików. </a:t>
            </a:r>
            <a:pPr algn="l" indent="0" marL="0">
              <a:lnSpc>
                <a:spcPts val="1960"/>
              </a:lnSpc>
              <a:spcBef>
                <a:spcPts val="494"/>
              </a:spcBef>
              <a:buNone/>
            </a:pPr>
            <a:r>
              <a:rPr lang="en-US" sz="1220" dirty="0">
                <a:solidFill>
                  <a:srgbClr val="000000"/>
                </a:solidFill>
                <a:highlight>
                  <a:srgbClr val="F2F2F2"/>
                </a:highlight>
                <a:latin typeface="Open Sans" pitchFamily="34" charset="0"/>
                <a:ea typeface="Open Sans" pitchFamily="34" charset="-122"/>
                <a:cs typeface="Open Sans" pitchFamily="34" charset="-120"/>
              </a:rPr>
              <a:t>cloudFiles</a:t>
            </a:r>
            <a:pPr algn="l" indent="0" marL="0">
              <a:lnSpc>
                <a:spcPts val="1960"/>
              </a:lnSpc>
              <a:spcBef>
                <a:spcPts val="494"/>
              </a:spcBef>
              <a:buNone/>
            </a:pPr>
            <a:r>
              <a:rPr lang="en-US" sz="122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pamięta, co już przetworzył, więc ponowny bieg bierze tylko nowe pliki. Obsługuje wykrywanie i ewolucję schematu oraz rescued data.</a:t>
            </a:r>
            <a:endParaRPr lang="en-US" sz="1530" dirty="0"/>
          </a:p>
        </p:txBody>
      </p:sp>
      <p:sp>
        <p:nvSpPr>
          <p:cNvPr id="6" name="Text 4"/>
          <p:cNvSpPr/>
          <p:nvPr/>
        </p:nvSpPr>
        <p:spPr>
          <a:xfrm>
            <a:off x="619760" y="3873500"/>
            <a:ext cx="5019040" cy="165100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9050">
            <a:solidFill>
              <a:srgbClr val="F8DEDC"/>
            </a:solidFill>
          </a:ln>
        </p:spPr>
        <p:txBody>
          <a:bodyPr wrap="square" lIns="171450" tIns="133185" rIns="101600" bIns="0" rtlCol="0" anchor="t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53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Lakeflow Connect</a:t>
            </a:r>
            <a:endParaRPr lang="en-US" sz="1530" dirty="0"/>
          </a:p>
          <a:p>
            <a:pPr algn="l" indent="0" marL="0">
              <a:lnSpc>
                <a:spcPts val="1960"/>
              </a:lnSpc>
              <a:spcBef>
                <a:spcPts val="494"/>
              </a:spcBef>
              <a:buNone/>
            </a:pPr>
            <a:r>
              <a:rPr lang="en-US" sz="122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Zarządzane konektory do baz i aplikacji SaaS, na przykład Salesforce, Workday czy SQL Server. Konfiguracja zamiast kodu, z obsługą CDC.</a:t>
            </a:r>
            <a:endParaRPr lang="en-US" sz="1530" dirty="0"/>
          </a:p>
        </p:txBody>
      </p:sp>
      <p:sp>
        <p:nvSpPr>
          <p:cNvPr id="7" name="Text 5"/>
          <p:cNvSpPr/>
          <p:nvPr/>
        </p:nvSpPr>
        <p:spPr>
          <a:xfrm>
            <a:off x="5791200" y="3873500"/>
            <a:ext cx="5019040" cy="165100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9050">
            <a:solidFill>
              <a:srgbClr val="F8DEDC"/>
            </a:solidFill>
          </a:ln>
        </p:spPr>
        <p:txBody>
          <a:bodyPr wrap="square" lIns="171450" tIns="133185" rIns="101600" bIns="0" rtlCol="0" anchor="t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53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Streaming tables</a:t>
            </a:r>
            <a:endParaRPr lang="en-US" sz="1530" dirty="0"/>
          </a:p>
          <a:p>
            <a:pPr algn="l" indent="0" marL="0">
              <a:lnSpc>
                <a:spcPts val="1960"/>
              </a:lnSpc>
              <a:spcBef>
                <a:spcPts val="494"/>
              </a:spcBef>
              <a:buNone/>
            </a:pPr>
            <a:r>
              <a:rPr lang="en-US" sz="122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Tabela zdefiniowana zapytaniem strumieniowym. Dociąga nowe dane na bieżąco lub z harmonogramu i jest podstawą pipeline’ów deklaratywnych.</a:t>
            </a:r>
            <a:endParaRPr lang="en-US" sz="1530" dirty="0"/>
          </a:p>
        </p:txBody>
      </p:sp>
      <p:pic>
        <p:nvPicPr>
          <p:cNvPr id="8" name="Image 0" descr="assets/altko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240" y="6038850"/>
            <a:ext cx="637540" cy="2565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61000" y="6054281"/>
            <a:ext cx="508000" cy="1524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000000"/>
                </a:solidFill>
                <a:latin typeface="DM Sans"/>
                <a:ea typeface="DM Sans"/>
                <a:cs typeface="DM Sans"/>
              </a:defRPr>
            </a:lvl1pPr>
          </a:lstStyle>
          <a:p>
            <a:pPr algn="ct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2300" y="1108901"/>
            <a:ext cx="10185400" cy="522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13"/>
              </a:lnSpc>
              <a:buNone/>
            </a:pPr>
            <a:r>
              <a:rPr lang="en-US" sz="305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Warstwa Bronze, zasady</a:t>
            </a:r>
            <a:endParaRPr lang="en-US" sz="3050" dirty="0"/>
          </a:p>
        </p:txBody>
      </p:sp>
      <p:sp>
        <p:nvSpPr>
          <p:cNvPr id="3" name="Text 1"/>
          <p:cNvSpPr/>
          <p:nvPr/>
        </p:nvSpPr>
        <p:spPr>
          <a:xfrm>
            <a:off x="505460" y="1885950"/>
            <a:ext cx="5133340" cy="3382010"/>
          </a:xfrm>
          <a:prstGeom prst="roundRect">
            <a:avLst>
              <a:gd name="adj" fmla="val 3004"/>
            </a:avLst>
          </a:prstGeom>
          <a:solidFill>
            <a:srgbClr val="F8DEDC"/>
          </a:solidFill>
          <a:ln/>
        </p:spPr>
        <p:txBody>
          <a:bodyPr wrap="square" lIns="154940" tIns="126835" rIns="101600" bIns="0" rtlCol="0" anchor="t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53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Złota zasada</a:t>
            </a:r>
            <a:endParaRPr lang="en-US" sz="1530" dirty="0"/>
          </a:p>
          <a:p>
            <a:pPr algn="l" indent="0" marL="0">
              <a:lnSpc>
                <a:spcPts val="1950"/>
              </a:lnSpc>
              <a:spcBef>
                <a:spcPts val="1004"/>
              </a:spcBef>
              <a:buNone/>
            </a:pPr>
            <a:r>
              <a:rPr lang="en-US" sz="122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Surowe jak jest:</a:t>
            </a:r>
            <a:pPr algn="l" indent="0" marL="0">
              <a:lnSpc>
                <a:spcPts val="1950"/>
              </a:lnSpc>
              <a:spcBef>
                <a:spcPts val="1004"/>
              </a:spcBef>
              <a:buNone/>
            </a:pPr>
            <a:r>
              <a:rPr lang="en-US" sz="122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ładuj dokładnie to, co przyszło ze źródła. Bez filtrów, bez logiki biznesowej, bez interpretacji typów.</a:t>
            </a:r>
            <a:endParaRPr lang="en-US" sz="1530" dirty="0"/>
          </a:p>
          <a:p>
            <a:pPr algn="l" indent="0" marL="0">
              <a:lnSpc>
                <a:spcPts val="1913"/>
              </a:lnSpc>
              <a:spcBef>
                <a:spcPts val="4483"/>
              </a:spcBef>
              <a:buNone/>
            </a:pPr>
            <a:r>
              <a:rPr lang="en-US" sz="153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Wszystkie kolumny jako StringType</a:t>
            </a:r>
            <a:endParaRPr lang="en-US" sz="1530" dirty="0"/>
          </a:p>
          <a:p>
            <a:pPr algn="l" indent="0" marL="0">
              <a:lnSpc>
                <a:spcPts val="1950"/>
              </a:lnSpc>
              <a:spcBef>
                <a:spcPts val="1104"/>
              </a:spcBef>
              <a:buNone/>
            </a:pPr>
            <a:r>
              <a:rPr lang="en-US" sz="122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JSON i CSV nie mają typów. Bronze zachowuje surowe stringi, a typy nadajesz w Silver, gdzie panujesz nad logiką.</a:t>
            </a:r>
            <a:endParaRPr lang="en-US" sz="1530" dirty="0"/>
          </a:p>
        </p:txBody>
      </p:sp>
      <p:sp>
        <p:nvSpPr>
          <p:cNvPr id="4" name="Text 2"/>
          <p:cNvSpPr txBox="1"/>
          <p:nvPr/>
        </p:nvSpPr>
        <p:spPr>
          <a:xfrm>
            <a:off x="5922010" y="2012785"/>
            <a:ext cx="4927600" cy="3100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53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Obowiązkowe kolumny metadanych</a:t>
            </a:r>
            <a:endParaRPr lang="en-US" sz="1530" dirty="0"/>
          </a:p>
          <a:p>
            <a:pPr algn="l" marL="241300" indent="-241300">
              <a:lnSpc>
                <a:spcPts val="2000"/>
              </a:lnSpc>
              <a:spcBef>
                <a:spcPts val="954"/>
              </a:spcBef>
              <a:buSzPct val="100000"/>
              <a:buChar char="•"/>
            </a:pPr>
            <a:r>
              <a:rPr lang="en-US" sz="1220" dirty="0">
                <a:solidFill>
                  <a:srgbClr val="000000"/>
                </a:solidFill>
                <a:highlight>
                  <a:srgbClr val="F2F2F2"/>
                </a:highlight>
                <a:latin typeface="Open Sans" pitchFamily="34" charset="0"/>
                <a:ea typeface="Open Sans" pitchFamily="34" charset="-122"/>
                <a:cs typeface="Open Sans" pitchFamily="34" charset="-120"/>
              </a:rPr>
              <a:t>_load_ts</a:t>
            </a:r>
            <a:pPr algn="l" marL="241300" indent="-241300">
              <a:lnSpc>
                <a:spcPts val="2000"/>
              </a:lnSpc>
              <a:spcBef>
                <a:spcPts val="954"/>
              </a:spcBef>
              <a:buSzPct val="100000"/>
              <a:buChar char="•"/>
            </a:pPr>
            <a:r>
              <a:rPr lang="en-US" sz="122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czyli </a:t>
            </a:r>
            <a:pPr algn="l" marL="241300" indent="-241300">
              <a:lnSpc>
                <a:spcPts val="2000"/>
              </a:lnSpc>
              <a:spcBef>
                <a:spcPts val="954"/>
              </a:spcBef>
              <a:buSzPct val="100000"/>
              <a:buChar char="•"/>
            </a:pPr>
            <a:r>
              <a:rPr lang="en-US" sz="1220" dirty="0">
                <a:solidFill>
                  <a:srgbClr val="000000"/>
                </a:solidFill>
                <a:highlight>
                  <a:srgbClr val="F2F2F2"/>
                </a:highlight>
                <a:latin typeface="Open Sans" pitchFamily="34" charset="0"/>
                <a:ea typeface="Open Sans" pitchFamily="34" charset="-122"/>
                <a:cs typeface="Open Sans" pitchFamily="34" charset="-120"/>
              </a:rPr>
              <a:t>current_timestamp()</a:t>
            </a:r>
            <a:pPr algn="l" marL="241300" indent="-241300">
              <a:lnSpc>
                <a:spcPts val="2000"/>
              </a:lnSpc>
              <a:spcBef>
                <a:spcPts val="954"/>
              </a:spcBef>
              <a:buSzPct val="100000"/>
              <a:buChar char="•"/>
            </a:pPr>
            <a:r>
              <a:rPr lang="en-US" sz="122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kiedy plik został wczytany</a:t>
            </a:r>
            <a:endParaRPr lang="en-US" sz="1530" dirty="0"/>
          </a:p>
          <a:p>
            <a:pPr algn="l" marL="241300" indent="-241300">
              <a:lnSpc>
                <a:spcPts val="2000"/>
              </a:lnSpc>
              <a:spcBef>
                <a:spcPts val="570"/>
              </a:spcBef>
              <a:buSzPct val="100000"/>
              <a:buChar char="•"/>
            </a:pPr>
            <a:r>
              <a:rPr lang="en-US" sz="1220" dirty="0">
                <a:solidFill>
                  <a:srgbClr val="000000"/>
                </a:solidFill>
                <a:highlight>
                  <a:srgbClr val="F2F2F2"/>
                </a:highlight>
                <a:latin typeface="Open Sans" pitchFamily="34" charset="0"/>
                <a:ea typeface="Open Sans" pitchFamily="34" charset="-122"/>
                <a:cs typeface="Open Sans" pitchFamily="34" charset="-120"/>
              </a:rPr>
              <a:t>_source_file</a:t>
            </a:r>
            <a:pPr algn="l" marL="241300" indent="-241300">
              <a:lnSpc>
                <a:spcPts val="2000"/>
              </a:lnSpc>
              <a:spcBef>
                <a:spcPts val="570"/>
              </a:spcBef>
              <a:buSzPct val="100000"/>
              <a:buChar char="•"/>
            </a:pPr>
            <a:r>
              <a:rPr lang="en-US" sz="122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czyli </a:t>
            </a:r>
            <a:pPr algn="l" marL="241300" indent="-241300">
              <a:lnSpc>
                <a:spcPts val="2000"/>
              </a:lnSpc>
              <a:spcBef>
                <a:spcPts val="570"/>
              </a:spcBef>
              <a:buSzPct val="100000"/>
              <a:buChar char="•"/>
            </a:pPr>
            <a:r>
              <a:rPr lang="en-US" sz="1220" dirty="0">
                <a:solidFill>
                  <a:srgbClr val="000000"/>
                </a:solidFill>
                <a:highlight>
                  <a:srgbClr val="F2F2F2"/>
                </a:highlight>
                <a:latin typeface="Open Sans" pitchFamily="34" charset="0"/>
                <a:ea typeface="Open Sans" pitchFamily="34" charset="-122"/>
                <a:cs typeface="Open Sans" pitchFamily="34" charset="-120"/>
              </a:rPr>
              <a:t>input_file_name()</a:t>
            </a:r>
            <a:pPr algn="l" marL="241300" indent="-241300">
              <a:lnSpc>
                <a:spcPts val="2000"/>
              </a:lnSpc>
              <a:spcBef>
                <a:spcPts val="570"/>
              </a:spcBef>
              <a:buSzPct val="100000"/>
              <a:buChar char="•"/>
            </a:pPr>
            <a:r>
              <a:rPr lang="en-US" sz="122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z jakiego pliku pochodzi wiersz</a:t>
            </a:r>
            <a:endParaRPr lang="en-US" sz="1530" dirty="0"/>
          </a:p>
          <a:p>
            <a:pPr algn="l" indent="0" marL="0">
              <a:lnSpc>
                <a:spcPts val="1913"/>
              </a:lnSpc>
              <a:spcBef>
                <a:spcPts val="1363"/>
              </a:spcBef>
              <a:buNone/>
            </a:pPr>
            <a:r>
              <a:rPr lang="en-US" sz="153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Zawsze jawny schemat</a:t>
            </a:r>
            <a:endParaRPr lang="en-US" sz="1530" dirty="0"/>
          </a:p>
          <a:p>
            <a:pPr algn="l" indent="0" marL="0">
              <a:lnSpc>
                <a:spcPts val="2000"/>
              </a:lnSpc>
              <a:spcBef>
                <a:spcPts val="1154"/>
              </a:spcBef>
              <a:buNone/>
            </a:pPr>
            <a:r>
              <a:rPr lang="en-US" sz="122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Nie używaj </a:t>
            </a:r>
            <a:pPr algn="l" indent="0" marL="0">
              <a:lnSpc>
                <a:spcPts val="2000"/>
              </a:lnSpc>
              <a:spcBef>
                <a:spcPts val="1154"/>
              </a:spcBef>
              <a:buNone/>
            </a:pPr>
            <a:r>
              <a:rPr lang="en-US" sz="1220" dirty="0">
                <a:solidFill>
                  <a:srgbClr val="000000"/>
                </a:solidFill>
                <a:highlight>
                  <a:srgbClr val="F2F2F2"/>
                </a:highlight>
                <a:latin typeface="Open Sans" pitchFamily="34" charset="0"/>
                <a:ea typeface="Open Sans" pitchFamily="34" charset="-122"/>
                <a:cs typeface="Open Sans" pitchFamily="34" charset="-120"/>
              </a:rPr>
              <a:t>inferSchema</a:t>
            </a:r>
            <a:pPr algn="l" indent="0" marL="0">
              <a:lnSpc>
                <a:spcPts val="2000"/>
              </a:lnSpc>
              <a:spcBef>
                <a:spcPts val="1154"/>
              </a:spcBef>
              <a:buNone/>
            </a:pPr>
            <a:r>
              <a:rPr lang="en-US" sz="122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na produkcji. Powoduje podwójny odczyt danych i niczego nie gwarantuje. Zdefiniuj </a:t>
            </a:r>
            <a:pPr algn="l" indent="0" marL="0">
              <a:lnSpc>
                <a:spcPts val="2000"/>
              </a:lnSpc>
              <a:spcBef>
                <a:spcPts val="1154"/>
              </a:spcBef>
              <a:buNone/>
            </a:pPr>
            <a:r>
              <a:rPr lang="en-US" sz="1220" dirty="0">
                <a:solidFill>
                  <a:srgbClr val="000000"/>
                </a:solidFill>
                <a:highlight>
                  <a:srgbClr val="F2F2F2"/>
                </a:highlight>
                <a:latin typeface="Open Sans" pitchFamily="34" charset="0"/>
                <a:ea typeface="Open Sans" pitchFamily="34" charset="-122"/>
                <a:cs typeface="Open Sans" pitchFamily="34" charset="-120"/>
              </a:rPr>
              <a:t>StructType</a:t>
            </a:r>
            <a:pPr algn="l" indent="0" marL="0">
              <a:lnSpc>
                <a:spcPts val="2000"/>
              </a:lnSpc>
              <a:spcBef>
                <a:spcPts val="1154"/>
              </a:spcBef>
              <a:buNone/>
            </a:pPr>
            <a:r>
              <a:rPr lang="en-US" sz="122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jawnie.</a:t>
            </a:r>
            <a:endParaRPr lang="en-US" sz="1530" dirty="0"/>
          </a:p>
          <a:p>
            <a:pPr algn="l" indent="0" marL="0">
              <a:lnSpc>
                <a:spcPts val="1913"/>
              </a:lnSpc>
              <a:spcBef>
                <a:spcPts val="1333"/>
              </a:spcBef>
              <a:buNone/>
            </a:pPr>
            <a:r>
              <a:rPr lang="en-US" sz="153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Format docelowy</a:t>
            </a:r>
            <a:endParaRPr lang="en-US" sz="1530" dirty="0"/>
          </a:p>
          <a:p>
            <a:pPr algn="l" indent="0" marL="0">
              <a:lnSpc>
                <a:spcPts val="1950"/>
              </a:lnSpc>
              <a:spcBef>
                <a:spcPts val="1104"/>
              </a:spcBef>
              <a:buNone/>
            </a:pPr>
            <a:r>
              <a:rPr lang="en-US" sz="122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Delta, bo od pierwszego dnia daje ACID, kontrolę schematu i time travel.</a:t>
            </a:r>
            <a:endParaRPr lang="en-US" sz="1530" dirty="0"/>
          </a:p>
        </p:txBody>
      </p:sp>
      <p:pic>
        <p:nvPicPr>
          <p:cNvPr id="5" name="Image 0" descr="assets/altko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240" y="6038850"/>
            <a:ext cx="637540" cy="2565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61000" y="6054281"/>
            <a:ext cx="508000" cy="1524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000000"/>
                </a:solidFill>
                <a:latin typeface="DM Sans"/>
                <a:ea typeface="DM Sans"/>
                <a:cs typeface="DM Sans"/>
              </a:defRPr>
            </a:lvl1pPr>
          </a:lstStyle>
          <a:p>
            <a:pPr algn="ct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2300" y="613601"/>
            <a:ext cx="10185400" cy="522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13"/>
              </a:lnSpc>
              <a:buNone/>
            </a:pPr>
            <a:r>
              <a:rPr lang="en-US" sz="305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Jawny schemat: StructType i StructField</a:t>
            </a:r>
            <a:endParaRPr lang="en-US" sz="3050" dirty="0"/>
          </a:p>
        </p:txBody>
      </p:sp>
      <p:sp>
        <p:nvSpPr>
          <p:cNvPr id="3" name="Text 1"/>
          <p:cNvSpPr/>
          <p:nvPr/>
        </p:nvSpPr>
        <p:spPr>
          <a:xfrm>
            <a:off x="619760" y="1457960"/>
            <a:ext cx="10191750" cy="2466340"/>
          </a:xfrm>
          <a:prstGeom prst="roundRect">
            <a:avLst>
              <a:gd name="adj" fmla="val 3090"/>
            </a:avLst>
          </a:prstGeom>
          <a:solidFill>
            <a:srgbClr val="F2F2F2"/>
          </a:solidFill>
          <a:ln/>
        </p:spPr>
        <p:txBody>
          <a:bodyPr wrap="square" lIns="142240" tIns="71857" rIns="7620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22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from pyspark.sql.types import StructType, StructField, StringType</a:t>
            </a:r>
            <a:endParaRPr lang="en-US" sz="1220" dirty="0"/>
          </a:p>
          <a:p>
            <a:pPr algn="l" indent="0" marL="0">
              <a:lnSpc>
                <a:spcPts val="1960"/>
              </a:lnSpc>
              <a:buNone/>
            </a:pPr>
            <a:r>
              <a:rPr lang="en-US" sz="122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endParaRPr lang="en-US" sz="1220" dirty="0"/>
          </a:p>
          <a:p>
            <a:pPr algn="l" indent="0" marL="0">
              <a:lnSpc>
                <a:spcPts val="1960"/>
              </a:lnSpc>
              <a:buNone/>
            </a:pPr>
            <a:r>
              <a:rPr lang="en-US" sz="122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schema = StructType([</a:t>
            </a:r>
            <a:endParaRPr lang="en-US" sz="1220" dirty="0"/>
          </a:p>
          <a:p>
            <a:pPr algn="l" indent="0" marL="0">
              <a:lnSpc>
                <a:spcPts val="1960"/>
              </a:lnSpc>
              <a:buNone/>
            </a:pPr>
            <a:r>
              <a:rPr lang="en-US" sz="122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   StructField("order_id",      StringType(), nullable=False),</a:t>
            </a:r>
            <a:endParaRPr lang="en-US" sz="1220" dirty="0"/>
          </a:p>
          <a:p>
            <a:pPr algn="l" indent="0" marL="0">
              <a:lnSpc>
                <a:spcPts val="1960"/>
              </a:lnSpc>
              <a:buNone/>
            </a:pPr>
            <a:r>
              <a:rPr lang="en-US" sz="122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   StructField("customer_id",   StringType(), nullable=True),</a:t>
            </a:r>
            <a:endParaRPr lang="en-US" sz="1220" dirty="0"/>
          </a:p>
          <a:p>
            <a:pPr algn="l" indent="0" marL="0">
              <a:lnSpc>
                <a:spcPts val="1960"/>
              </a:lnSpc>
              <a:buNone/>
            </a:pPr>
            <a:r>
              <a:rPr lang="en-US" sz="122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   StructField("total_amount",  StringType(), nullable=True),</a:t>
            </a:r>
            <a:endParaRPr lang="en-US" sz="1220" dirty="0"/>
          </a:p>
          <a:p>
            <a:pPr algn="l" indent="0" marL="0">
              <a:lnSpc>
                <a:spcPts val="1960"/>
              </a:lnSpc>
              <a:buNone/>
            </a:pPr>
            <a:r>
              <a:rPr lang="en-US" sz="122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   StructField("order_datetime",StringType(), nullable=True),</a:t>
            </a:r>
            <a:endParaRPr lang="en-US" sz="1220" dirty="0"/>
          </a:p>
          <a:p>
            <a:pPr algn="l" indent="0" marL="0">
              <a:lnSpc>
                <a:spcPts val="1960"/>
              </a:lnSpc>
              <a:buNone/>
            </a:pPr>
            <a:r>
              <a:rPr lang="en-US" sz="122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   # ... pozostałe pola</a:t>
            </a:r>
            <a:endParaRPr lang="en-US" sz="1220" dirty="0"/>
          </a:p>
          <a:p>
            <a:pPr algn="l" indent="0" marL="0">
              <a:lnSpc>
                <a:spcPts val="1960"/>
              </a:lnSpc>
              <a:buNone/>
            </a:pPr>
            <a:r>
              <a:rPr lang="en-US" sz="122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])</a:t>
            </a:r>
            <a:endParaRPr lang="en-US" sz="1220" dirty="0"/>
          </a:p>
        </p:txBody>
      </p:sp>
      <p:sp>
        <p:nvSpPr>
          <p:cNvPr id="4" name="Text 2"/>
          <p:cNvSpPr/>
          <p:nvPr/>
        </p:nvSpPr>
        <p:spPr>
          <a:xfrm>
            <a:off x="628650" y="4104640"/>
            <a:ext cx="3276600" cy="1657350"/>
          </a:xfrm>
          <a:prstGeom prst="roundRect">
            <a:avLst>
              <a:gd name="adj" fmla="val 4598"/>
            </a:avLst>
          </a:prstGeom>
          <a:solidFill>
            <a:srgbClr val="FFFFFF"/>
          </a:solidFill>
          <a:ln w="19050">
            <a:solidFill>
              <a:srgbClr val="F8DEDC"/>
            </a:solidFill>
          </a:ln>
        </p:spPr>
        <p:txBody>
          <a:bodyPr wrap="square" lIns="171450" tIns="136995" rIns="114300" bIns="0" rtlCol="0" anchor="t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53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nullable=False na kluczach</a:t>
            </a:r>
            <a:endParaRPr lang="en-US" sz="1530" dirty="0"/>
          </a:p>
          <a:p>
            <a:pPr algn="l" indent="0" marL="0">
              <a:lnSpc>
                <a:spcPts val="1950"/>
              </a:lnSpc>
              <a:spcBef>
                <a:spcPts val="554"/>
              </a:spcBef>
              <a:buNone/>
            </a:pPr>
            <a:r>
              <a:rPr lang="en-US" sz="122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Brak klucza wyłapiesz przy odczycie. Lepiej, żeby zadanie padło od razu, niż żeby nulle szły dalej przez pipeline.</a:t>
            </a:r>
            <a:endParaRPr lang="en-US" sz="1530" dirty="0"/>
          </a:p>
        </p:txBody>
      </p:sp>
      <p:sp>
        <p:nvSpPr>
          <p:cNvPr id="5" name="Text 3"/>
          <p:cNvSpPr/>
          <p:nvPr/>
        </p:nvSpPr>
        <p:spPr>
          <a:xfrm>
            <a:off x="4076700" y="4104640"/>
            <a:ext cx="3276600" cy="1657350"/>
          </a:xfrm>
          <a:prstGeom prst="roundRect">
            <a:avLst>
              <a:gd name="adj" fmla="val 4598"/>
            </a:avLst>
          </a:prstGeom>
          <a:solidFill>
            <a:srgbClr val="FFFFFF"/>
          </a:solidFill>
          <a:ln w="19050">
            <a:solidFill>
              <a:srgbClr val="F8DEDC"/>
            </a:solidFill>
          </a:ln>
        </p:spPr>
        <p:txBody>
          <a:bodyPr wrap="square" lIns="171450" tIns="136995" rIns="114300" bIns="0" rtlCol="0" anchor="t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53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Dlaczego StringType w Bronze?</a:t>
            </a:r>
            <a:endParaRPr lang="en-US" sz="1530" dirty="0"/>
          </a:p>
          <a:p>
            <a:pPr algn="l" indent="0" marL="0">
              <a:lnSpc>
                <a:spcPts val="1950"/>
              </a:lnSpc>
              <a:spcBef>
                <a:spcPts val="554"/>
              </a:spcBef>
              <a:buNone/>
            </a:pPr>
            <a:r>
              <a:rPr lang="en-US" sz="122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JSON i CSV nie niosą informacji o typach. String jest bezpiecznym domyślnym wyborem, a rzutowanie robisz w Silver, z pełną kontrolą.</a:t>
            </a:r>
            <a:endParaRPr lang="en-US" sz="1530" dirty="0"/>
          </a:p>
        </p:txBody>
      </p:sp>
      <p:sp>
        <p:nvSpPr>
          <p:cNvPr id="6" name="Text 4"/>
          <p:cNvSpPr/>
          <p:nvPr/>
        </p:nvSpPr>
        <p:spPr>
          <a:xfrm>
            <a:off x="7524750" y="4104640"/>
            <a:ext cx="3276600" cy="1657350"/>
          </a:xfrm>
          <a:prstGeom prst="roundRect">
            <a:avLst>
              <a:gd name="adj" fmla="val 4598"/>
            </a:avLst>
          </a:prstGeom>
          <a:solidFill>
            <a:srgbClr val="FFFFFF"/>
          </a:solidFill>
          <a:ln w="19050">
            <a:solidFill>
              <a:srgbClr val="F8DEDC"/>
            </a:solidFill>
          </a:ln>
        </p:spPr>
        <p:txBody>
          <a:bodyPr wrap="square" lIns="171450" tIns="136995" rIns="114300" bIns="0" rtlCol="0" anchor="t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53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Unikaj inferSchema</a:t>
            </a:r>
            <a:endParaRPr lang="en-US" sz="1530" dirty="0"/>
          </a:p>
          <a:p>
            <a:pPr algn="l" indent="0" marL="0">
              <a:lnSpc>
                <a:spcPts val="1950"/>
              </a:lnSpc>
              <a:spcBef>
                <a:spcPts val="554"/>
              </a:spcBef>
              <a:buNone/>
            </a:pPr>
            <a:r>
              <a:rPr lang="en-US" sz="122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Spark czyta dane dwa razy i może źle zgadnąć. Zgadywane typy to dług techniczny, który po cichu psuje pipeline.</a:t>
            </a:r>
            <a:endParaRPr lang="en-US" sz="1530" dirty="0"/>
          </a:p>
        </p:txBody>
      </p:sp>
      <p:pic>
        <p:nvPicPr>
          <p:cNvPr id="7" name="Image 0" descr="assets/altko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240" y="6038850"/>
            <a:ext cx="637540" cy="2565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61000" y="6054281"/>
            <a:ext cx="508000" cy="1524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000000"/>
                </a:solidFill>
                <a:latin typeface="DM Sans"/>
                <a:ea typeface="DM Sans"/>
                <a:cs typeface="DM Sans"/>
              </a:defRPr>
            </a:lvl1pPr>
          </a:lstStyle>
          <a:p>
            <a:pPr algn="ct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2300" y="816801"/>
            <a:ext cx="10185400" cy="522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13"/>
              </a:lnSpc>
              <a:buNone/>
            </a:pPr>
            <a:r>
              <a:rPr lang="en-US" sz="305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Warstwa Silver, czyszczenie i typy</a:t>
            </a:r>
            <a:endParaRPr lang="en-US" sz="3050" dirty="0"/>
          </a:p>
        </p:txBody>
      </p:sp>
      <p:sp>
        <p:nvSpPr>
          <p:cNvPr id="3" name="Shape 1"/>
          <p:cNvSpPr/>
          <p:nvPr/>
        </p:nvSpPr>
        <p:spPr>
          <a:xfrm>
            <a:off x="619760" y="1915160"/>
            <a:ext cx="5019040" cy="19050"/>
          </a:xfrm>
          <a:prstGeom prst="rect">
            <a:avLst/>
          </a:prstGeom>
          <a:solidFill>
            <a:srgbClr val="F8DED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19760" y="1579347"/>
            <a:ext cx="5029200" cy="1534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22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01</a:t>
            </a:r>
            <a:endParaRPr lang="en-US" sz="1220" dirty="0"/>
          </a:p>
          <a:p>
            <a:pPr algn="l" indent="0" marL="0">
              <a:lnSpc>
                <a:spcPts val="1913"/>
              </a:lnSpc>
              <a:spcBef>
                <a:spcPts val="1393"/>
              </a:spcBef>
              <a:buNone/>
            </a:pPr>
            <a:r>
              <a:rPr lang="en-US" sz="153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Nadaj właściwe typy</a:t>
            </a:r>
            <a:endParaRPr lang="en-US" sz="1220" dirty="0"/>
          </a:p>
          <a:p>
            <a:pPr algn="l" indent="0" marL="0">
              <a:lnSpc>
                <a:spcPts val="2000"/>
              </a:lnSpc>
              <a:spcBef>
                <a:spcPts val="524"/>
              </a:spcBef>
              <a:buNone/>
            </a:pPr>
            <a:r>
              <a:rPr lang="en-US" sz="122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Zamień StringType na typy docelowe: </a:t>
            </a:r>
            <a:pPr algn="l" indent="0" marL="0">
              <a:lnSpc>
                <a:spcPts val="2000"/>
              </a:lnSpc>
              <a:spcBef>
                <a:spcPts val="524"/>
              </a:spcBef>
              <a:buNone/>
            </a:pPr>
            <a:r>
              <a:rPr lang="en-US" sz="1220" dirty="0">
                <a:solidFill>
                  <a:srgbClr val="000000"/>
                </a:solidFill>
                <a:highlight>
                  <a:srgbClr val="F2F2F2"/>
                </a:highlight>
                <a:latin typeface="Open Sans" pitchFamily="34" charset="0"/>
                <a:ea typeface="Open Sans" pitchFamily="34" charset="-122"/>
                <a:cs typeface="Open Sans" pitchFamily="34" charset="-120"/>
              </a:rPr>
              <a:t>TimestampType</a:t>
            </a:r>
            <a:pPr algn="l" indent="0" marL="0">
              <a:lnSpc>
                <a:spcPts val="2000"/>
              </a:lnSpc>
              <a:spcBef>
                <a:spcPts val="524"/>
              </a:spcBef>
              <a:buNone/>
            </a:pPr>
            <a:r>
              <a:rPr lang="en-US" sz="122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</a:t>
            </a:r>
            <a:pPr algn="l" indent="0" marL="0">
              <a:lnSpc>
                <a:spcPts val="2000"/>
              </a:lnSpc>
              <a:spcBef>
                <a:spcPts val="524"/>
              </a:spcBef>
              <a:buNone/>
            </a:pPr>
            <a:r>
              <a:rPr lang="en-US" sz="1220" dirty="0">
                <a:solidFill>
                  <a:srgbClr val="000000"/>
                </a:solidFill>
                <a:highlight>
                  <a:srgbClr val="F2F2F2"/>
                </a:highlight>
                <a:latin typeface="Open Sans" pitchFamily="34" charset="0"/>
                <a:ea typeface="Open Sans" pitchFamily="34" charset="-122"/>
                <a:cs typeface="Open Sans" pitchFamily="34" charset="-120"/>
              </a:rPr>
              <a:t>DoubleType</a:t>
            </a:r>
            <a:pPr algn="l" indent="0" marL="0">
              <a:lnSpc>
                <a:spcPts val="2000"/>
              </a:lnSpc>
              <a:spcBef>
                <a:spcPts val="524"/>
              </a:spcBef>
              <a:buNone/>
            </a:pPr>
            <a:r>
              <a:rPr lang="en-US" sz="122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</a:t>
            </a:r>
            <a:pPr algn="l" indent="0" marL="0">
              <a:lnSpc>
                <a:spcPts val="2000"/>
              </a:lnSpc>
              <a:spcBef>
                <a:spcPts val="524"/>
              </a:spcBef>
              <a:buNone/>
            </a:pPr>
            <a:r>
              <a:rPr lang="en-US" sz="1220" dirty="0">
                <a:solidFill>
                  <a:srgbClr val="000000"/>
                </a:solidFill>
                <a:highlight>
                  <a:srgbClr val="F2F2F2"/>
                </a:highlight>
                <a:latin typeface="Open Sans" pitchFamily="34" charset="0"/>
                <a:ea typeface="Open Sans" pitchFamily="34" charset="-122"/>
                <a:cs typeface="Open Sans" pitchFamily="34" charset="-120"/>
              </a:rPr>
              <a:t>IntegerType</a:t>
            </a:r>
            <a:pPr algn="l" indent="0" marL="0">
              <a:lnSpc>
                <a:spcPts val="2000"/>
              </a:lnSpc>
              <a:spcBef>
                <a:spcPts val="524"/>
              </a:spcBef>
              <a:buNone/>
            </a:pPr>
            <a:r>
              <a:rPr lang="en-US" sz="122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 Zawsze podawaj format: </a:t>
            </a:r>
            <a:pPr algn="l" indent="0" marL="0">
              <a:lnSpc>
                <a:spcPts val="2000"/>
              </a:lnSpc>
              <a:spcBef>
                <a:spcPts val="524"/>
              </a:spcBef>
              <a:buNone/>
            </a:pPr>
            <a:r>
              <a:rPr lang="en-US" sz="1220" dirty="0">
                <a:solidFill>
                  <a:srgbClr val="000000"/>
                </a:solidFill>
                <a:highlight>
                  <a:srgbClr val="F2F2F2"/>
                </a:highlight>
                <a:latin typeface="Open Sans" pitchFamily="34" charset="0"/>
                <a:ea typeface="Open Sans" pitchFamily="34" charset="-122"/>
                <a:cs typeface="Open Sans" pitchFamily="34" charset="-120"/>
              </a:rPr>
              <a:t>to_timestamp(col("order_datetime"), "yyyy-MM-dd'T'HH:mm:ss")</a:t>
            </a:r>
            <a:endParaRPr lang="en-US" sz="1220" dirty="0"/>
          </a:p>
        </p:txBody>
      </p:sp>
      <p:sp>
        <p:nvSpPr>
          <p:cNvPr id="5" name="Shape 3"/>
          <p:cNvSpPr/>
          <p:nvPr/>
        </p:nvSpPr>
        <p:spPr>
          <a:xfrm>
            <a:off x="5791200" y="1915160"/>
            <a:ext cx="5019040" cy="19050"/>
          </a:xfrm>
          <a:prstGeom prst="rect">
            <a:avLst/>
          </a:prstGeom>
          <a:solidFill>
            <a:srgbClr val="F8DED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791200" y="1579347"/>
            <a:ext cx="5029200" cy="1534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22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02</a:t>
            </a:r>
            <a:endParaRPr lang="en-US" sz="1220" dirty="0"/>
          </a:p>
          <a:p>
            <a:pPr algn="l" indent="0" marL="0">
              <a:lnSpc>
                <a:spcPts val="1913"/>
              </a:lnSpc>
              <a:spcBef>
                <a:spcPts val="1393"/>
              </a:spcBef>
              <a:buNone/>
            </a:pPr>
            <a:r>
              <a:rPr lang="en-US" sz="153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Dodaj kolumny wyliczane</a:t>
            </a:r>
            <a:endParaRPr lang="en-US" sz="1220" dirty="0"/>
          </a:p>
          <a:p>
            <a:pPr algn="l" indent="0" marL="0">
              <a:lnSpc>
                <a:spcPts val="2000"/>
              </a:lnSpc>
              <a:spcBef>
                <a:spcPts val="524"/>
              </a:spcBef>
              <a:buNone/>
            </a:pPr>
            <a:r>
              <a:rPr lang="en-US" sz="122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Dołóż kolumny istotne biznesowo: </a:t>
            </a:r>
            <a:pPr algn="l" indent="0" marL="0">
              <a:lnSpc>
                <a:spcPts val="2000"/>
              </a:lnSpc>
              <a:spcBef>
                <a:spcPts val="524"/>
              </a:spcBef>
              <a:buNone/>
            </a:pPr>
            <a:r>
              <a:rPr lang="en-US" sz="1220" dirty="0">
                <a:solidFill>
                  <a:srgbClr val="000000"/>
                </a:solidFill>
                <a:highlight>
                  <a:srgbClr val="F2F2F2"/>
                </a:highlight>
                <a:latin typeface="Open Sans" pitchFamily="34" charset="0"/>
                <a:ea typeface="Open Sans" pitchFamily="34" charset="-122"/>
                <a:cs typeface="Open Sans" pitchFamily="34" charset="-120"/>
              </a:rPr>
              <a:t>net_amount</a:t>
            </a:r>
            <a:pPr algn="l" indent="0" marL="0">
              <a:lnSpc>
                <a:spcPts val="2000"/>
              </a:lnSpc>
              <a:spcBef>
                <a:spcPts val="524"/>
              </a:spcBef>
              <a:buNone/>
            </a:pPr>
            <a:r>
              <a:rPr lang="en-US" sz="122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(kwota po rabacie), </a:t>
            </a:r>
            <a:pPr algn="l" indent="0" marL="0">
              <a:lnSpc>
                <a:spcPts val="2000"/>
              </a:lnSpc>
              <a:spcBef>
                <a:spcPts val="524"/>
              </a:spcBef>
              <a:buNone/>
            </a:pPr>
            <a:r>
              <a:rPr lang="en-US" sz="1220" dirty="0">
                <a:solidFill>
                  <a:srgbClr val="000000"/>
                </a:solidFill>
                <a:highlight>
                  <a:srgbClr val="F2F2F2"/>
                </a:highlight>
                <a:latin typeface="Open Sans" pitchFamily="34" charset="0"/>
                <a:ea typeface="Open Sans" pitchFamily="34" charset="-122"/>
                <a:cs typeface="Open Sans" pitchFamily="34" charset="-120"/>
              </a:rPr>
              <a:t>order_tier</a:t>
            </a:r>
            <a:pPr algn="l" indent="0" marL="0">
              <a:lnSpc>
                <a:spcPts val="2000"/>
              </a:lnSpc>
              <a:spcBef>
                <a:spcPts val="524"/>
              </a:spcBef>
              <a:buNone/>
            </a:pPr>
            <a:r>
              <a:rPr lang="en-US" sz="122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(segment wartości). To miejsce dla nich, nie Gold.</a:t>
            </a:r>
            <a:endParaRPr lang="en-US" sz="1220" dirty="0"/>
          </a:p>
        </p:txBody>
      </p:sp>
      <p:sp>
        <p:nvSpPr>
          <p:cNvPr id="7" name="Shape 5"/>
          <p:cNvSpPr/>
          <p:nvPr/>
        </p:nvSpPr>
        <p:spPr>
          <a:xfrm>
            <a:off x="619760" y="3647440"/>
            <a:ext cx="5019040" cy="19050"/>
          </a:xfrm>
          <a:prstGeom prst="rect">
            <a:avLst/>
          </a:prstGeom>
          <a:solidFill>
            <a:srgbClr val="F8DED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19760" y="3331947"/>
            <a:ext cx="5029200" cy="126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22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03</a:t>
            </a:r>
            <a:endParaRPr lang="en-US" sz="1220" dirty="0"/>
          </a:p>
          <a:p>
            <a:pPr algn="l" indent="0" marL="0">
              <a:lnSpc>
                <a:spcPts val="1913"/>
              </a:lnSpc>
              <a:spcBef>
                <a:spcPts val="1193"/>
              </a:spcBef>
              <a:buNone/>
            </a:pPr>
            <a:r>
              <a:rPr lang="en-US" sz="153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Odfiltruj błędne wiersze</a:t>
            </a:r>
            <a:endParaRPr lang="en-US" sz="1220" dirty="0"/>
          </a:p>
          <a:p>
            <a:pPr algn="l" indent="0" marL="0">
              <a:lnSpc>
                <a:spcPts val="2000"/>
              </a:lnSpc>
              <a:spcBef>
                <a:spcPts val="574"/>
              </a:spcBef>
              <a:buNone/>
            </a:pPr>
            <a:r>
              <a:rPr lang="en-US" sz="122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Usuń wiersze z nullami w kluczach. Silver to obietnica jakości, dalszy kod nie powinien bronić się przed nullami.</a:t>
            </a:r>
            <a:endParaRPr lang="en-US" sz="1220" dirty="0"/>
          </a:p>
        </p:txBody>
      </p:sp>
      <p:sp>
        <p:nvSpPr>
          <p:cNvPr id="9" name="Shape 7"/>
          <p:cNvSpPr/>
          <p:nvPr/>
        </p:nvSpPr>
        <p:spPr>
          <a:xfrm>
            <a:off x="5791200" y="3647440"/>
            <a:ext cx="5019040" cy="19050"/>
          </a:xfrm>
          <a:prstGeom prst="rect">
            <a:avLst/>
          </a:prstGeom>
          <a:solidFill>
            <a:srgbClr val="F8DED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791200" y="3331947"/>
            <a:ext cx="5029200" cy="126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22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04</a:t>
            </a:r>
            <a:endParaRPr lang="en-US" sz="1220" dirty="0"/>
          </a:p>
          <a:p>
            <a:pPr algn="l" indent="0" marL="0">
              <a:lnSpc>
                <a:spcPts val="1913"/>
              </a:lnSpc>
              <a:spcBef>
                <a:spcPts val="1193"/>
              </a:spcBef>
              <a:buNone/>
            </a:pPr>
            <a:r>
              <a:rPr lang="en-US" sz="153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Usuń metadane techniczne</a:t>
            </a:r>
            <a:endParaRPr lang="en-US" sz="1220" dirty="0"/>
          </a:p>
          <a:p>
            <a:pPr algn="l" indent="0" marL="0">
              <a:lnSpc>
                <a:spcPts val="2000"/>
              </a:lnSpc>
              <a:spcBef>
                <a:spcPts val="574"/>
              </a:spcBef>
              <a:buNone/>
            </a:pPr>
            <a:r>
              <a:rPr lang="en-US" sz="122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Wyrzuć kolumny w rodzaju </a:t>
            </a:r>
            <a:pPr algn="l" indent="0" marL="0">
              <a:lnSpc>
                <a:spcPts val="2000"/>
              </a:lnSpc>
              <a:spcBef>
                <a:spcPts val="574"/>
              </a:spcBef>
              <a:buNone/>
            </a:pPr>
            <a:r>
              <a:rPr lang="en-US" sz="1220" dirty="0">
                <a:solidFill>
                  <a:srgbClr val="000000"/>
                </a:solidFill>
                <a:highlight>
                  <a:srgbClr val="F2F2F2"/>
                </a:highlight>
                <a:latin typeface="Open Sans" pitchFamily="34" charset="0"/>
                <a:ea typeface="Open Sans" pitchFamily="34" charset="-122"/>
                <a:cs typeface="Open Sans" pitchFamily="34" charset="-120"/>
              </a:rPr>
              <a:t>_source_file</a:t>
            </a:r>
            <a:pPr algn="l" indent="0" marL="0">
              <a:lnSpc>
                <a:spcPts val="2000"/>
              </a:lnSpc>
              <a:spcBef>
                <a:spcPts val="574"/>
              </a:spcBef>
              <a:buNone/>
            </a:pPr>
            <a:r>
              <a:rPr lang="en-US" sz="122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potrzebne w Bronze, ale zbędne dalej. Silver ma być czysty i biznesowy.</a:t>
            </a:r>
            <a:endParaRPr lang="en-US" sz="1220" dirty="0"/>
          </a:p>
        </p:txBody>
      </p:sp>
      <p:sp>
        <p:nvSpPr>
          <p:cNvPr id="11" name="Text 9"/>
          <p:cNvSpPr/>
          <p:nvPr/>
        </p:nvSpPr>
        <p:spPr>
          <a:xfrm>
            <a:off x="619760" y="4895850"/>
            <a:ext cx="10191750" cy="666750"/>
          </a:xfrm>
          <a:prstGeom prst="roundRect">
            <a:avLst>
              <a:gd name="adj" fmla="val 11429"/>
            </a:avLst>
          </a:prstGeom>
          <a:solidFill>
            <a:srgbClr val="F2C1BF"/>
          </a:solidFill>
          <a:ln/>
        </p:spPr>
        <p:txBody>
          <a:bodyPr wrap="square" lIns="497840" tIns="154407" rIns="15240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22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Tryb zapisu: </a:t>
            </a:r>
            <a:pPr algn="l" indent="0" marL="0">
              <a:lnSpc>
                <a:spcPts val="1950"/>
              </a:lnSpc>
              <a:buNone/>
            </a:pPr>
            <a:r>
              <a:rPr lang="en-US" sz="1220" dirty="0">
                <a:solidFill>
                  <a:srgbClr val="000000"/>
                </a:solidFill>
                <a:highlight>
                  <a:srgbClr val="F2F2F2"/>
                </a:highlight>
                <a:latin typeface="Open Sans" pitchFamily="34" charset="0"/>
                <a:ea typeface="Open Sans" pitchFamily="34" charset="-122"/>
                <a:cs typeface="Open Sans" pitchFamily="34" charset="-120"/>
              </a:rPr>
              <a:t>mode("overwrite")</a:t>
            </a:r>
            <a:pPr algn="l" indent="0" marL="0">
              <a:lnSpc>
                <a:spcPts val="1950"/>
              </a:lnSpc>
              <a:buNone/>
            </a:pPr>
            <a:r>
              <a:rPr lang="en-US" sz="122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plus </a:t>
            </a:r>
            <a:pPr algn="l" indent="0" marL="0">
              <a:lnSpc>
                <a:spcPts val="1950"/>
              </a:lnSpc>
              <a:buNone/>
            </a:pPr>
            <a:r>
              <a:rPr lang="en-US" sz="1220" dirty="0">
                <a:solidFill>
                  <a:srgbClr val="000000"/>
                </a:solidFill>
                <a:highlight>
                  <a:srgbClr val="F2F2F2"/>
                </a:highlight>
                <a:latin typeface="Open Sans" pitchFamily="34" charset="0"/>
                <a:ea typeface="Open Sans" pitchFamily="34" charset="-122"/>
                <a:cs typeface="Open Sans" pitchFamily="34" charset="-120"/>
              </a:rPr>
              <a:t>option("overwriteSchema", "true")</a:t>
            </a:r>
            <a:pPr algn="l" indent="0" marL="0">
              <a:lnSpc>
                <a:spcPts val="1950"/>
              </a:lnSpc>
              <a:buNone/>
            </a:pPr>
            <a:r>
              <a:rPr lang="en-US" sz="122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gdy zmiana schematu jest zamierzona.</a:t>
            </a:r>
            <a:endParaRPr lang="en-US" sz="1220" dirty="0"/>
          </a:p>
        </p:txBody>
      </p:sp>
      <p:pic>
        <p:nvPicPr>
          <p:cNvPr id="12" name="Image 0" descr="assets/icon_p32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0" y="5096510"/>
            <a:ext cx="173990" cy="172720"/>
          </a:xfrm>
          <a:prstGeom prst="rect">
            <a:avLst/>
          </a:prstGeom>
        </p:spPr>
      </p:pic>
      <p:pic>
        <p:nvPicPr>
          <p:cNvPr id="13" name="Image 1" descr="assets/altkom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240" y="6038850"/>
            <a:ext cx="637540" cy="2565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61000" y="6054281"/>
            <a:ext cx="508000" cy="1524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000000"/>
                </a:solidFill>
                <a:latin typeface="DM Sans"/>
                <a:ea typeface="DM Sans"/>
                <a:cs typeface="DM Sans"/>
              </a:defRPr>
            </a:lvl1pPr>
          </a:lstStyle>
          <a:p>
            <a:pPr algn="ct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2300" y="651701"/>
            <a:ext cx="10185400" cy="522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13"/>
              </a:lnSpc>
              <a:buNone/>
            </a:pPr>
            <a:r>
              <a:rPr lang="en-US" sz="305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Jakość danych: constraints i expectations</a:t>
            </a:r>
            <a:endParaRPr lang="en-US" sz="3050" dirty="0"/>
          </a:p>
        </p:txBody>
      </p:sp>
      <p:sp>
        <p:nvSpPr>
          <p:cNvPr id="3" name="Text 1"/>
          <p:cNvSpPr txBox="1"/>
          <p:nvPr/>
        </p:nvSpPr>
        <p:spPr>
          <a:xfrm>
            <a:off x="622300" y="1379957"/>
            <a:ext cx="101854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22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Silver obiecuje jakość, więc obietnicę trzeba egzekwować w kodzie, a nie na wiki:</a:t>
            </a:r>
            <a:endParaRPr lang="en-US" sz="1220" dirty="0"/>
          </a:p>
        </p:txBody>
      </p:sp>
      <p:sp>
        <p:nvSpPr>
          <p:cNvPr id="4" name="Text 2"/>
          <p:cNvSpPr/>
          <p:nvPr/>
        </p:nvSpPr>
        <p:spPr>
          <a:xfrm>
            <a:off x="619760" y="1905000"/>
            <a:ext cx="5133340" cy="1651000"/>
          </a:xfrm>
          <a:prstGeom prst="roundRect">
            <a:avLst>
              <a:gd name="adj" fmla="val 4615"/>
            </a:avLst>
          </a:prstGeom>
          <a:solidFill>
            <a:srgbClr val="F2F2F2"/>
          </a:solidFill>
          <a:ln/>
        </p:spPr>
        <p:txBody>
          <a:bodyPr wrap="square" lIns="142240" tIns="95555" rIns="76200" bIns="0" rtlCol="0" anchor="t"/>
          <a:lstStyle/>
          <a:p>
            <a:pPr algn="l" indent="0" marL="0">
              <a:lnSpc>
                <a:spcPts val="1810"/>
              </a:lnSpc>
              <a:buNone/>
            </a:pPr>
            <a:r>
              <a:rPr lang="en-US" sz="116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-- Constraint na tabeli: zły zapis się nie uda</a:t>
            </a:r>
            <a:endParaRPr lang="en-US" sz="1160" dirty="0"/>
          </a:p>
          <a:p>
            <a:pPr algn="l" indent="0" marL="0">
              <a:lnSpc>
                <a:spcPts val="1810"/>
              </a:lnSpc>
              <a:buNone/>
            </a:pPr>
            <a:r>
              <a:rPr lang="en-US" sz="116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ALTER TABLE silver.orders</a:t>
            </a:r>
            <a:endParaRPr lang="en-US" sz="1160" dirty="0"/>
          </a:p>
          <a:p>
            <a:pPr algn="l" indent="0" marL="0">
              <a:lnSpc>
                <a:spcPts val="1810"/>
              </a:lnSpc>
              <a:buNone/>
            </a:pPr>
            <a:r>
              <a:rPr lang="en-US" sz="116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ADD CONSTRAINT positive_amount</a:t>
            </a:r>
            <a:endParaRPr lang="en-US" sz="1160" dirty="0"/>
          </a:p>
          <a:p>
            <a:pPr algn="l" indent="0" marL="0">
              <a:lnSpc>
                <a:spcPts val="1810"/>
              </a:lnSpc>
              <a:buNone/>
            </a:pPr>
            <a:r>
              <a:rPr lang="en-US" sz="116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CHECK (net_amount &gt;= 0);</a:t>
            </a:r>
            <a:endParaRPr lang="en-US" sz="1160" dirty="0"/>
          </a:p>
        </p:txBody>
      </p:sp>
      <p:sp>
        <p:nvSpPr>
          <p:cNvPr id="5" name="Text 3"/>
          <p:cNvSpPr/>
          <p:nvPr/>
        </p:nvSpPr>
        <p:spPr>
          <a:xfrm>
            <a:off x="5922010" y="1905000"/>
            <a:ext cx="4889500" cy="1651000"/>
          </a:xfrm>
          <a:prstGeom prst="roundRect">
            <a:avLst>
              <a:gd name="adj" fmla="val 4615"/>
            </a:avLst>
          </a:prstGeom>
          <a:solidFill>
            <a:srgbClr val="F2F2F2"/>
          </a:solidFill>
          <a:ln/>
        </p:spPr>
        <p:txBody>
          <a:bodyPr wrap="square" lIns="142240" tIns="95555" rIns="76200" bIns="0" rtlCol="0" anchor="t"/>
          <a:lstStyle/>
          <a:p>
            <a:pPr algn="l" indent="0" marL="0">
              <a:lnSpc>
                <a:spcPts val="1810"/>
              </a:lnSpc>
              <a:buNone/>
            </a:pPr>
            <a:r>
              <a:rPr lang="en-US" sz="116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# Expectation w pipeline: warn, drop albo fail</a:t>
            </a:r>
            <a:endParaRPr lang="en-US" sz="1160" dirty="0"/>
          </a:p>
          <a:p>
            <a:pPr algn="l" indent="0" marL="0">
              <a:lnSpc>
                <a:spcPts val="1810"/>
              </a:lnSpc>
              <a:buNone/>
            </a:pPr>
            <a:r>
              <a:rPr lang="en-US" sz="116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@dp.expect_or_drop(</a:t>
            </a:r>
            <a:endParaRPr lang="en-US" sz="1160" dirty="0"/>
          </a:p>
          <a:p>
            <a:pPr algn="l" indent="0" marL="0">
              <a:lnSpc>
                <a:spcPts val="1810"/>
              </a:lnSpc>
              <a:buNone/>
            </a:pPr>
            <a:r>
              <a:rPr lang="en-US" sz="116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 "valid_order_id", "order_id IS NOT NULL")</a:t>
            </a:r>
            <a:endParaRPr lang="en-US" sz="1160" dirty="0"/>
          </a:p>
          <a:p>
            <a:pPr algn="l" indent="0" marL="0">
              <a:lnSpc>
                <a:spcPts val="1810"/>
              </a:lnSpc>
              <a:buNone/>
            </a:pPr>
            <a:r>
              <a:rPr lang="en-US" sz="116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def silver_orders(): ...</a:t>
            </a:r>
            <a:endParaRPr lang="en-US" sz="1160" dirty="0"/>
          </a:p>
        </p:txBody>
      </p:sp>
      <p:sp>
        <p:nvSpPr>
          <p:cNvPr id="6" name="Text 4"/>
          <p:cNvSpPr/>
          <p:nvPr/>
        </p:nvSpPr>
        <p:spPr>
          <a:xfrm>
            <a:off x="619760" y="3810000"/>
            <a:ext cx="3295650" cy="1422400"/>
          </a:xfrm>
          <a:prstGeom prst="roundRect">
            <a:avLst>
              <a:gd name="adj" fmla="val 5357"/>
            </a:avLst>
          </a:prstGeom>
          <a:solidFill>
            <a:srgbClr val="F8DEDC"/>
          </a:solidFill>
          <a:ln/>
        </p:spPr>
        <p:txBody>
          <a:bodyPr wrap="square" lIns="154940" tIns="133185" rIns="76200" bIns="0" rtlCol="0" anchor="t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53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Warn</a:t>
            </a:r>
            <a:endParaRPr lang="en-US" sz="1530" dirty="0"/>
          </a:p>
          <a:p>
            <a:pPr algn="l" indent="0" marL="0">
              <a:lnSpc>
                <a:spcPts val="1950"/>
              </a:lnSpc>
              <a:spcBef>
                <a:spcPts val="504"/>
              </a:spcBef>
              <a:buNone/>
            </a:pPr>
            <a:r>
              <a:rPr lang="en-US" sz="122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Wiersz trafia do tabeli, a naruszenie ląduje w metrykach pipeline. Dobre przy obserwacji nowego źródła.</a:t>
            </a:r>
            <a:endParaRPr lang="en-US" sz="1530" dirty="0"/>
          </a:p>
        </p:txBody>
      </p:sp>
      <p:sp>
        <p:nvSpPr>
          <p:cNvPr id="7" name="Text 5"/>
          <p:cNvSpPr/>
          <p:nvPr/>
        </p:nvSpPr>
        <p:spPr>
          <a:xfrm>
            <a:off x="4066540" y="3810000"/>
            <a:ext cx="3295650" cy="1422400"/>
          </a:xfrm>
          <a:prstGeom prst="roundRect">
            <a:avLst>
              <a:gd name="adj" fmla="val 5357"/>
            </a:avLst>
          </a:prstGeom>
          <a:solidFill>
            <a:srgbClr val="F8DEDC"/>
          </a:solidFill>
          <a:ln/>
        </p:spPr>
        <p:txBody>
          <a:bodyPr wrap="square" lIns="154940" tIns="133185" rIns="76200" bIns="0" rtlCol="0" anchor="t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53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Drop</a:t>
            </a:r>
            <a:endParaRPr lang="en-US" sz="1530" dirty="0"/>
          </a:p>
          <a:p>
            <a:pPr algn="l" indent="0" marL="0">
              <a:lnSpc>
                <a:spcPts val="1950"/>
              </a:lnSpc>
              <a:spcBef>
                <a:spcPts val="504"/>
              </a:spcBef>
              <a:buNone/>
            </a:pPr>
            <a:r>
              <a:rPr lang="en-US" sz="122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Wiersz jest odrzucany i zliczany. Tabela zostaje czysta, a bieg trwa dalej.</a:t>
            </a:r>
            <a:endParaRPr lang="en-US" sz="1530" dirty="0"/>
          </a:p>
        </p:txBody>
      </p:sp>
      <p:sp>
        <p:nvSpPr>
          <p:cNvPr id="8" name="Text 6"/>
          <p:cNvSpPr/>
          <p:nvPr/>
        </p:nvSpPr>
        <p:spPr>
          <a:xfrm>
            <a:off x="7515860" y="3810000"/>
            <a:ext cx="3295650" cy="1422400"/>
          </a:xfrm>
          <a:prstGeom prst="roundRect">
            <a:avLst>
              <a:gd name="adj" fmla="val 5357"/>
            </a:avLst>
          </a:prstGeom>
          <a:solidFill>
            <a:srgbClr val="F8DEDC"/>
          </a:solidFill>
          <a:ln/>
        </p:spPr>
        <p:txBody>
          <a:bodyPr wrap="square" lIns="154940" tIns="133185" rIns="76200" bIns="0" rtlCol="0" anchor="t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53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Fail</a:t>
            </a:r>
            <a:endParaRPr lang="en-US" sz="1530" dirty="0"/>
          </a:p>
          <a:p>
            <a:pPr algn="l" indent="0" marL="0">
              <a:lnSpc>
                <a:spcPts val="1950"/>
              </a:lnSpc>
              <a:spcBef>
                <a:spcPts val="504"/>
              </a:spcBef>
              <a:buNone/>
            </a:pPr>
            <a:r>
              <a:rPr lang="en-US" sz="122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Bieg zatrzymuje się od razu. Zostaw to dla reguł, których złamać nie wolno, jak brak klucza głównego.</a:t>
            </a:r>
            <a:endParaRPr lang="en-US" sz="1530" dirty="0"/>
          </a:p>
        </p:txBody>
      </p:sp>
      <p:sp>
        <p:nvSpPr>
          <p:cNvPr id="9" name="Text 7"/>
          <p:cNvSpPr txBox="1"/>
          <p:nvPr/>
        </p:nvSpPr>
        <p:spPr>
          <a:xfrm>
            <a:off x="622300" y="5426583"/>
            <a:ext cx="10185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Constraints chronią tabelę, expectations chronią pipeline. Jedno i drugie daje liczby, które wrzucisz na dashboard.</a:t>
            </a:r>
            <a:endParaRPr lang="en-US" sz="1100" dirty="0"/>
          </a:p>
        </p:txBody>
      </p:sp>
      <p:pic>
        <p:nvPicPr>
          <p:cNvPr id="10" name="Image 0" descr="assets/altko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240" y="6038850"/>
            <a:ext cx="637540" cy="2565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61000" y="6054281"/>
            <a:ext cx="508000" cy="1524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000000"/>
                </a:solidFill>
                <a:latin typeface="DM Sans"/>
                <a:ea typeface="DM Sans"/>
                <a:cs typeface="DM Sans"/>
              </a:defRPr>
            </a:lvl1pPr>
          </a:lstStyle>
          <a:p>
            <a:pPr algn="ct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2300" y="677101"/>
            <a:ext cx="10236200" cy="522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13"/>
              </a:lnSpc>
              <a:buNone/>
            </a:pPr>
            <a:r>
              <a:rPr lang="en-US" sz="305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Najczęstsze transformacje PySpark, ściąga</a:t>
            </a:r>
            <a:endParaRPr lang="en-US" sz="3050" dirty="0"/>
          </a:p>
        </p:txBody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8650" y="1543050"/>
          <a:ext cx="8572500" cy="914400"/>
        </p:xfrm>
        <a:graphic>
          <a:graphicData uri="http://schemas.openxmlformats.org/drawingml/2006/table">
            <a:tbl>
              <a:tblPr/>
              <a:tblGrid>
                <a:gridCol w="3562350"/>
                <a:gridCol w="6610350"/>
              </a:tblGrid>
              <a:tr h="447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20" b="1" dirty="0">
                          <a:solidFill>
                            <a:srgbClr val="000000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Operacja</a:t>
                      </a:r>
                      <a:endParaRPr lang="en-US" sz="1200" dirty="0"/>
                    </a:p>
                  </a:txBody>
                  <a:tcPr marL="158750" marR="76200" marT="25400" marB="25400"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20" b="1" dirty="0">
                          <a:solidFill>
                            <a:srgbClr val="000000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Kod</a:t>
                      </a:r>
                      <a:endParaRPr lang="en-US" sz="1200" dirty="0"/>
                    </a:p>
                  </a:txBody>
                  <a:tcPr marL="15875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20" dirty="0">
                          <a:solidFill>
                            <a:srgbClr val="000000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Rzutowanie typu</a:t>
                      </a:r>
                      <a:endParaRPr lang="en-US" sz="1200" dirty="0"/>
                    </a:p>
                  </a:txBody>
                  <a:tcPr marL="158750" marR="76200" marT="25400" marB="25400"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20" dirty="0">
                          <a:solidFill>
                            <a:srgbClr val="000000"/>
                          </a:solidFill>
                          <a:highlight>
                            <a:srgbClr val="F2F2F2"/>
                          </a:highlight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col("x").cast(DoubleType())</a:t>
                      </a:r>
                      <a:endParaRPr lang="en-US" sz="1200" dirty="0"/>
                    </a:p>
                  </a:txBody>
                  <a:tcPr marL="15875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20" dirty="0">
                          <a:solidFill>
                            <a:srgbClr val="000000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Parsowanie daty</a:t>
                      </a:r>
                      <a:endParaRPr lang="en-US" sz="1200" dirty="0"/>
                    </a:p>
                  </a:txBody>
                  <a:tcPr marL="158750" marR="76200" marT="25400" marB="25400"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20" dirty="0">
                          <a:solidFill>
                            <a:srgbClr val="000000"/>
                          </a:solidFill>
                          <a:highlight>
                            <a:srgbClr val="F2F2F2"/>
                          </a:highlight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to_timestamp(col("x"), "yyyy-MM-dd'T'HH:mm:ss")</a:t>
                      </a:r>
                      <a:endParaRPr lang="en-US" sz="1200" dirty="0"/>
                    </a:p>
                  </a:txBody>
                  <a:tcPr marL="15875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20" dirty="0">
                          <a:solidFill>
                            <a:srgbClr val="000000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Wartość warunkowa</a:t>
                      </a:r>
                      <a:endParaRPr lang="en-US" sz="1200" dirty="0"/>
                    </a:p>
                  </a:txBody>
                  <a:tcPr marL="158750" marR="76200" marT="25400" marB="25400"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20" dirty="0">
                          <a:solidFill>
                            <a:srgbClr val="000000"/>
                          </a:solidFill>
                          <a:highlight>
                            <a:srgbClr val="F2F2F2"/>
                          </a:highlight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when(condition, value).otherwise(other)</a:t>
                      </a:r>
                      <a:endParaRPr lang="en-US" sz="1200" dirty="0"/>
                    </a:p>
                  </a:txBody>
                  <a:tcPr marL="15875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20" dirty="0">
                          <a:solidFill>
                            <a:srgbClr val="000000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Zaokrąglenie</a:t>
                      </a:r>
                      <a:endParaRPr lang="en-US" sz="1200" dirty="0"/>
                    </a:p>
                  </a:txBody>
                  <a:tcPr marL="158750" marR="76200" marT="25400" marB="25400"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20" dirty="0">
                          <a:solidFill>
                            <a:srgbClr val="000000"/>
                          </a:solidFill>
                          <a:highlight>
                            <a:srgbClr val="F2F2F2"/>
                          </a:highlight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round(col("x"), 2)</a:t>
                      </a:r>
                      <a:endParaRPr lang="en-US" sz="1200" dirty="0"/>
                    </a:p>
                  </a:txBody>
                  <a:tcPr marL="15875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20" dirty="0">
                          <a:solidFill>
                            <a:srgbClr val="000000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Stała</a:t>
                      </a:r>
                      <a:endParaRPr lang="en-US" sz="1200" dirty="0"/>
                    </a:p>
                  </a:txBody>
                  <a:tcPr marL="158750" marR="76200" marT="25400" marB="25400"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20" dirty="0">
                          <a:solidFill>
                            <a:srgbClr val="000000"/>
                          </a:solidFill>
                          <a:highlight>
                            <a:srgbClr val="F2F2F2"/>
                          </a:highlight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lit(0)</a:t>
                      </a:r>
                      <a:endParaRPr lang="en-US" sz="1200" dirty="0"/>
                    </a:p>
                  </a:txBody>
                  <a:tcPr marL="15875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20" dirty="0">
                          <a:solidFill>
                            <a:srgbClr val="000000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Wyciągnięcie daty</a:t>
                      </a:r>
                      <a:endParaRPr lang="en-US" sz="1200" dirty="0"/>
                    </a:p>
                  </a:txBody>
                  <a:tcPr marL="158750" marR="76200" marT="25400" marB="25400"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20" dirty="0">
                          <a:solidFill>
                            <a:srgbClr val="000000"/>
                          </a:solidFill>
                          <a:highlight>
                            <a:srgbClr val="F2F2F2"/>
                          </a:highlight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to_date(col("ts"))</a:t>
                      </a:r>
                      <a:endParaRPr lang="en-US" sz="1200" dirty="0"/>
                    </a:p>
                  </a:txBody>
                  <a:tcPr marL="15875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20" dirty="0">
                          <a:solidFill>
                            <a:srgbClr val="000000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Filtr nulli</a:t>
                      </a:r>
                      <a:endParaRPr lang="en-US" sz="1200" dirty="0"/>
                    </a:p>
                  </a:txBody>
                  <a:tcPr marL="158750" marR="76200" marT="25400" marB="25400"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20" dirty="0">
                          <a:solidFill>
                            <a:srgbClr val="000000"/>
                          </a:solidFill>
                          <a:highlight>
                            <a:srgbClr val="F2F2F2"/>
                          </a:highlight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col("x").isNotNull()</a:t>
                      </a:r>
                      <a:endParaRPr lang="en-US" sz="1200" dirty="0"/>
                    </a:p>
                  </a:txBody>
                  <a:tcPr marL="15875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20" dirty="0">
                          <a:solidFill>
                            <a:srgbClr val="000000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Usunięcie kolumny</a:t>
                      </a:r>
                      <a:endParaRPr lang="en-US" sz="1200" dirty="0"/>
                    </a:p>
                  </a:txBody>
                  <a:tcPr marL="158750" marR="76200" marT="25400" marB="25400"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20" dirty="0">
                          <a:solidFill>
                            <a:srgbClr val="000000"/>
                          </a:solidFill>
                          <a:highlight>
                            <a:srgbClr val="F2F2F2"/>
                          </a:highlight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.drop("col_name")</a:t>
                      </a:r>
                      <a:endParaRPr lang="en-US" sz="1200" dirty="0"/>
                    </a:p>
                  </a:txBody>
                  <a:tcPr marL="15875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623570" y="1537970"/>
            <a:ext cx="10182860" cy="4165600"/>
          </a:xfrm>
          <a:prstGeom prst="roundRect">
            <a:avLst>
              <a:gd name="adj" fmla="val 1220"/>
            </a:avLst>
          </a:prstGeom>
          <a:ln w="9525">
            <a:solidFill>
              <a:srgbClr val="E6E6E6"/>
            </a:solidFill>
            <a:prstDash val="solid"/>
          </a:ln>
        </p:spPr>
      </p:sp>
      <p:pic>
        <p:nvPicPr>
          <p:cNvPr id="5" name="Image 0" descr="assets/altko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240" y="6038850"/>
            <a:ext cx="637540" cy="2565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61000" y="6054281"/>
            <a:ext cx="508000" cy="1524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000000"/>
                </a:solidFill>
                <a:latin typeface="DM Sans"/>
                <a:ea typeface="DM Sans"/>
                <a:cs typeface="DM Sans"/>
              </a:defRPr>
            </a:lvl1pPr>
          </a:lstStyle>
          <a:p>
            <a:pPr algn="ct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2300" y="918401"/>
            <a:ext cx="10185400" cy="522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13"/>
              </a:lnSpc>
              <a:buNone/>
            </a:pPr>
            <a:r>
              <a:rPr lang="en-US" sz="305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Warstwa Gold, agregaty biznesowe</a:t>
            </a:r>
            <a:endParaRPr lang="en-US" sz="3050" dirty="0"/>
          </a:p>
        </p:txBody>
      </p:sp>
      <p:sp>
        <p:nvSpPr>
          <p:cNvPr id="3" name="Text 1"/>
          <p:cNvSpPr txBox="1"/>
          <p:nvPr/>
        </p:nvSpPr>
        <p:spPr>
          <a:xfrm>
            <a:off x="622300" y="1822285"/>
            <a:ext cx="4978400" cy="22183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53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Jeden wiersz = jeden wymiar biznesowy</a:t>
            </a:r>
            <a:endParaRPr lang="en-US" sz="1530" dirty="0"/>
          </a:p>
          <a:p>
            <a:pPr algn="l" indent="0" marL="0">
              <a:lnSpc>
                <a:spcPts val="1950"/>
              </a:lnSpc>
              <a:spcBef>
                <a:spcPts val="1004"/>
              </a:spcBef>
              <a:buNone/>
            </a:pPr>
            <a:r>
              <a:rPr lang="en-US" sz="122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Tabele Gold są do bezpośredniego użycia. Jeden wiersz to komplet danych dla jednego dnia, kategorii albo regionu, a nie pojedyncza transakcja.</a:t>
            </a:r>
            <a:endParaRPr lang="en-US" sz="1530" dirty="0"/>
          </a:p>
          <a:p>
            <a:pPr algn="l" indent="0" marL="0">
              <a:lnSpc>
                <a:spcPts val="1913"/>
              </a:lnSpc>
              <a:spcBef>
                <a:spcPts val="1433"/>
              </a:spcBef>
              <a:buNone/>
            </a:pPr>
            <a:r>
              <a:rPr lang="en-US" sz="153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Zawsze przeliczane z Silver</a:t>
            </a:r>
            <a:endParaRPr lang="en-US" sz="1530" dirty="0"/>
          </a:p>
          <a:p>
            <a:pPr algn="l" indent="0" marL="0">
              <a:lnSpc>
                <a:spcPts val="2000"/>
              </a:lnSpc>
              <a:spcBef>
                <a:spcPts val="1054"/>
              </a:spcBef>
              <a:buNone/>
            </a:pPr>
            <a:r>
              <a:rPr lang="en-US" sz="122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 Gold używaj </a:t>
            </a:r>
            <a:pPr algn="l" indent="0" marL="0">
              <a:lnSpc>
                <a:spcPts val="2000"/>
              </a:lnSpc>
              <a:spcBef>
                <a:spcPts val="1054"/>
              </a:spcBef>
              <a:buNone/>
            </a:pPr>
            <a:r>
              <a:rPr lang="en-US" sz="1220" dirty="0">
                <a:solidFill>
                  <a:srgbClr val="000000"/>
                </a:solidFill>
                <a:highlight>
                  <a:srgbClr val="F2F2F2"/>
                </a:highlight>
                <a:latin typeface="Open Sans" pitchFamily="34" charset="0"/>
                <a:ea typeface="Open Sans" pitchFamily="34" charset="-122"/>
                <a:cs typeface="Open Sans" pitchFamily="34" charset="-120"/>
              </a:rPr>
              <a:t>mode("overwrite")</a:t>
            </a:r>
            <a:pPr algn="l" indent="0" marL="0">
              <a:lnSpc>
                <a:spcPts val="2000"/>
              </a:lnSpc>
              <a:spcBef>
                <a:spcPts val="1054"/>
              </a:spcBef>
              <a:buNone/>
            </a:pPr>
            <a:r>
              <a:rPr lang="en-US" sz="122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bez </a:t>
            </a:r>
            <a:pPr algn="l" indent="0" marL="0">
              <a:lnSpc>
                <a:spcPts val="2000"/>
              </a:lnSpc>
              <a:spcBef>
                <a:spcPts val="1054"/>
              </a:spcBef>
              <a:buNone/>
            </a:pPr>
            <a:r>
              <a:rPr lang="en-US" sz="1220" dirty="0">
                <a:solidFill>
                  <a:srgbClr val="000000"/>
                </a:solidFill>
                <a:highlight>
                  <a:srgbClr val="F2F2F2"/>
                </a:highlight>
                <a:latin typeface="Open Sans" pitchFamily="34" charset="0"/>
                <a:ea typeface="Open Sans" pitchFamily="34" charset="-122"/>
                <a:cs typeface="Open Sans" pitchFamily="34" charset="-120"/>
              </a:rPr>
              <a:t>overwriteSchema</a:t>
            </a:r>
            <a:pPr algn="l" indent="0" marL="0">
              <a:lnSpc>
                <a:spcPts val="2000"/>
              </a:lnSpc>
              <a:spcBef>
                <a:spcPts val="1054"/>
              </a:spcBef>
              <a:buNone/>
            </a:pPr>
            <a:r>
              <a:rPr lang="en-US" sz="122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 Schemat musi być stabilny między biegami, bo zależą od niego raporty.</a:t>
            </a:r>
            <a:endParaRPr lang="en-US" sz="1530" dirty="0"/>
          </a:p>
        </p:txBody>
      </p:sp>
      <p:sp>
        <p:nvSpPr>
          <p:cNvPr id="4" name="Text 2"/>
          <p:cNvSpPr txBox="1"/>
          <p:nvPr/>
        </p:nvSpPr>
        <p:spPr>
          <a:xfrm>
            <a:off x="5922010" y="1822285"/>
            <a:ext cx="4902200" cy="2810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53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Typowy wzorzec agregacji</a:t>
            </a:r>
            <a:endParaRPr lang="en-US" sz="1530" dirty="0"/>
          </a:p>
        </p:txBody>
      </p:sp>
      <p:sp>
        <p:nvSpPr>
          <p:cNvPr id="5" name="Text 3"/>
          <p:cNvSpPr/>
          <p:nvPr/>
        </p:nvSpPr>
        <p:spPr>
          <a:xfrm>
            <a:off x="5915660" y="2266950"/>
            <a:ext cx="4904740" cy="1724660"/>
          </a:xfrm>
          <a:prstGeom prst="roundRect">
            <a:avLst>
              <a:gd name="adj" fmla="val 4418"/>
            </a:avLst>
          </a:prstGeom>
          <a:solidFill>
            <a:srgbClr val="F2F2F2"/>
          </a:solidFill>
          <a:ln/>
        </p:spPr>
        <p:txBody>
          <a:bodyPr wrap="square" lIns="142240" tIns="90907" rIns="7620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22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df_gold = df_silver.groupBy("order_date").agg(</a:t>
            </a:r>
            <a:endParaRPr lang="en-US" sz="122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22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   count("*").alias("order_count"),</a:t>
            </a:r>
            <a:endParaRPr lang="en-US" sz="122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22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   sum("net_amount").alias("total_revenue"),</a:t>
            </a:r>
            <a:endParaRPr lang="en-US" sz="122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22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   round(avg("net_amount"), 2)</a:t>
            </a:r>
            <a:endParaRPr lang="en-US" sz="122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22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     .alias("avg_order_value")</a:t>
            </a:r>
            <a:endParaRPr lang="en-US" sz="122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22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)</a:t>
            </a:r>
            <a:endParaRPr lang="en-US" sz="1220" dirty="0"/>
          </a:p>
        </p:txBody>
      </p:sp>
      <p:sp>
        <p:nvSpPr>
          <p:cNvPr id="6" name="Text 4"/>
          <p:cNvSpPr txBox="1"/>
          <p:nvPr/>
        </p:nvSpPr>
        <p:spPr>
          <a:xfrm>
            <a:off x="5922010" y="4133685"/>
            <a:ext cx="4927600" cy="11642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53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Licz na net_amount, nie total_amount</a:t>
            </a:r>
            <a:endParaRPr lang="en-US" sz="1530" dirty="0"/>
          </a:p>
          <a:p>
            <a:pPr algn="l" indent="0" marL="0">
              <a:lnSpc>
                <a:spcPts val="1950"/>
              </a:lnSpc>
              <a:spcBef>
                <a:spcPts val="1104"/>
              </a:spcBef>
              <a:buNone/>
            </a:pPr>
            <a:r>
              <a:rPr lang="en-US" sz="122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Agreguj kwotę po rabacie. </a:t>
            </a:r>
            <a:pPr algn="l" indent="0" marL="0">
              <a:lnSpc>
                <a:spcPts val="1950"/>
              </a:lnSpc>
              <a:spcBef>
                <a:spcPts val="1104"/>
              </a:spcBef>
              <a:buNone/>
            </a:pPr>
            <a:r>
              <a:rPr lang="en-US" sz="1220" dirty="0">
                <a:solidFill>
                  <a:srgbClr val="000000"/>
                </a:solidFill>
                <a:highlight>
                  <a:srgbClr val="F2F2F2"/>
                </a:highlight>
                <a:latin typeface="Open Sans" pitchFamily="34" charset="0"/>
                <a:ea typeface="Open Sans" pitchFamily="34" charset="-122"/>
                <a:cs typeface="Open Sans" pitchFamily="34" charset="-120"/>
              </a:rPr>
              <a:t>total_amount</a:t>
            </a:r>
            <a:pPr algn="l" indent="0" marL="0">
              <a:lnSpc>
                <a:spcPts val="1950"/>
              </a:lnSpc>
              <a:spcBef>
                <a:spcPts val="1104"/>
              </a:spcBef>
              <a:buNone/>
            </a:pPr>
            <a:r>
              <a:rPr lang="en-US" sz="122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to wartość sprzed rabatu z Bronze, użyta w Gold zawyżyłaby przychód.</a:t>
            </a:r>
            <a:endParaRPr lang="en-US" sz="1530" dirty="0"/>
          </a:p>
        </p:txBody>
      </p:sp>
      <p:pic>
        <p:nvPicPr>
          <p:cNvPr id="7" name="Image 0" descr="assets/altko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240" y="6038850"/>
            <a:ext cx="637540" cy="2565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61000" y="6054281"/>
            <a:ext cx="508000" cy="1524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000000"/>
                </a:solidFill>
                <a:latin typeface="DM Sans"/>
                <a:ea typeface="DM Sans"/>
                <a:cs typeface="DM Sans"/>
              </a:defRPr>
            </a:lvl1pPr>
          </a:lstStyle>
          <a:p>
            <a:pPr algn="ct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9760" y="2562860"/>
            <a:ext cx="800100" cy="285750"/>
          </a:xfrm>
          <a:prstGeom prst="roundRect">
            <a:avLst>
              <a:gd name="adj" fmla="val 17778"/>
            </a:avLst>
          </a:prstGeom>
          <a:solidFill>
            <a:srgbClr val="F6D6D5"/>
          </a:solidFill>
          <a:ln/>
        </p:spPr>
        <p:txBody>
          <a:bodyPr wrap="square" lIns="95250" tIns="20599" rIns="2540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98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SEKCJA 5</a:t>
            </a:r>
            <a:endParaRPr lang="en-US" sz="980" dirty="0"/>
          </a:p>
        </p:txBody>
      </p:sp>
      <p:sp>
        <p:nvSpPr>
          <p:cNvPr id="3" name="Text 1"/>
          <p:cNvSpPr txBox="1"/>
          <p:nvPr/>
        </p:nvSpPr>
        <p:spPr>
          <a:xfrm>
            <a:off x="622300" y="2861501"/>
            <a:ext cx="10185400" cy="522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13"/>
              </a:lnSpc>
              <a:buNone/>
            </a:pPr>
            <a:r>
              <a:rPr lang="en-US" sz="305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Delta Lake</a:t>
            </a:r>
            <a:endParaRPr lang="en-US" sz="3050" dirty="0"/>
          </a:p>
        </p:txBody>
      </p:sp>
      <p:sp>
        <p:nvSpPr>
          <p:cNvPr id="4" name="Text 2"/>
          <p:cNvSpPr txBox="1"/>
          <p:nvPr/>
        </p:nvSpPr>
        <p:spPr>
          <a:xfrm>
            <a:off x="622300" y="3577057"/>
            <a:ext cx="101854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22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Delta Lake zamienia zwykły storage plików w wiarygodną, transakcyjną platformę danych.</a:t>
            </a:r>
            <a:endParaRPr lang="en-US" sz="1220" dirty="0"/>
          </a:p>
        </p:txBody>
      </p:sp>
      <p:pic>
        <p:nvPicPr>
          <p:cNvPr id="5" name="Image 0" descr="assets/altko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240" y="6038850"/>
            <a:ext cx="637540" cy="2565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61000" y="6054281"/>
            <a:ext cx="508000" cy="1524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000000"/>
                </a:solidFill>
                <a:latin typeface="DM Sans"/>
                <a:ea typeface="DM Sans"/>
                <a:cs typeface="DM Sans"/>
              </a:defRPr>
            </a:lvl1pPr>
          </a:lstStyle>
          <a:p>
            <a:pPr algn="ctr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p36_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8890"/>
            <a:ext cx="5715000" cy="642874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22300" y="613601"/>
            <a:ext cx="4953000" cy="522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13"/>
              </a:lnSpc>
              <a:buNone/>
            </a:pPr>
            <a:r>
              <a:rPr lang="en-US" sz="305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Czym jest Delta Lake?</a:t>
            </a:r>
            <a:endParaRPr lang="en-US" sz="3050" dirty="0"/>
          </a:p>
        </p:txBody>
      </p:sp>
      <p:sp>
        <p:nvSpPr>
          <p:cNvPr id="4" name="Text 1"/>
          <p:cNvSpPr txBox="1"/>
          <p:nvPr/>
        </p:nvSpPr>
        <p:spPr>
          <a:xfrm>
            <a:off x="622300" y="1354557"/>
            <a:ext cx="4495800" cy="4387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22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Delta Lake to otwarta warstwa storage, która wnosi niezawodność do data lake. Łączy najlepsze cechy baz danych i data lake, dając:</a:t>
            </a:r>
            <a:endParaRPr lang="en-US" sz="1220" dirty="0"/>
          </a:p>
          <a:p>
            <a:pPr algn="l" marL="241300" indent="-241300">
              <a:lnSpc>
                <a:spcPts val="1950"/>
              </a:lnSpc>
              <a:spcBef>
                <a:spcPts val="1350"/>
              </a:spcBef>
              <a:buSzPct val="100000"/>
              <a:buChar char="•"/>
            </a:pPr>
            <a:r>
              <a:rPr lang="en-US" sz="122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Transakcje ACID</a:t>
            </a:r>
            <a:pPr algn="l" marL="241300" indent="-241300">
              <a:lnSpc>
                <a:spcPts val="1950"/>
              </a:lnSpc>
              <a:spcBef>
                <a:spcPts val="1350"/>
              </a:spcBef>
              <a:buSzPct val="100000"/>
              <a:buChar char="•"/>
            </a:pPr>
            <a:r>
              <a:rPr lang="en-US" sz="122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: atomowość, spójność, izolacja i trwałość operacji, czyli gwarancja integralności danych.</a:t>
            </a:r>
            <a:endParaRPr lang="en-US" sz="1220" dirty="0"/>
          </a:p>
          <a:p>
            <a:pPr algn="l" marL="241300" indent="-241300">
              <a:lnSpc>
                <a:spcPts val="1950"/>
              </a:lnSpc>
              <a:spcBef>
                <a:spcPts val="450"/>
              </a:spcBef>
              <a:buSzPct val="100000"/>
              <a:buChar char="•"/>
            </a:pPr>
            <a:r>
              <a:rPr lang="en-US" sz="122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Kontrola schematu</a:t>
            </a:r>
            <a:pPr algn="l" marL="241300" indent="-241300">
              <a:lnSpc>
                <a:spcPts val="1950"/>
              </a:lnSpc>
              <a:spcBef>
                <a:spcPts val="450"/>
              </a:spcBef>
              <a:buSzPct val="100000"/>
              <a:buChar char="•"/>
            </a:pPr>
            <a:r>
              <a:rPr lang="en-US" sz="122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: blokuje zapisy niezgodne ze schematem tabeli i tym samym pilnuje jakości danych.</a:t>
            </a:r>
            <a:endParaRPr lang="en-US" sz="1220" dirty="0"/>
          </a:p>
          <a:p>
            <a:pPr algn="l" marL="241300" indent="-241300">
              <a:lnSpc>
                <a:spcPts val="1950"/>
              </a:lnSpc>
              <a:spcBef>
                <a:spcPts val="400"/>
              </a:spcBef>
              <a:buSzPct val="100000"/>
              <a:buChar char="•"/>
            </a:pPr>
            <a:r>
              <a:rPr lang="en-US" sz="122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Wersjonowanie danych</a:t>
            </a:r>
            <a:pPr algn="l" marL="241300" indent="-241300">
              <a:lnSpc>
                <a:spcPts val="1950"/>
              </a:lnSpc>
              <a:spcBef>
                <a:spcPts val="400"/>
              </a:spcBef>
              <a:buSzPct val="100000"/>
              <a:buChar char="•"/>
            </a:pPr>
            <a:r>
              <a:rPr lang="en-US" sz="122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: daje dostęp do historycznych wersji tabel, ułatwia audyt, wycofanie zmian i odzyskiwanie danych.</a:t>
            </a:r>
            <a:endParaRPr lang="en-US" sz="1220" dirty="0"/>
          </a:p>
          <a:p>
            <a:pPr algn="l" marL="241300" indent="-241300">
              <a:lnSpc>
                <a:spcPts val="1950"/>
              </a:lnSpc>
              <a:spcBef>
                <a:spcPts val="450"/>
              </a:spcBef>
              <a:buSzPct val="100000"/>
              <a:buChar char="•"/>
            </a:pPr>
            <a:r>
              <a:rPr lang="en-US" sz="122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Skalowalne metadane</a:t>
            </a:r>
            <a:pPr algn="l" marL="241300" indent="-241300">
              <a:lnSpc>
                <a:spcPts val="1950"/>
              </a:lnSpc>
              <a:spcBef>
                <a:spcPts val="450"/>
              </a:spcBef>
              <a:buSzPct val="100000"/>
              <a:buChar char="•"/>
            </a:pPr>
            <a:r>
              <a:rPr lang="en-US" sz="122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: obsługuje tabele z miliardami plików i partycji.</a:t>
            </a:r>
            <a:endParaRPr lang="en-US" sz="1220" dirty="0"/>
          </a:p>
          <a:p>
            <a:pPr algn="l" marL="241300" indent="-241300">
              <a:lnSpc>
                <a:spcPts val="1950"/>
              </a:lnSpc>
              <a:spcBef>
                <a:spcPts val="400"/>
              </a:spcBef>
              <a:buSzPct val="100000"/>
              <a:buChar char="•"/>
            </a:pPr>
            <a:r>
              <a:rPr lang="en-US" sz="122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Streaming i batch razem</a:t>
            </a:r>
            <a:pPr algn="l" marL="241300" indent="-241300">
              <a:lnSpc>
                <a:spcPts val="1950"/>
              </a:lnSpc>
              <a:spcBef>
                <a:spcPts val="400"/>
              </a:spcBef>
              <a:buSzPct val="100000"/>
              <a:buChar char="•"/>
            </a:pPr>
            <a:r>
              <a:rPr lang="en-US" sz="122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: ten sam data lake obsługuje przetwarzanie wsadowe i czasu rzeczywistego.</a:t>
            </a:r>
            <a:endParaRPr lang="en-US" sz="1220" dirty="0"/>
          </a:p>
        </p:txBody>
      </p:sp>
      <p:pic>
        <p:nvPicPr>
          <p:cNvPr id="5" name="Image 1" descr="assets/altkom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240" y="6038850"/>
            <a:ext cx="637540" cy="2565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205730" y="6054281"/>
            <a:ext cx="508000" cy="1524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000000"/>
                </a:solidFill>
                <a:latin typeface="DM Sans"/>
                <a:ea typeface="DM Sans"/>
                <a:cs typeface="DM Sans"/>
              </a:defRPr>
            </a:lvl1pPr>
          </a:lstStyle>
          <a:p>
            <a:pPr algn="ctr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2300" y="651701"/>
            <a:ext cx="10185400" cy="522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13"/>
              </a:lnSpc>
              <a:buNone/>
            </a:pPr>
            <a:r>
              <a:rPr lang="en-US" sz="305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Tabele managed i external</a:t>
            </a:r>
            <a:endParaRPr lang="en-US" sz="3050" dirty="0"/>
          </a:p>
        </p:txBody>
      </p:sp>
      <p:sp>
        <p:nvSpPr>
          <p:cNvPr id="3" name="Text 1"/>
          <p:cNvSpPr txBox="1"/>
          <p:nvPr/>
        </p:nvSpPr>
        <p:spPr>
          <a:xfrm>
            <a:off x="622300" y="1379957"/>
            <a:ext cx="101854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22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Każda tabela w Unity Catalog jest jednego z dwóch rodzajów, a wybór decyduje, kto dba o pliki:</a:t>
            </a:r>
            <a:endParaRPr lang="en-US" sz="1220" dirty="0"/>
          </a:p>
        </p:txBody>
      </p:sp>
      <p:sp>
        <p:nvSpPr>
          <p:cNvPr id="4" name="Text 2"/>
          <p:cNvSpPr/>
          <p:nvPr/>
        </p:nvSpPr>
        <p:spPr>
          <a:xfrm>
            <a:off x="505460" y="1905000"/>
            <a:ext cx="5133340" cy="3175000"/>
          </a:xfrm>
          <a:prstGeom prst="roundRect">
            <a:avLst>
              <a:gd name="adj" fmla="val 3200"/>
            </a:avLst>
          </a:prstGeom>
          <a:solidFill>
            <a:srgbClr val="F8DEDC"/>
          </a:solidFill>
          <a:ln/>
        </p:spPr>
        <p:txBody>
          <a:bodyPr wrap="square" lIns="154940" tIns="133185" rIns="101600" bIns="0" rtlCol="0" anchor="t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53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Tabela managed</a:t>
            </a:r>
            <a:endParaRPr lang="en-US" sz="1530" dirty="0"/>
          </a:p>
          <a:p>
            <a:pPr algn="l" indent="0" marL="0">
              <a:lnSpc>
                <a:spcPts val="1950"/>
              </a:lnSpc>
              <a:spcBef>
                <a:spcPts val="1004"/>
              </a:spcBef>
              <a:buNone/>
            </a:pPr>
            <a:r>
              <a:rPr lang="en-US" sz="122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Unity Catalog jest właścicielem danych i metadanych oraz sam wybiera lokalizację. To typ domyślny i rekomendowany.</a:t>
            </a:r>
            <a:endParaRPr lang="en-US" sz="1530" dirty="0"/>
          </a:p>
          <a:p>
            <a:pPr algn="l" indent="0" marL="0">
              <a:lnSpc>
                <a:spcPts val="1950"/>
              </a:lnSpc>
              <a:spcBef>
                <a:spcPts val="1150"/>
              </a:spcBef>
              <a:buNone/>
            </a:pPr>
            <a:r>
              <a:rPr lang="en-US" sz="122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Dostajesz automatyczne utrzymanie przez predictive optimization, tańszy storage i sprzątanie plików po usunięciu tabeli.</a:t>
            </a:r>
            <a:endParaRPr lang="en-US" sz="1530" dirty="0"/>
          </a:p>
          <a:p>
            <a:pPr algn="l" indent="0" marL="0">
              <a:lnSpc>
                <a:spcPts val="1950"/>
              </a:lnSpc>
              <a:spcBef>
                <a:spcPts val="1150"/>
              </a:spcBef>
              <a:buNone/>
            </a:pPr>
            <a:r>
              <a:rPr lang="en-US" sz="1220" dirty="0">
                <a:solidFill>
                  <a:srgbClr val="000000"/>
                </a:solidFill>
                <a:highlight>
                  <a:srgbClr val="F2F2F2"/>
                </a:highlight>
                <a:latin typeface="Open Sans" pitchFamily="34" charset="0"/>
                <a:ea typeface="Open Sans" pitchFamily="34" charset="-122"/>
                <a:cs typeface="Open Sans" pitchFamily="34" charset="-120"/>
              </a:rPr>
              <a:t>CREATE TABLE silver.orders (...)</a:t>
            </a:r>
            <a:endParaRPr lang="en-US" sz="1530" dirty="0"/>
          </a:p>
        </p:txBody>
      </p:sp>
      <p:sp>
        <p:nvSpPr>
          <p:cNvPr id="5" name="Text 3"/>
          <p:cNvSpPr txBox="1"/>
          <p:nvPr/>
        </p:nvSpPr>
        <p:spPr>
          <a:xfrm>
            <a:off x="5922010" y="2038185"/>
            <a:ext cx="4902200" cy="26882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53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Tabela external</a:t>
            </a:r>
            <a:endParaRPr lang="en-US" sz="1530" dirty="0"/>
          </a:p>
          <a:p>
            <a:pPr algn="l" indent="0" marL="0">
              <a:lnSpc>
                <a:spcPts val="1950"/>
              </a:lnSpc>
              <a:spcBef>
                <a:spcPts val="1004"/>
              </a:spcBef>
              <a:buNone/>
            </a:pPr>
            <a:r>
              <a:rPr lang="en-US" sz="122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Wskazujesz Databricks lokalizację w swoim storage przez external location. Databricks zarządza wtedy tylko metadanymi.</a:t>
            </a:r>
            <a:endParaRPr lang="en-US" sz="1530" dirty="0"/>
          </a:p>
          <a:p>
            <a:pPr algn="l" indent="0" marL="0">
              <a:lnSpc>
                <a:spcPts val="1950"/>
              </a:lnSpc>
              <a:spcBef>
                <a:spcPts val="1150"/>
              </a:spcBef>
              <a:buNone/>
            </a:pPr>
            <a:r>
              <a:rPr lang="en-US" sz="122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Używaj, gdy te same pliki zapisuje inny silnik, przy migracji albo gdy polityka retencji wymusza konkretną ścieżkę. Bez predictive optimization i bez sprzątania plików.</a:t>
            </a:r>
            <a:endParaRPr lang="en-US" sz="1530" dirty="0"/>
          </a:p>
          <a:p>
            <a:pPr algn="l" indent="0" marL="0">
              <a:lnSpc>
                <a:spcPts val="1950"/>
              </a:lnSpc>
              <a:spcBef>
                <a:spcPts val="1200"/>
              </a:spcBef>
              <a:buNone/>
            </a:pPr>
            <a:r>
              <a:rPr lang="en-US" sz="1220" dirty="0">
                <a:solidFill>
                  <a:srgbClr val="000000"/>
                </a:solidFill>
                <a:highlight>
                  <a:srgbClr val="F2F2F2"/>
                </a:highlight>
                <a:latin typeface="Open Sans" pitchFamily="34" charset="0"/>
                <a:ea typeface="Open Sans" pitchFamily="34" charset="-122"/>
                <a:cs typeface="Open Sans" pitchFamily="34" charset="-120"/>
              </a:rPr>
              <a:t>CREATE TABLE ... LOCATION 'abfss://...'</a:t>
            </a:r>
            <a:endParaRPr lang="en-US" sz="1530" dirty="0"/>
          </a:p>
        </p:txBody>
      </p:sp>
      <p:pic>
        <p:nvPicPr>
          <p:cNvPr id="6" name="Image 0" descr="assets/altko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240" y="6038850"/>
            <a:ext cx="637540" cy="2565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61000" y="6054281"/>
            <a:ext cx="508000" cy="1524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000000"/>
                </a:solidFill>
                <a:latin typeface="DM Sans"/>
                <a:ea typeface="DM Sans"/>
                <a:cs typeface="DM Sans"/>
              </a:defRPr>
            </a:lvl1pPr>
          </a:lstStyle>
          <a:p>
            <a:pPr algn="ctr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p37_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0500" y="2038350"/>
            <a:ext cx="5334000" cy="23622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337300" y="577151"/>
            <a:ext cx="4495800" cy="1003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00"/>
              </a:lnSpc>
              <a:buNone/>
            </a:pPr>
            <a:r>
              <a:rPr lang="en-US" sz="305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Delta log, serce transakcyjności</a:t>
            </a:r>
            <a:endParaRPr lang="en-US" sz="3050" dirty="0"/>
          </a:p>
        </p:txBody>
      </p:sp>
      <p:sp>
        <p:nvSpPr>
          <p:cNvPr id="4" name="Text 1"/>
          <p:cNvSpPr txBox="1"/>
          <p:nvPr/>
        </p:nvSpPr>
        <p:spPr>
          <a:xfrm>
            <a:off x="6337300" y="1767307"/>
            <a:ext cx="4495800" cy="402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2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Delta log to uporządkowany ciąg plików JSON w katalogu </a:t>
            </a:r>
            <a:pPr algn="l" indent="0" marL="0">
              <a:lnSpc>
                <a:spcPts val="2000"/>
              </a:lnSpc>
              <a:buNone/>
            </a:pPr>
            <a:r>
              <a:rPr lang="en-US" sz="1220" dirty="0">
                <a:solidFill>
                  <a:srgbClr val="000000"/>
                </a:solidFill>
                <a:highlight>
                  <a:srgbClr val="F2F2F2"/>
                </a:highlight>
                <a:latin typeface="Open Sans" pitchFamily="34" charset="0"/>
                <a:ea typeface="Open Sans" pitchFamily="34" charset="-122"/>
                <a:cs typeface="Open Sans" pitchFamily="34" charset="-120"/>
              </a:rPr>
              <a:t>_delta_log</a:t>
            </a:r>
            <a:pPr algn="l" indent="0" marL="0">
              <a:lnSpc>
                <a:spcPts val="2000"/>
              </a:lnSpc>
              <a:buNone/>
            </a:pPr>
            <a:r>
              <a:rPr lang="en-US" sz="122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 Każdy plik to jedna transakcja z kompletem informacji o zmianach w tabeli.</a:t>
            </a:r>
            <a:endParaRPr lang="en-US" sz="1220" dirty="0"/>
          </a:p>
          <a:p>
            <a:pPr algn="l" indent="0" marL="0">
              <a:lnSpc>
                <a:spcPts val="1950"/>
              </a:lnSpc>
              <a:spcBef>
                <a:spcPts val="1450"/>
              </a:spcBef>
              <a:buNone/>
            </a:pPr>
            <a:r>
              <a:rPr lang="en-US" sz="122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 zawiera wpis w delta logu:</a:t>
            </a:r>
            <a:endParaRPr lang="en-US" sz="1220" dirty="0"/>
          </a:p>
          <a:p>
            <a:pPr algn="l" marL="241300" indent="-241300">
              <a:lnSpc>
                <a:spcPts val="1950"/>
              </a:lnSpc>
              <a:spcBef>
                <a:spcPts val="1250"/>
              </a:spcBef>
              <a:buSzPct val="100000"/>
              <a:buChar char="•"/>
            </a:pPr>
            <a:r>
              <a:rPr lang="en-US" sz="122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Listę dodanych plików Parquet wraz z metadanymi</a:t>
            </a:r>
            <a:endParaRPr lang="en-US" sz="1220" dirty="0"/>
          </a:p>
          <a:p>
            <a:pPr algn="l" marL="241300" indent="-241300">
              <a:lnSpc>
                <a:spcPts val="1950"/>
              </a:lnSpc>
              <a:spcBef>
                <a:spcPts val="450"/>
              </a:spcBef>
              <a:buSzPct val="100000"/>
              <a:buChar char="•"/>
            </a:pPr>
            <a:r>
              <a:rPr lang="en-US" sz="122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Listę plików usuniętych</a:t>
            </a:r>
            <a:endParaRPr lang="en-US" sz="1220" dirty="0"/>
          </a:p>
          <a:p>
            <a:pPr algn="l" marL="241300" indent="-241300">
              <a:lnSpc>
                <a:spcPts val="1950"/>
              </a:lnSpc>
              <a:spcBef>
                <a:spcPts val="450"/>
              </a:spcBef>
              <a:buSzPct val="100000"/>
              <a:buChar char="•"/>
            </a:pPr>
            <a:r>
              <a:rPr lang="en-US" sz="122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Operacje na schemacie (dodanie lub usunięcie kolumn)</a:t>
            </a:r>
            <a:endParaRPr lang="en-US" sz="1220" dirty="0"/>
          </a:p>
          <a:p>
            <a:pPr algn="l" marL="241300" indent="-241300">
              <a:lnSpc>
                <a:spcPts val="1950"/>
              </a:lnSpc>
              <a:spcBef>
                <a:spcPts val="450"/>
              </a:spcBef>
              <a:buSzPct val="100000"/>
              <a:buChar char="•"/>
            </a:pPr>
            <a:r>
              <a:rPr lang="en-US" sz="122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Metadane operacji (czas, użytkownik, rodzaj)</a:t>
            </a:r>
            <a:endParaRPr lang="en-US" sz="1220" dirty="0"/>
          </a:p>
          <a:p>
            <a:pPr algn="l" marL="241300" indent="-241300">
              <a:lnSpc>
                <a:spcPts val="1950"/>
              </a:lnSpc>
              <a:spcBef>
                <a:spcPts val="450"/>
              </a:spcBef>
              <a:buSzPct val="100000"/>
              <a:buChar char="•"/>
            </a:pPr>
            <a:r>
              <a:rPr lang="en-US" sz="122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Statystyki danych (min i max dla data skipping)</a:t>
            </a:r>
            <a:endParaRPr lang="en-US" sz="1220" dirty="0"/>
          </a:p>
          <a:p>
            <a:pPr algn="l" indent="0" marL="0">
              <a:lnSpc>
                <a:spcPts val="1950"/>
              </a:lnSpc>
              <a:spcBef>
                <a:spcPts val="1350"/>
              </a:spcBef>
              <a:buNone/>
            </a:pPr>
            <a:r>
              <a:rPr lang="en-US" sz="122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Każdy odczyt zaczyna się od przeczytania delta logu, żeby ustalić aktualny stan tabeli i listę aktywnych plików.</a:t>
            </a:r>
            <a:endParaRPr lang="en-US" sz="1220" dirty="0"/>
          </a:p>
        </p:txBody>
      </p:sp>
      <p:pic>
        <p:nvPicPr>
          <p:cNvPr id="5" name="Image 1" descr="assets/altkom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7240" y="6038850"/>
            <a:ext cx="637540" cy="2565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61650" y="6054281"/>
            <a:ext cx="508000" cy="1524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000000"/>
                </a:solidFill>
                <a:latin typeface="DM Sans"/>
                <a:ea typeface="DM Sans"/>
                <a:cs typeface="DM Sans"/>
              </a:defRPr>
            </a:lvl1pPr>
          </a:lstStyle>
          <a:p>
            <a:pPr algn="r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p38_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0340" y="1257300"/>
            <a:ext cx="3924300" cy="39243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904740" y="493522"/>
            <a:ext cx="5905500" cy="498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25"/>
              </a:lnSpc>
              <a:buNone/>
            </a:pPr>
            <a:r>
              <a:rPr lang="en-US" sz="290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Własności ACID w data lake</a:t>
            </a:r>
            <a:endParaRPr lang="en-US" sz="2900" dirty="0"/>
          </a:p>
        </p:txBody>
      </p:sp>
      <p:sp>
        <p:nvSpPr>
          <p:cNvPr id="4" name="Text 1"/>
          <p:cNvSpPr/>
          <p:nvPr/>
        </p:nvSpPr>
        <p:spPr>
          <a:xfrm>
            <a:off x="4904740" y="1209040"/>
            <a:ext cx="5905500" cy="1066800"/>
          </a:xfrm>
          <a:prstGeom prst="roundRect">
            <a:avLst>
              <a:gd name="adj" fmla="val 7143"/>
            </a:avLst>
          </a:prstGeom>
          <a:solidFill>
            <a:srgbClr val="F8DEDC"/>
          </a:solidFill>
          <a:ln/>
        </p:spPr>
        <p:txBody>
          <a:bodyPr wrap="square" lIns="149860" tIns="110173" rIns="76200" bIns="0" rtlCol="0" anchor="t"/>
          <a:lstStyle/>
          <a:p>
            <a:pPr algn="l" indent="0" marL="0">
              <a:lnSpc>
                <a:spcPts val="1813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Atomowość</a:t>
            </a:r>
            <a:endParaRPr lang="en-US" sz="1450" dirty="0"/>
          </a:p>
          <a:p>
            <a:pPr algn="l" indent="0" marL="0">
              <a:lnSpc>
                <a:spcPts val="1800"/>
              </a:lnSpc>
              <a:spcBef>
                <a:spcPts val="542"/>
              </a:spcBef>
              <a:buNone/>
            </a:pPr>
            <a:r>
              <a:rPr lang="en-US" sz="116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Operacje są atomowe, albo kończą się w całości, albo są wycofywane. Żadnych częściowych zapisów i niespójnych stanów.</a:t>
            </a: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4904740" y="2419350"/>
            <a:ext cx="5905500" cy="1066800"/>
          </a:xfrm>
          <a:prstGeom prst="roundRect">
            <a:avLst>
              <a:gd name="adj" fmla="val 7143"/>
            </a:avLst>
          </a:prstGeom>
          <a:solidFill>
            <a:srgbClr val="F8DEDC"/>
          </a:solidFill>
          <a:ln/>
        </p:spPr>
        <p:txBody>
          <a:bodyPr wrap="square" lIns="149860" tIns="110173" rIns="76200" bIns="0" rtlCol="0" anchor="t"/>
          <a:lstStyle/>
          <a:p>
            <a:pPr algn="l" indent="0" marL="0">
              <a:lnSpc>
                <a:spcPts val="1813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Spójność</a:t>
            </a:r>
            <a:endParaRPr lang="en-US" sz="1450" dirty="0"/>
          </a:p>
          <a:p>
            <a:pPr algn="l" indent="0" marL="0">
              <a:lnSpc>
                <a:spcPts val="1800"/>
              </a:lnSpc>
              <a:spcBef>
                <a:spcPts val="542"/>
              </a:spcBef>
              <a:buNone/>
            </a:pPr>
            <a:r>
              <a:rPr lang="en-US" sz="116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Kontrola schematu pilnuje, żeby po każdej transakcji tabela była zgodna ze zdefiniowanym schematem.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4904740" y="3629660"/>
            <a:ext cx="5905500" cy="1066800"/>
          </a:xfrm>
          <a:prstGeom prst="roundRect">
            <a:avLst>
              <a:gd name="adj" fmla="val 7143"/>
            </a:avLst>
          </a:prstGeom>
          <a:solidFill>
            <a:srgbClr val="F8DEDC"/>
          </a:solidFill>
          <a:ln/>
        </p:spPr>
        <p:txBody>
          <a:bodyPr wrap="square" lIns="149860" tIns="110172" rIns="76200" bIns="0" rtlCol="0" anchor="t"/>
          <a:lstStyle/>
          <a:p>
            <a:pPr algn="l" indent="0" marL="0">
              <a:lnSpc>
                <a:spcPts val="1813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Izolacja</a:t>
            </a:r>
            <a:endParaRPr lang="en-US" sz="1450" dirty="0"/>
          </a:p>
          <a:p>
            <a:pPr algn="l" indent="0" marL="0">
              <a:lnSpc>
                <a:spcPts val="1800"/>
              </a:lnSpc>
              <a:spcBef>
                <a:spcPts val="542"/>
              </a:spcBef>
              <a:buNone/>
            </a:pPr>
            <a:r>
              <a:rPr lang="en-US" sz="116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Izolacja serializowalna, równoległe operacje sobie nie przeszkadzają. Czytający zawsze widzi spójny snapshot.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4904740" y="4828540"/>
            <a:ext cx="5905500" cy="1066800"/>
          </a:xfrm>
          <a:prstGeom prst="roundRect">
            <a:avLst>
              <a:gd name="adj" fmla="val 7143"/>
            </a:avLst>
          </a:prstGeom>
          <a:solidFill>
            <a:srgbClr val="F8DEDC"/>
          </a:solidFill>
          <a:ln/>
        </p:spPr>
        <p:txBody>
          <a:bodyPr wrap="square" lIns="149860" tIns="110172" rIns="76200" bIns="0" rtlCol="0" anchor="t"/>
          <a:lstStyle/>
          <a:p>
            <a:pPr algn="l" indent="0" marL="0">
              <a:lnSpc>
                <a:spcPts val="1813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Trwałość</a:t>
            </a:r>
            <a:endParaRPr lang="en-US" sz="1450" dirty="0"/>
          </a:p>
          <a:p>
            <a:pPr algn="l" indent="0" marL="0">
              <a:lnSpc>
                <a:spcPts val="1800"/>
              </a:lnSpc>
              <a:spcBef>
                <a:spcPts val="542"/>
              </a:spcBef>
              <a:buNone/>
            </a:pPr>
            <a:r>
              <a:rPr lang="en-US" sz="116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Zatwierdzone transakcje są trwałe i przetrwają awarię dzięki delta logowi zapisanemu w object storage.</a:t>
            </a:r>
            <a:endParaRPr lang="en-US" sz="1450" dirty="0"/>
          </a:p>
        </p:txBody>
      </p:sp>
      <p:pic>
        <p:nvPicPr>
          <p:cNvPr id="8" name="Image 1" descr="assets/altkom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9760" y="6038850"/>
            <a:ext cx="637540" cy="2565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61650" y="6054281"/>
            <a:ext cx="508000" cy="1524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000000"/>
                </a:solidFill>
                <a:latin typeface="DM Sans"/>
                <a:ea typeface="DM Sans"/>
                <a:cs typeface="DM Sans"/>
              </a:defRPr>
            </a:lvl1pPr>
          </a:lstStyle>
          <a:p>
            <a:pPr algn="r"/>
            <a:fld id="{F7021451-1387-4CA6-816F-3879F97B5CBC}" type="slidenum">
              <a:rPr b="0" lang="en-US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2300" y="651701"/>
            <a:ext cx="10185400" cy="522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13"/>
              </a:lnSpc>
              <a:buNone/>
            </a:pPr>
            <a:r>
              <a:rPr lang="en-US" sz="305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MERGE, upsert w jednym poleceniu</a:t>
            </a:r>
            <a:endParaRPr lang="en-US" sz="3050" dirty="0"/>
          </a:p>
        </p:txBody>
      </p:sp>
      <p:sp>
        <p:nvSpPr>
          <p:cNvPr id="3" name="Text 1"/>
          <p:cNvSpPr/>
          <p:nvPr/>
        </p:nvSpPr>
        <p:spPr>
          <a:xfrm>
            <a:off x="619760" y="1625600"/>
            <a:ext cx="10191750" cy="2222500"/>
          </a:xfrm>
          <a:prstGeom prst="roundRect">
            <a:avLst>
              <a:gd name="adj" fmla="val 3429"/>
            </a:avLst>
          </a:prstGeom>
          <a:solidFill>
            <a:srgbClr val="F2F2F2"/>
          </a:solidFill>
          <a:ln/>
        </p:spPr>
        <p:txBody>
          <a:bodyPr wrap="square" lIns="142240" tIns="84557" rIns="7620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22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MERGE INTO silver.orders AS target</a:t>
            </a:r>
            <a:endParaRPr lang="en-US" sz="122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22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USING updates AS source</a:t>
            </a:r>
            <a:endParaRPr lang="en-US" sz="122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22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 ON target.order_id = source.order_id</a:t>
            </a:r>
            <a:endParaRPr lang="en-US" sz="122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22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WHEN MATCHED AND source.status = 'cancelled' THEN DELETE</a:t>
            </a:r>
            <a:endParaRPr lang="en-US" sz="122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22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WHEN MATCHED THEN UPDATE SET *</a:t>
            </a:r>
            <a:endParaRPr lang="en-US" sz="122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22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WHEN NOT MATCHED THEN INSERT *;</a:t>
            </a:r>
            <a:endParaRPr lang="en-US" sz="1220" dirty="0"/>
          </a:p>
        </p:txBody>
      </p:sp>
      <p:sp>
        <p:nvSpPr>
          <p:cNvPr id="4" name="Text 2"/>
          <p:cNvSpPr/>
          <p:nvPr/>
        </p:nvSpPr>
        <p:spPr>
          <a:xfrm>
            <a:off x="619760" y="4127500"/>
            <a:ext cx="3295650" cy="1638300"/>
          </a:xfrm>
          <a:prstGeom prst="roundRect">
            <a:avLst>
              <a:gd name="adj" fmla="val 4651"/>
            </a:avLst>
          </a:prstGeom>
          <a:solidFill>
            <a:srgbClr val="F8DEDC"/>
          </a:solidFill>
          <a:ln/>
        </p:spPr>
        <p:txBody>
          <a:bodyPr wrap="square" lIns="154940" tIns="133185" rIns="76200" bIns="0" rtlCol="0" anchor="t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53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Idempotentny z natury</a:t>
            </a:r>
            <a:endParaRPr lang="en-US" sz="1530" dirty="0"/>
          </a:p>
          <a:p>
            <a:pPr algn="l" indent="0" marL="0">
              <a:lnSpc>
                <a:spcPts val="1950"/>
              </a:lnSpc>
              <a:spcBef>
                <a:spcPts val="504"/>
              </a:spcBef>
              <a:buNone/>
            </a:pPr>
            <a:r>
              <a:rPr lang="en-US" sz="122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Ponowny bieg tej samej paczki aktualizuje pasujące wiersze zamiast je duplikować. Dzięki temu pipeline można bezpiecznie powtórzyć.</a:t>
            </a:r>
            <a:endParaRPr lang="en-US" sz="1530" dirty="0"/>
          </a:p>
        </p:txBody>
      </p:sp>
      <p:sp>
        <p:nvSpPr>
          <p:cNvPr id="5" name="Text 3"/>
          <p:cNvSpPr/>
          <p:nvPr/>
        </p:nvSpPr>
        <p:spPr>
          <a:xfrm>
            <a:off x="4066540" y="4127500"/>
            <a:ext cx="3295650" cy="1638300"/>
          </a:xfrm>
          <a:prstGeom prst="roundRect">
            <a:avLst>
              <a:gd name="adj" fmla="val 4651"/>
            </a:avLst>
          </a:prstGeom>
          <a:solidFill>
            <a:srgbClr val="F8DEDC"/>
          </a:solidFill>
          <a:ln/>
        </p:spPr>
        <p:txBody>
          <a:bodyPr wrap="square" lIns="154940" tIns="133185" rIns="76200" bIns="0" rtlCol="0" anchor="t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53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UPDATE, DELETE, INSERT</a:t>
            </a:r>
            <a:endParaRPr lang="en-US" sz="1530" dirty="0"/>
          </a:p>
          <a:p>
            <a:pPr algn="l" indent="0" marL="0">
              <a:lnSpc>
                <a:spcPts val="1950"/>
              </a:lnSpc>
              <a:spcBef>
                <a:spcPts val="504"/>
              </a:spcBef>
              <a:buNone/>
            </a:pPr>
            <a:r>
              <a:rPr lang="en-US" sz="122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Delta obsługuje pełny zestaw CRUD. </a:t>
            </a:r>
            <a:pPr algn="l" indent="0" marL="0">
              <a:lnSpc>
                <a:spcPts val="1950"/>
              </a:lnSpc>
              <a:spcBef>
                <a:spcPts val="504"/>
              </a:spcBef>
              <a:buNone/>
            </a:pPr>
            <a:r>
              <a:rPr lang="en-US" sz="1220" dirty="0">
                <a:solidFill>
                  <a:srgbClr val="000000"/>
                </a:solidFill>
                <a:highlight>
                  <a:srgbClr val="F2F2F2"/>
                </a:highlight>
                <a:latin typeface="Open Sans" pitchFamily="34" charset="0"/>
                <a:ea typeface="Open Sans" pitchFamily="34" charset="-122"/>
                <a:cs typeface="Open Sans" pitchFamily="34" charset="-120"/>
              </a:rPr>
              <a:t>UPDATE</a:t>
            </a:r>
            <a:pPr algn="l" indent="0" marL="0">
              <a:lnSpc>
                <a:spcPts val="1950"/>
              </a:lnSpc>
              <a:spcBef>
                <a:spcPts val="504"/>
              </a:spcBef>
              <a:buNone/>
            </a:pPr>
            <a:r>
              <a:rPr lang="en-US" sz="122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i </a:t>
            </a:r>
            <a:pPr algn="l" indent="0" marL="0">
              <a:lnSpc>
                <a:spcPts val="1950"/>
              </a:lnSpc>
              <a:spcBef>
                <a:spcPts val="504"/>
              </a:spcBef>
              <a:buNone/>
            </a:pPr>
            <a:r>
              <a:rPr lang="en-US" sz="1220" dirty="0">
                <a:solidFill>
                  <a:srgbClr val="000000"/>
                </a:solidFill>
                <a:highlight>
                  <a:srgbClr val="F2F2F2"/>
                </a:highlight>
                <a:latin typeface="Open Sans" pitchFamily="34" charset="0"/>
                <a:ea typeface="Open Sans" pitchFamily="34" charset="-122"/>
                <a:cs typeface="Open Sans" pitchFamily="34" charset="-120"/>
              </a:rPr>
              <a:t>DELETE</a:t>
            </a:r>
            <a:pPr algn="l" indent="0" marL="0">
              <a:lnSpc>
                <a:spcPts val="1950"/>
              </a:lnSpc>
              <a:spcBef>
                <a:spcPts val="504"/>
              </a:spcBef>
              <a:buNone/>
            </a:pPr>
            <a:r>
              <a:rPr lang="en-US" sz="122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przepisują tylko potrzebne pliki, wspierane przez deletion vectors.</a:t>
            </a:r>
            <a:endParaRPr lang="en-US" sz="1530" dirty="0"/>
          </a:p>
        </p:txBody>
      </p:sp>
      <p:sp>
        <p:nvSpPr>
          <p:cNvPr id="6" name="Text 4"/>
          <p:cNvSpPr/>
          <p:nvPr/>
        </p:nvSpPr>
        <p:spPr>
          <a:xfrm>
            <a:off x="7515860" y="4127500"/>
            <a:ext cx="3295650" cy="1638300"/>
          </a:xfrm>
          <a:prstGeom prst="roundRect">
            <a:avLst>
              <a:gd name="adj" fmla="val 4651"/>
            </a:avLst>
          </a:prstGeom>
          <a:solidFill>
            <a:srgbClr val="F8DEDC"/>
          </a:solidFill>
          <a:ln/>
        </p:spPr>
        <p:txBody>
          <a:bodyPr wrap="square" lIns="154940" tIns="133185" rIns="76200" bIns="0" rtlCol="0" anchor="t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53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Pilnuj warunku złączenia</a:t>
            </a:r>
            <a:endParaRPr lang="en-US" sz="1530" dirty="0"/>
          </a:p>
          <a:p>
            <a:pPr algn="l" indent="0" marL="0">
              <a:lnSpc>
                <a:spcPts val="1950"/>
              </a:lnSpc>
              <a:spcBef>
                <a:spcPts val="504"/>
              </a:spcBef>
              <a:buNone/>
            </a:pPr>
            <a:r>
              <a:rPr lang="en-US" sz="122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Mało selektywny warunek przepisze całą tabelę. Ogranicz źródło i sklastruj tabelę docelową po kluczu merge.</a:t>
            </a:r>
            <a:endParaRPr lang="en-US" sz="1530" dirty="0"/>
          </a:p>
        </p:txBody>
      </p:sp>
      <p:pic>
        <p:nvPicPr>
          <p:cNvPr id="7" name="Image 0" descr="assets/altko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240" y="6038850"/>
            <a:ext cx="637540" cy="2565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61000" y="6054281"/>
            <a:ext cx="508000" cy="1524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000000"/>
                </a:solidFill>
                <a:latin typeface="DM Sans"/>
                <a:ea typeface="DM Sans"/>
                <a:cs typeface="DM Sans"/>
              </a:defRPr>
            </a:lvl1pPr>
          </a:lstStyle>
          <a:p>
            <a:pPr algn="ctr"/>
            <a:fld id="{F7021451-1387-4CA6-816F-3879F97B5CBC}" type="slidenum">
              <a:rPr b="0" lang="en-US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2300" y="854900"/>
            <a:ext cx="10185400" cy="522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13"/>
              </a:lnSpc>
              <a:buNone/>
            </a:pPr>
            <a:r>
              <a:rPr lang="en-US" sz="305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DESCRIBE HISTORY, audyt transakcji</a:t>
            </a:r>
            <a:endParaRPr lang="en-US" sz="3050" dirty="0"/>
          </a:p>
        </p:txBody>
      </p:sp>
      <p:sp>
        <p:nvSpPr>
          <p:cNvPr id="3" name="Text 1"/>
          <p:cNvSpPr/>
          <p:nvPr/>
        </p:nvSpPr>
        <p:spPr>
          <a:xfrm>
            <a:off x="619760" y="1704340"/>
            <a:ext cx="10191750" cy="2715260"/>
          </a:xfrm>
          <a:prstGeom prst="roundRect">
            <a:avLst>
              <a:gd name="adj" fmla="val 2806"/>
            </a:avLst>
          </a:prstGeom>
          <a:solidFill>
            <a:srgbClr val="F2F2F2"/>
          </a:solidFill>
          <a:ln/>
        </p:spPr>
        <p:txBody>
          <a:bodyPr wrap="square" lIns="142240" tIns="82017" rIns="7620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22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DESCRIBE HISTORY bronze_transactions;</a:t>
            </a:r>
            <a:endParaRPr lang="en-US" sz="122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22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endParaRPr lang="en-US" sz="122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22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-- Wynik pokazuje pełną historię operacji:</a:t>
            </a:r>
            <a:endParaRPr lang="en-US" sz="122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22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version | timestamp           | operation | operationParameters</a:t>
            </a:r>
            <a:endParaRPr lang="en-US" sz="122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22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       | 2024-01-15 10:00:00 | CREATE    | {mode: ErrorIfExists}</a:t>
            </a:r>
            <a:endParaRPr lang="en-US" sz="122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22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       | 2024-01-15 11:30:00 | WRITE     | {mode: Append}</a:t>
            </a:r>
            <a:endParaRPr lang="en-US" sz="122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22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       | 2024-01-15 14:00:00 | MERGE     | {predicate: ["id"]}</a:t>
            </a:r>
            <a:endParaRPr lang="en-US" sz="122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22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       | 2024-01-15 16:45:00 | DELETE    | {predicate: ["status='invalid'"]}</a:t>
            </a:r>
            <a:endParaRPr lang="en-US" sz="122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22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       | 2024-01-15 18:00:00 | OPTIMIZE  | {predicate: []}</a:t>
            </a:r>
            <a:endParaRPr lang="en-US" sz="1220" dirty="0"/>
          </a:p>
        </p:txBody>
      </p:sp>
      <p:sp>
        <p:nvSpPr>
          <p:cNvPr id="4" name="Text 2"/>
          <p:cNvSpPr txBox="1"/>
          <p:nvPr/>
        </p:nvSpPr>
        <p:spPr>
          <a:xfrm>
            <a:off x="622300" y="4548607"/>
            <a:ext cx="10236200" cy="965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2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Polecenie </a:t>
            </a:r>
            <a:pPr algn="l" indent="0" marL="0">
              <a:lnSpc>
                <a:spcPts val="2000"/>
              </a:lnSpc>
              <a:buNone/>
            </a:pPr>
            <a:r>
              <a:rPr lang="en-US" sz="1220" dirty="0">
                <a:solidFill>
                  <a:srgbClr val="000000"/>
                </a:solidFill>
                <a:highlight>
                  <a:srgbClr val="F2F2F2"/>
                </a:highlight>
                <a:latin typeface="Open Sans" pitchFamily="34" charset="0"/>
                <a:ea typeface="Open Sans" pitchFamily="34" charset="-122"/>
                <a:cs typeface="Open Sans" pitchFamily="34" charset="-120"/>
              </a:rPr>
              <a:t>DESCRIBE HISTORY</a:t>
            </a:r>
            <a:pPr algn="l" indent="0" marL="0">
              <a:lnSpc>
                <a:spcPts val="2000"/>
              </a:lnSpc>
              <a:buNone/>
            </a:pPr>
            <a:r>
              <a:rPr lang="en-US" sz="122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pokazuje pełny ślad audytowy operacji na tabeli Delta. Każda wersja to niezmienny snapshot, przydatny przy time travel, analizie powłamaniowej i odtwarzaniu po awarii.</a:t>
            </a:r>
            <a:endParaRPr lang="en-US" sz="1220" dirty="0"/>
          </a:p>
          <a:p>
            <a:pPr algn="l" indent="0" marL="0">
              <a:lnSpc>
                <a:spcPts val="1950"/>
              </a:lnSpc>
              <a:spcBef>
                <a:spcPts val="1350"/>
              </a:spcBef>
              <a:buNone/>
            </a:pPr>
            <a:r>
              <a:rPr lang="en-US" sz="122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Historią transakcji zarządza Delta Lake, a czas jej przechowywania ustala konfiguracja retencji, domyślnie 30 dni.</a:t>
            </a:r>
            <a:endParaRPr lang="en-US" sz="1220" dirty="0"/>
          </a:p>
        </p:txBody>
      </p:sp>
      <p:pic>
        <p:nvPicPr>
          <p:cNvPr id="5" name="Image 0" descr="assets/altko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240" y="6038850"/>
            <a:ext cx="637540" cy="2565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61000" y="6054281"/>
            <a:ext cx="508000" cy="1524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000000"/>
                </a:solidFill>
                <a:latin typeface="DM Sans"/>
                <a:ea typeface="DM Sans"/>
                <a:cs typeface="DM Sans"/>
              </a:defRPr>
            </a:lvl1pPr>
          </a:lstStyle>
          <a:p>
            <a:pPr algn="ctr"/>
            <a:fld id="{F7021451-1387-4CA6-816F-3879F97B5CBC}" type="slidenum">
              <a:rPr b="0" lang="en-US"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2300" y="1235901"/>
            <a:ext cx="10185400" cy="522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13"/>
              </a:lnSpc>
              <a:buNone/>
            </a:pPr>
            <a:r>
              <a:rPr lang="en-US" sz="305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Kontrola schematu a ewolucja schematu</a:t>
            </a:r>
            <a:endParaRPr lang="en-US" sz="3050" dirty="0"/>
          </a:p>
        </p:txBody>
      </p:sp>
      <p:sp>
        <p:nvSpPr>
          <p:cNvPr id="3" name="Text 1"/>
          <p:cNvSpPr/>
          <p:nvPr/>
        </p:nvSpPr>
        <p:spPr>
          <a:xfrm>
            <a:off x="505460" y="2009140"/>
            <a:ext cx="5133340" cy="3134360"/>
          </a:xfrm>
          <a:prstGeom prst="roundRect">
            <a:avLst>
              <a:gd name="adj" fmla="val 3241"/>
            </a:avLst>
          </a:prstGeom>
          <a:solidFill>
            <a:srgbClr val="F8DEDC"/>
          </a:solidFill>
          <a:ln/>
        </p:spPr>
        <p:txBody>
          <a:bodyPr wrap="square" lIns="154940" tIns="121755" rIns="25400" bIns="0" rtlCol="0" anchor="t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53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Kontrola schematu (domyślnie włączona)</a:t>
            </a:r>
            <a:endParaRPr lang="en-US" sz="1530" dirty="0"/>
          </a:p>
          <a:p>
            <a:pPr algn="l" indent="0" marL="0">
              <a:lnSpc>
                <a:spcPts val="2000"/>
              </a:lnSpc>
              <a:spcBef>
                <a:spcPts val="1024"/>
              </a:spcBef>
              <a:buNone/>
            </a:pPr>
            <a:r>
              <a:rPr lang="en-US" sz="122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Zapis danych o schemacie niezgodnym z tabelą kończy się </a:t>
            </a:r>
            <a:pPr algn="l" indent="0" marL="0">
              <a:lnSpc>
                <a:spcPts val="2000"/>
              </a:lnSpc>
              <a:spcBef>
                <a:spcPts val="1024"/>
              </a:spcBef>
              <a:buNone/>
            </a:pPr>
            <a:r>
              <a:rPr lang="en-US" sz="1220" dirty="0">
                <a:solidFill>
                  <a:srgbClr val="000000"/>
                </a:solidFill>
                <a:highlight>
                  <a:srgbClr val="EBD1CF"/>
                </a:highlight>
                <a:latin typeface="Open Sans" pitchFamily="34" charset="0"/>
                <a:ea typeface="Open Sans" pitchFamily="34" charset="-122"/>
                <a:cs typeface="Open Sans" pitchFamily="34" charset="-120"/>
              </a:rPr>
              <a:t>AnalysisException</a:t>
            </a:r>
            <a:pPr algn="l" indent="0" marL="0">
              <a:lnSpc>
                <a:spcPts val="2000"/>
              </a:lnSpc>
              <a:spcBef>
                <a:spcPts val="1024"/>
              </a:spcBef>
              <a:buNone/>
            </a:pPr>
            <a:r>
              <a:rPr lang="en-US" sz="122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 To chroni produkcję, bo złe dane głośno padają, zamiast po cichu psuć tabelę.</a:t>
            </a:r>
            <a:endParaRPr lang="en-US" sz="1530" dirty="0"/>
          </a:p>
          <a:p>
            <a:pPr algn="l" indent="0" marL="0">
              <a:lnSpc>
                <a:spcPts val="1950"/>
              </a:lnSpc>
              <a:spcBef>
                <a:spcPts val="1150"/>
              </a:spcBef>
              <a:buNone/>
            </a:pPr>
            <a:r>
              <a:rPr lang="en-US" sz="122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Stosuj w:</a:t>
            </a:r>
            <a:pPr algn="l" indent="0" marL="0">
              <a:lnSpc>
                <a:spcPts val="1950"/>
              </a:lnSpc>
              <a:spcBef>
                <a:spcPts val="1150"/>
              </a:spcBef>
              <a:buNone/>
            </a:pPr>
            <a:r>
              <a:rPr lang="en-US" sz="122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każdym pipeline produkcyjnym.</a:t>
            </a:r>
            <a:endParaRPr lang="en-US" sz="1530" dirty="0"/>
          </a:p>
        </p:txBody>
      </p:sp>
      <p:sp>
        <p:nvSpPr>
          <p:cNvPr id="4" name="Text 2"/>
          <p:cNvSpPr txBox="1"/>
          <p:nvPr/>
        </p:nvSpPr>
        <p:spPr>
          <a:xfrm>
            <a:off x="5922010" y="2130895"/>
            <a:ext cx="4927600" cy="28621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53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Ewolucja schematu</a:t>
            </a:r>
            <a:endParaRPr lang="en-US" sz="1530" dirty="0"/>
          </a:p>
          <a:p>
            <a:pPr algn="l" indent="0" marL="0">
              <a:lnSpc>
                <a:spcPts val="2000"/>
              </a:lnSpc>
              <a:spcBef>
                <a:spcPts val="1024"/>
              </a:spcBef>
              <a:buNone/>
            </a:pPr>
            <a:r>
              <a:rPr lang="en-US" sz="122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Dodaj </a:t>
            </a:r>
            <a:pPr algn="l" indent="0" marL="0">
              <a:lnSpc>
                <a:spcPts val="2000"/>
              </a:lnSpc>
              <a:spcBef>
                <a:spcPts val="1024"/>
              </a:spcBef>
              <a:buNone/>
            </a:pPr>
            <a:r>
              <a:rPr lang="en-US" sz="1220" dirty="0">
                <a:solidFill>
                  <a:srgbClr val="000000"/>
                </a:solidFill>
                <a:highlight>
                  <a:srgbClr val="F2F2F2"/>
                </a:highlight>
                <a:latin typeface="Open Sans" pitchFamily="34" charset="0"/>
                <a:ea typeface="Open Sans" pitchFamily="34" charset="-122"/>
                <a:cs typeface="Open Sans" pitchFamily="34" charset="-120"/>
              </a:rPr>
              <a:t>option("mergeSchema", "true")</a:t>
            </a:r>
            <a:pPr algn="l" indent="0" marL="0">
              <a:lnSpc>
                <a:spcPts val="2000"/>
              </a:lnSpc>
              <a:spcBef>
                <a:spcPts val="1024"/>
              </a:spcBef>
              <a:buNone/>
            </a:pPr>
            <a:r>
              <a:rPr lang="en-US" sz="122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żeby nowe kolumny same dopisały się do schematu tabeli. Istniejące kolumny zostają bez zmian.</a:t>
            </a:r>
            <a:endParaRPr lang="en-US" sz="1530" dirty="0"/>
          </a:p>
          <a:p>
            <a:pPr algn="l" indent="0" marL="0">
              <a:lnSpc>
                <a:spcPts val="1950"/>
              </a:lnSpc>
              <a:spcBef>
                <a:spcPts val="1150"/>
              </a:spcBef>
              <a:buNone/>
            </a:pPr>
            <a:r>
              <a:rPr lang="en-US" sz="122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Stosuj w:</a:t>
            </a:r>
            <a:pPr algn="l" indent="0" marL="0">
              <a:lnSpc>
                <a:spcPts val="1950"/>
              </a:lnSpc>
              <a:spcBef>
                <a:spcPts val="1150"/>
              </a:spcBef>
              <a:buNone/>
            </a:pPr>
            <a:r>
              <a:rPr lang="en-US" sz="122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migracjach, stopniowym dodawaniu pól, na dev.</a:t>
            </a:r>
            <a:endParaRPr lang="en-US" sz="1530" dirty="0"/>
          </a:p>
          <a:p>
            <a:pPr algn="l" indent="0" marL="0">
              <a:lnSpc>
                <a:spcPts val="1913"/>
              </a:lnSpc>
              <a:spcBef>
                <a:spcPts val="1363"/>
              </a:spcBef>
              <a:buNone/>
            </a:pPr>
            <a:r>
              <a:rPr lang="en-US" sz="153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overwriteSchema</a:t>
            </a:r>
            <a:endParaRPr lang="en-US" sz="1530" dirty="0"/>
          </a:p>
          <a:p>
            <a:pPr algn="l" indent="0" marL="0">
              <a:lnSpc>
                <a:spcPts val="1950"/>
              </a:lnSpc>
              <a:spcBef>
                <a:spcPts val="1074"/>
              </a:spcBef>
              <a:buNone/>
            </a:pPr>
            <a:r>
              <a:rPr lang="en-US" sz="122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Używany z </a:t>
            </a:r>
            <a:pPr algn="l" indent="0" marL="0">
              <a:lnSpc>
                <a:spcPts val="1950"/>
              </a:lnSpc>
              <a:spcBef>
                <a:spcPts val="1074"/>
              </a:spcBef>
              <a:buNone/>
            </a:pPr>
            <a:r>
              <a:rPr lang="en-US" sz="1220" dirty="0">
                <a:solidFill>
                  <a:srgbClr val="000000"/>
                </a:solidFill>
                <a:highlight>
                  <a:srgbClr val="F2F2F2"/>
                </a:highlight>
                <a:latin typeface="Open Sans" pitchFamily="34" charset="0"/>
                <a:ea typeface="Open Sans" pitchFamily="34" charset="-122"/>
                <a:cs typeface="Open Sans" pitchFamily="34" charset="-120"/>
              </a:rPr>
              <a:t>mode("overwrite")</a:t>
            </a:r>
            <a:pPr algn="l" indent="0" marL="0">
              <a:lnSpc>
                <a:spcPts val="1950"/>
              </a:lnSpc>
              <a:spcBef>
                <a:spcPts val="1074"/>
              </a:spcBef>
              <a:buNone/>
            </a:pPr>
            <a:r>
              <a:rPr lang="en-US" sz="122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całkowicie podmienia schemat. Stosuj świadomie, dla odbiorców danych to zmiana łamiąca zgodność.</a:t>
            </a:r>
            <a:endParaRPr lang="en-US" sz="1530" dirty="0"/>
          </a:p>
        </p:txBody>
      </p:sp>
      <p:pic>
        <p:nvPicPr>
          <p:cNvPr id="5" name="Image 0" descr="assets/altko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240" y="6038850"/>
            <a:ext cx="637540" cy="2565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61000" y="6054281"/>
            <a:ext cx="508000" cy="1524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000000"/>
                </a:solidFill>
                <a:latin typeface="DM Sans"/>
                <a:ea typeface="DM Sans"/>
                <a:cs typeface="DM Sans"/>
              </a:defRPr>
            </a:lvl1pPr>
          </a:lstStyle>
          <a:p>
            <a:pPr algn="ctr"/>
            <a:fld id="{F7021451-1387-4CA6-816F-3879F97B5CBC}" type="slidenum">
              <a:rPr b="0" lang="en-US"/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2300" y="2579865"/>
            <a:ext cx="10185400" cy="7065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63"/>
              </a:lnSpc>
              <a:buNone/>
            </a:pPr>
            <a:r>
              <a:rPr lang="en-US" sz="421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Time travel</a:t>
            </a:r>
            <a:endParaRPr lang="en-US" sz="4210" dirty="0"/>
          </a:p>
        </p:txBody>
      </p:sp>
      <p:sp>
        <p:nvSpPr>
          <p:cNvPr id="3" name="Text 1"/>
          <p:cNvSpPr txBox="1"/>
          <p:nvPr/>
        </p:nvSpPr>
        <p:spPr>
          <a:xfrm>
            <a:off x="622300" y="3488157"/>
            <a:ext cx="101854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22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Podróż w czasie po historii danych</a:t>
            </a:r>
            <a:endParaRPr lang="en-US" sz="1220" dirty="0"/>
          </a:p>
        </p:txBody>
      </p:sp>
      <p:pic>
        <p:nvPicPr>
          <p:cNvPr id="4" name="Image 0" descr="assets/altko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240" y="6038850"/>
            <a:ext cx="637540" cy="2565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61000" y="6054281"/>
            <a:ext cx="508000" cy="1524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000000"/>
                </a:solidFill>
                <a:latin typeface="DM Sans"/>
                <a:ea typeface="DM Sans"/>
                <a:cs typeface="DM Sans"/>
              </a:defRPr>
            </a:lvl1pPr>
          </a:lstStyle>
          <a:p>
            <a:pPr algn="ctr"/>
            <a:fld id="{F7021451-1387-4CA6-816F-3879F97B5CBC}" type="slidenum">
              <a:rPr b="0" lang="en-US"/>
              <a:t>47</a:t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2300" y="684022"/>
            <a:ext cx="10185400" cy="498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25"/>
              </a:lnSpc>
              <a:buNone/>
            </a:pPr>
            <a:r>
              <a:rPr lang="en-US" sz="290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Time travel, odczyt historyczny</a:t>
            </a:r>
            <a:endParaRPr lang="en-US" sz="2900" dirty="0"/>
          </a:p>
        </p:txBody>
      </p:sp>
      <p:sp>
        <p:nvSpPr>
          <p:cNvPr id="3" name="Text 1"/>
          <p:cNvSpPr txBox="1"/>
          <p:nvPr/>
        </p:nvSpPr>
        <p:spPr>
          <a:xfrm>
            <a:off x="622300" y="1499553"/>
            <a:ext cx="5334000" cy="268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13"/>
              </a:lnSpc>
              <a:buNone/>
            </a:pPr>
            <a:r>
              <a:rPr lang="en-US" sz="145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Składnia zapytań historycznych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619760" y="1915160"/>
            <a:ext cx="5448300" cy="3210560"/>
          </a:xfrm>
          <a:prstGeom prst="roundRect">
            <a:avLst>
              <a:gd name="adj" fmla="val 2373"/>
            </a:avLst>
          </a:prstGeom>
          <a:solidFill>
            <a:srgbClr val="F2F2F2"/>
          </a:solidFill>
          <a:ln/>
        </p:spPr>
        <p:txBody>
          <a:bodyPr wrap="square" lIns="142240" tIns="85395" rIns="76200" bIns="0" rtlCol="0" anchor="t"/>
          <a:lstStyle/>
          <a:p>
            <a:pPr algn="l" indent="0" marL="0">
              <a:lnSpc>
                <a:spcPts val="1810"/>
              </a:lnSpc>
              <a:buNone/>
            </a:pPr>
            <a:r>
              <a:rPr lang="en-US" sz="116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-- Odczyt po numerze wersji</a:t>
            </a:r>
            <a:endParaRPr lang="en-US" sz="1160" dirty="0"/>
          </a:p>
          <a:p>
            <a:pPr algn="l" indent="0" marL="0">
              <a:lnSpc>
                <a:spcPts val="1810"/>
              </a:lnSpc>
              <a:buNone/>
            </a:pPr>
            <a:r>
              <a:rPr lang="en-US" sz="116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SELECT * FROM table_name VERSION AS OF 0;</a:t>
            </a:r>
            <a:endParaRPr lang="en-US" sz="1160" dirty="0"/>
          </a:p>
          <a:p>
            <a:pPr algn="l" indent="0" marL="0">
              <a:lnSpc>
                <a:spcPts val="1810"/>
              </a:lnSpc>
              <a:buNone/>
            </a:pPr>
            <a:r>
              <a:rPr lang="en-US" sz="116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endParaRPr lang="en-US" sz="1160" dirty="0"/>
          </a:p>
          <a:p>
            <a:pPr algn="l" indent="0" marL="0">
              <a:lnSpc>
                <a:spcPts val="1810"/>
              </a:lnSpc>
              <a:buNone/>
            </a:pPr>
            <a:r>
              <a:rPr lang="en-US" sz="116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-- Odczyt po znaczniku czasu</a:t>
            </a:r>
            <a:endParaRPr lang="en-US" sz="1160" dirty="0"/>
          </a:p>
          <a:p>
            <a:pPr algn="l" indent="0" marL="0">
              <a:lnSpc>
                <a:spcPts val="1810"/>
              </a:lnSpc>
              <a:buNone/>
            </a:pPr>
            <a:r>
              <a:rPr lang="en-US" sz="116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SELECT * FROM table_name</a:t>
            </a:r>
            <a:endParaRPr lang="en-US" sz="1160" dirty="0"/>
          </a:p>
          <a:p>
            <a:pPr algn="l" indent="0" marL="0">
              <a:lnSpc>
                <a:spcPts val="1810"/>
              </a:lnSpc>
              <a:buNone/>
            </a:pPr>
            <a:r>
              <a:rPr lang="en-US" sz="116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TIMESTAMP AS OF '2024-01-15 10:00:00';</a:t>
            </a:r>
            <a:endParaRPr lang="en-US" sz="1160" dirty="0"/>
          </a:p>
          <a:p>
            <a:pPr algn="l" indent="0" marL="0">
              <a:lnSpc>
                <a:spcPts val="1810"/>
              </a:lnSpc>
              <a:buNone/>
            </a:pPr>
            <a:r>
              <a:rPr lang="en-US" sz="116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endParaRPr lang="en-US" sz="1160" dirty="0"/>
          </a:p>
          <a:p>
            <a:pPr algn="l" indent="0" marL="0">
              <a:lnSpc>
                <a:spcPts val="1810"/>
              </a:lnSpc>
              <a:buNone/>
            </a:pPr>
            <a:r>
              <a:rPr lang="en-US" sz="116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-- W API DataFrame</a:t>
            </a:r>
            <a:endParaRPr lang="en-US" sz="1160" dirty="0"/>
          </a:p>
          <a:p>
            <a:pPr algn="l" indent="0" marL="0">
              <a:lnSpc>
                <a:spcPts val="1810"/>
              </a:lnSpc>
              <a:buNone/>
            </a:pPr>
            <a:r>
              <a:rPr lang="en-US" sz="116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df = spark.read \</a:t>
            </a:r>
            <a:endParaRPr lang="en-US" sz="1160" dirty="0"/>
          </a:p>
          <a:p>
            <a:pPr algn="l" indent="0" marL="0">
              <a:lnSpc>
                <a:spcPts val="1810"/>
              </a:lnSpc>
              <a:buNone/>
            </a:pPr>
            <a:r>
              <a:rPr lang="en-US" sz="116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 .format("delta") \</a:t>
            </a:r>
            <a:endParaRPr lang="en-US" sz="1160" dirty="0"/>
          </a:p>
          <a:p>
            <a:pPr algn="l" indent="0" marL="0">
              <a:lnSpc>
                <a:spcPts val="1810"/>
              </a:lnSpc>
              <a:buNone/>
            </a:pPr>
            <a:r>
              <a:rPr lang="en-US" sz="116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 .option("versionAsOf", 0) \</a:t>
            </a:r>
            <a:endParaRPr lang="en-US" sz="1160" dirty="0"/>
          </a:p>
          <a:p>
            <a:pPr algn="l" indent="0" marL="0">
              <a:lnSpc>
                <a:spcPts val="1810"/>
              </a:lnSpc>
              <a:buNone/>
            </a:pPr>
            <a:r>
              <a:rPr lang="en-US" sz="116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 .load(path)</a:t>
            </a:r>
            <a:endParaRPr lang="en-US" sz="1160" dirty="0"/>
          </a:p>
        </p:txBody>
      </p:sp>
      <p:sp>
        <p:nvSpPr>
          <p:cNvPr id="5" name="Text 3"/>
          <p:cNvSpPr txBox="1"/>
          <p:nvPr/>
        </p:nvSpPr>
        <p:spPr>
          <a:xfrm>
            <a:off x="6428740" y="1470965"/>
            <a:ext cx="4419600" cy="3096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30"/>
              </a:lnSpc>
              <a:buNone/>
            </a:pPr>
            <a:r>
              <a:rPr lang="en-US" sz="116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Time travel to wyróżnik Delta Lake, pozwala czytać dane z dowolnego momentu historii tabeli. Każda wersja to niezmienny snapshot dostępny zgodnie z polityką retencji.</a:t>
            </a:r>
            <a:endParaRPr lang="en-US" sz="1160" dirty="0"/>
          </a:p>
          <a:p>
            <a:pPr algn="l" indent="0" marL="0">
              <a:lnSpc>
                <a:spcPts val="1813"/>
              </a:lnSpc>
              <a:spcBef>
                <a:spcPts val="1105"/>
              </a:spcBef>
              <a:buNone/>
            </a:pPr>
            <a:r>
              <a:rPr lang="en-US" sz="145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Zastosowania biznesowe</a:t>
            </a:r>
            <a:endParaRPr lang="en-US" sz="1160" dirty="0"/>
          </a:p>
          <a:p>
            <a:pPr algn="l" marL="241300" indent="-241300">
              <a:lnSpc>
                <a:spcPts val="1800"/>
              </a:lnSpc>
              <a:spcBef>
                <a:spcPts val="1062"/>
              </a:spcBef>
              <a:buSzPct val="100000"/>
              <a:buChar char="•"/>
            </a:pPr>
            <a:r>
              <a:rPr lang="en-US" sz="116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Audyt i zgodność regulacyjna</a:t>
            </a:r>
            <a:endParaRPr lang="en-US" sz="1160" dirty="0"/>
          </a:p>
          <a:p>
            <a:pPr algn="l" marL="241300" indent="-241300">
              <a:lnSpc>
                <a:spcPts val="1800"/>
              </a:lnSpc>
              <a:spcBef>
                <a:spcPts val="300"/>
              </a:spcBef>
              <a:buSzPct val="100000"/>
              <a:buChar char="•"/>
            </a:pPr>
            <a:r>
              <a:rPr lang="en-US" sz="116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Analiza zmian danych w czasie</a:t>
            </a:r>
            <a:endParaRPr lang="en-US" sz="1160" dirty="0"/>
          </a:p>
          <a:p>
            <a:pPr algn="l" marL="241300" indent="-241300">
              <a:lnSpc>
                <a:spcPts val="1800"/>
              </a:lnSpc>
              <a:spcBef>
                <a:spcPts val="480"/>
              </a:spcBef>
              <a:buSzPct val="100000"/>
              <a:buChar char="•"/>
            </a:pPr>
            <a:r>
              <a:rPr lang="en-US" sz="116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Odtwarzanie dawnych raportów</a:t>
            </a:r>
            <a:endParaRPr lang="en-US" sz="1160" dirty="0"/>
          </a:p>
          <a:p>
            <a:pPr algn="l" marL="241300" indent="-241300">
              <a:lnSpc>
                <a:spcPts val="1800"/>
              </a:lnSpc>
              <a:spcBef>
                <a:spcPts val="370"/>
              </a:spcBef>
              <a:buSzPct val="100000"/>
              <a:buChar char="•"/>
            </a:pPr>
            <a:r>
              <a:rPr lang="en-US" sz="116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Porównanie wersji przed i po</a:t>
            </a:r>
            <a:endParaRPr lang="en-US" sz="1160" dirty="0"/>
          </a:p>
          <a:p>
            <a:pPr algn="l" marL="241300" indent="-241300">
              <a:lnSpc>
                <a:spcPts val="1800"/>
              </a:lnSpc>
              <a:spcBef>
                <a:spcPts val="400"/>
              </a:spcBef>
              <a:buSzPct val="100000"/>
              <a:buChar char="•"/>
            </a:pPr>
            <a:r>
              <a:rPr lang="en-US" sz="116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Testowanie logiki transformacji</a:t>
            </a:r>
            <a:endParaRPr lang="en-US" sz="1160" dirty="0"/>
          </a:p>
          <a:p>
            <a:pPr algn="l" marL="241300" indent="-241300">
              <a:lnSpc>
                <a:spcPts val="1800"/>
              </a:lnSpc>
              <a:spcBef>
                <a:spcPts val="430"/>
              </a:spcBef>
              <a:buSzPct val="100000"/>
              <a:buChar char="•"/>
            </a:pPr>
            <a:r>
              <a:rPr lang="en-US" sz="116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Odzyskanie danych po błędnej operacji</a:t>
            </a:r>
            <a:endParaRPr lang="en-US" sz="1160" dirty="0"/>
          </a:p>
        </p:txBody>
      </p:sp>
      <p:sp>
        <p:nvSpPr>
          <p:cNvPr id="6" name="Text 4"/>
          <p:cNvSpPr/>
          <p:nvPr/>
        </p:nvSpPr>
        <p:spPr>
          <a:xfrm>
            <a:off x="6428740" y="4724400"/>
            <a:ext cx="4391660" cy="838200"/>
          </a:xfrm>
          <a:prstGeom prst="roundRect">
            <a:avLst>
              <a:gd name="adj" fmla="val 9091"/>
            </a:avLst>
          </a:prstGeom>
          <a:solidFill>
            <a:srgbClr val="F2C1BF"/>
          </a:solidFill>
          <a:ln/>
        </p:spPr>
        <p:txBody>
          <a:bodyPr wrap="square" lIns="480060" tIns="134925" rIns="5080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6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Time travel nie kosztuje dodatkowego storage, korzysta z tych samych plików Parquet co bieżąca wersja</a:t>
            </a:r>
            <a:endParaRPr lang="en-US" sz="1160" dirty="0"/>
          </a:p>
        </p:txBody>
      </p:sp>
      <p:pic>
        <p:nvPicPr>
          <p:cNvPr id="7" name="Image 0" descr="assets/icon_p42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70980" y="4925060"/>
            <a:ext cx="173990" cy="172672"/>
          </a:xfrm>
          <a:prstGeom prst="rect">
            <a:avLst/>
          </a:prstGeom>
        </p:spPr>
      </p:pic>
      <p:pic>
        <p:nvPicPr>
          <p:cNvPr id="8" name="Image 1" descr="assets/altkom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240" y="6038850"/>
            <a:ext cx="637540" cy="2565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61000" y="6054281"/>
            <a:ext cx="508000" cy="1524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000000"/>
                </a:solidFill>
                <a:latin typeface="DM Sans"/>
                <a:ea typeface="DM Sans"/>
                <a:cs typeface="DM Sans"/>
              </a:defRPr>
            </a:lvl1pPr>
          </a:lstStyle>
          <a:p>
            <a:pPr algn="ctr"/>
            <a:fld id="{F7021451-1387-4CA6-816F-3879F97B5CBC}" type="slidenum">
              <a:rPr b="0" lang="en-US"/>
              <a:t>48</a:t>
            </a:fld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p43_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400" y="1229360"/>
            <a:ext cx="3981450" cy="398145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904740" y="870153"/>
            <a:ext cx="5905500" cy="425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50"/>
              </a:lnSpc>
              <a:buNone/>
            </a:pPr>
            <a:r>
              <a:rPr lang="en-US" sz="244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Time travel w praktyce</a:t>
            </a:r>
            <a:endParaRPr lang="en-US" sz="2440" dirty="0"/>
          </a:p>
        </p:txBody>
      </p:sp>
      <p:sp>
        <p:nvSpPr>
          <p:cNvPr id="4" name="Text 1"/>
          <p:cNvSpPr txBox="1"/>
          <p:nvPr/>
        </p:nvSpPr>
        <p:spPr>
          <a:xfrm>
            <a:off x="4904740" y="1420139"/>
            <a:ext cx="5918200" cy="398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20"/>
              </a:lnSpc>
              <a:buNone/>
            </a:pPr>
            <a:r>
              <a:rPr lang="en-US" sz="98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Time travel w Delta Lake jest używany na co dzień, nie tylko do audytu, ale też do szybkiej reakcji na błędy i analizy trendów.</a:t>
            </a:r>
            <a:endParaRPr lang="en-US" sz="980" dirty="0"/>
          </a:p>
        </p:txBody>
      </p:sp>
      <p:sp>
        <p:nvSpPr>
          <p:cNvPr id="5" name="Text 2"/>
          <p:cNvSpPr txBox="1"/>
          <p:nvPr/>
        </p:nvSpPr>
        <p:spPr>
          <a:xfrm>
            <a:off x="4904740" y="1992097"/>
            <a:ext cx="2794000" cy="232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122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Zastosowania:</a:t>
            </a:r>
            <a:endParaRPr lang="en-US" sz="1220" dirty="0"/>
          </a:p>
        </p:txBody>
      </p:sp>
      <p:sp>
        <p:nvSpPr>
          <p:cNvPr id="6" name="Text 3"/>
          <p:cNvSpPr txBox="1"/>
          <p:nvPr/>
        </p:nvSpPr>
        <p:spPr>
          <a:xfrm>
            <a:off x="8013700" y="1992097"/>
            <a:ext cx="2794000" cy="232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122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Przykłady:</a:t>
            </a:r>
            <a:endParaRPr lang="en-US" sz="1220" dirty="0"/>
          </a:p>
        </p:txBody>
      </p:sp>
      <p:sp>
        <p:nvSpPr>
          <p:cNvPr id="7" name="Shape 4"/>
          <p:cNvSpPr/>
          <p:nvPr/>
        </p:nvSpPr>
        <p:spPr>
          <a:xfrm>
            <a:off x="4886960" y="2324100"/>
            <a:ext cx="2818130" cy="467360"/>
          </a:xfrm>
          <a:prstGeom prst="roundRect">
            <a:avLst>
              <a:gd name="adj" fmla="val 10870"/>
            </a:avLst>
          </a:prstGeom>
          <a:solidFill>
            <a:srgbClr val="F8DEDC"/>
          </a:solidFill>
          <a:ln/>
        </p:spPr>
      </p:sp>
      <p:sp>
        <p:nvSpPr>
          <p:cNvPr id="8" name="Text 5"/>
          <p:cNvSpPr/>
          <p:nvPr/>
        </p:nvSpPr>
        <p:spPr>
          <a:xfrm>
            <a:off x="4963160" y="2334260"/>
            <a:ext cx="2733040" cy="447040"/>
          </a:xfrm>
          <a:prstGeom prst="roundRect">
            <a:avLst>
              <a:gd name="adj" fmla="val 8523"/>
            </a:avLst>
          </a:prstGeom>
          <a:solidFill>
            <a:srgbClr val="FFFFFF"/>
          </a:solidFill>
          <a:ln/>
        </p:spPr>
        <p:txBody>
          <a:bodyPr wrap="square" lIns="142240" tIns="0" rIns="25400" bIns="0" rtlCol="0" anchor="ctr"/>
          <a:lstStyle/>
          <a:p>
            <a:pPr algn="l" indent="0" marL="0">
              <a:lnSpc>
                <a:spcPts val="1420"/>
              </a:lnSpc>
              <a:buNone/>
            </a:pPr>
            <a:r>
              <a:rPr lang="en-US" sz="98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Audyt zmian w danych</a:t>
            </a:r>
            <a:endParaRPr lang="en-US" sz="980" dirty="0"/>
          </a:p>
        </p:txBody>
      </p:sp>
      <p:sp>
        <p:nvSpPr>
          <p:cNvPr id="9" name="Shape 6"/>
          <p:cNvSpPr/>
          <p:nvPr/>
        </p:nvSpPr>
        <p:spPr>
          <a:xfrm>
            <a:off x="4886960" y="2885440"/>
            <a:ext cx="2818130" cy="467360"/>
          </a:xfrm>
          <a:prstGeom prst="roundRect">
            <a:avLst>
              <a:gd name="adj" fmla="val 10870"/>
            </a:avLst>
          </a:prstGeom>
          <a:solidFill>
            <a:srgbClr val="F8DEDC"/>
          </a:solidFill>
          <a:ln/>
        </p:spPr>
      </p:sp>
      <p:sp>
        <p:nvSpPr>
          <p:cNvPr id="10" name="Text 7"/>
          <p:cNvSpPr/>
          <p:nvPr/>
        </p:nvSpPr>
        <p:spPr>
          <a:xfrm>
            <a:off x="4963160" y="2895600"/>
            <a:ext cx="2733040" cy="447040"/>
          </a:xfrm>
          <a:prstGeom prst="roundRect">
            <a:avLst>
              <a:gd name="adj" fmla="val 8523"/>
            </a:avLst>
          </a:prstGeom>
          <a:solidFill>
            <a:srgbClr val="FFFFFF"/>
          </a:solidFill>
          <a:ln/>
        </p:spPr>
        <p:txBody>
          <a:bodyPr wrap="square" lIns="142240" tIns="0" rIns="25400" bIns="0" rtlCol="0" anchor="ctr"/>
          <a:lstStyle/>
          <a:p>
            <a:pPr algn="l" indent="0" marL="0">
              <a:lnSpc>
                <a:spcPts val="1420"/>
              </a:lnSpc>
              <a:buNone/>
            </a:pPr>
            <a:r>
              <a:rPr lang="en-US" sz="98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Przywracanie stanu po błędnej operacji</a:t>
            </a:r>
            <a:endParaRPr lang="en-US" sz="980" dirty="0"/>
          </a:p>
        </p:txBody>
      </p:sp>
      <p:sp>
        <p:nvSpPr>
          <p:cNvPr id="11" name="Shape 8"/>
          <p:cNvSpPr/>
          <p:nvPr/>
        </p:nvSpPr>
        <p:spPr>
          <a:xfrm>
            <a:off x="4886960" y="3448050"/>
            <a:ext cx="2818130" cy="467360"/>
          </a:xfrm>
          <a:prstGeom prst="roundRect">
            <a:avLst>
              <a:gd name="adj" fmla="val 10870"/>
            </a:avLst>
          </a:prstGeom>
          <a:solidFill>
            <a:srgbClr val="F8DEDC"/>
          </a:solidFill>
          <a:ln/>
        </p:spPr>
      </p:sp>
      <p:sp>
        <p:nvSpPr>
          <p:cNvPr id="12" name="Text 9"/>
          <p:cNvSpPr/>
          <p:nvPr/>
        </p:nvSpPr>
        <p:spPr>
          <a:xfrm>
            <a:off x="4963160" y="3458210"/>
            <a:ext cx="2733040" cy="447040"/>
          </a:xfrm>
          <a:prstGeom prst="roundRect">
            <a:avLst>
              <a:gd name="adj" fmla="val 8523"/>
            </a:avLst>
          </a:prstGeom>
          <a:solidFill>
            <a:srgbClr val="FFFFFF"/>
          </a:solidFill>
          <a:ln/>
        </p:spPr>
        <p:txBody>
          <a:bodyPr wrap="square" lIns="142240" tIns="0" rIns="25400" bIns="0" rtlCol="0" anchor="ctr"/>
          <a:lstStyle/>
          <a:p>
            <a:pPr algn="l" indent="0" marL="0">
              <a:lnSpc>
                <a:spcPts val="1420"/>
              </a:lnSpc>
              <a:buNone/>
            </a:pPr>
            <a:r>
              <a:rPr lang="en-US" sz="98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Porównywanie stanu danych między wersjami</a:t>
            </a:r>
            <a:endParaRPr lang="en-US" sz="980" dirty="0"/>
          </a:p>
        </p:txBody>
      </p:sp>
      <p:sp>
        <p:nvSpPr>
          <p:cNvPr id="13" name="Shape 10"/>
          <p:cNvSpPr/>
          <p:nvPr/>
        </p:nvSpPr>
        <p:spPr>
          <a:xfrm>
            <a:off x="4886960" y="4019550"/>
            <a:ext cx="2818130" cy="457200"/>
          </a:xfrm>
          <a:prstGeom prst="roundRect">
            <a:avLst>
              <a:gd name="adj" fmla="val 11111"/>
            </a:avLst>
          </a:prstGeom>
          <a:solidFill>
            <a:srgbClr val="F8DEDC"/>
          </a:solidFill>
          <a:ln/>
        </p:spPr>
      </p:sp>
      <p:sp>
        <p:nvSpPr>
          <p:cNvPr id="14" name="Text 11"/>
          <p:cNvSpPr/>
          <p:nvPr/>
        </p:nvSpPr>
        <p:spPr>
          <a:xfrm>
            <a:off x="4963160" y="4029710"/>
            <a:ext cx="2733040" cy="436880"/>
          </a:xfrm>
          <a:prstGeom prst="roundRect">
            <a:avLst>
              <a:gd name="adj" fmla="val 8721"/>
            </a:avLst>
          </a:prstGeom>
          <a:solidFill>
            <a:srgbClr val="FFFFFF"/>
          </a:solidFill>
          <a:ln/>
        </p:spPr>
        <p:txBody>
          <a:bodyPr wrap="square" lIns="142240" tIns="0" rIns="25400" bIns="0" rtlCol="0" anchor="ctr"/>
          <a:lstStyle/>
          <a:p>
            <a:pPr algn="l" indent="0" marL="0">
              <a:lnSpc>
                <a:spcPts val="1420"/>
              </a:lnSpc>
              <a:buNone/>
            </a:pPr>
            <a:r>
              <a:rPr lang="en-US" sz="98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Debugowanie pipeline’ów</a:t>
            </a:r>
            <a:endParaRPr lang="en-US" sz="980" dirty="0"/>
          </a:p>
        </p:txBody>
      </p:sp>
      <p:sp>
        <p:nvSpPr>
          <p:cNvPr id="15" name="Text 12"/>
          <p:cNvSpPr/>
          <p:nvPr/>
        </p:nvSpPr>
        <p:spPr>
          <a:xfrm>
            <a:off x="8020050" y="2324100"/>
            <a:ext cx="2800350" cy="2504440"/>
          </a:xfrm>
          <a:prstGeom prst="roundRect">
            <a:avLst>
              <a:gd name="adj" fmla="val 3043"/>
            </a:avLst>
          </a:prstGeom>
          <a:solidFill>
            <a:srgbClr val="F2F2F2"/>
          </a:solidFill>
          <a:ln/>
        </p:spPr>
        <p:txBody>
          <a:bodyPr wrap="square" lIns="120650" tIns="76479" rIns="1270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-- Porównanie danych między wersjami</a:t>
            </a:r>
            <a:endParaRPr lang="en-US" sz="98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98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SELECT COUNT(*) as current_count FROM</a:t>
            </a:r>
            <a:endParaRPr lang="en-US" sz="98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98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sales_table;</a:t>
            </a:r>
            <a:endParaRPr lang="en-US" sz="98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98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SELECT COUNT(*) as yesterday_count</a:t>
            </a:r>
            <a:endParaRPr lang="en-US" sz="98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98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FROM sales_table TIMESTAMP AS OF '2024-</a:t>
            </a:r>
            <a:endParaRPr lang="en-US" sz="98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98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01-14';</a:t>
            </a:r>
            <a:endParaRPr lang="en-US" sz="98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98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endParaRPr lang="en-US" sz="98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98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-- Szukanie różnic</a:t>
            </a:r>
            <a:endParaRPr lang="en-US" sz="98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98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SELECT * FROM sales_table</a:t>
            </a:r>
            <a:endParaRPr lang="en-US" sz="98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98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EXCEPT</a:t>
            </a:r>
            <a:endParaRPr lang="en-US" sz="98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98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SELECT * FROM sales_table VERSION AS OF</a:t>
            </a:r>
            <a:endParaRPr lang="en-US" sz="980" dirty="0"/>
          </a:p>
          <a:p>
            <a:pPr algn="l" indent="0" marL="0">
              <a:lnSpc>
                <a:spcPts val="1400"/>
              </a:lnSpc>
              <a:buNone/>
            </a:pPr>
            <a:r>
              <a:rPr lang="en-US" sz="98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1;</a:t>
            </a:r>
            <a:endParaRPr lang="en-US" sz="980" dirty="0"/>
          </a:p>
        </p:txBody>
      </p:sp>
      <p:sp>
        <p:nvSpPr>
          <p:cNvPr id="16" name="Text 13"/>
          <p:cNvSpPr txBox="1"/>
          <p:nvPr/>
        </p:nvSpPr>
        <p:spPr>
          <a:xfrm>
            <a:off x="4904740" y="4570197"/>
            <a:ext cx="3048000" cy="1109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122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Ograniczenia:</a:t>
            </a:r>
            <a:endParaRPr lang="en-US" sz="1220" dirty="0"/>
          </a:p>
          <a:p>
            <a:pPr algn="l" marL="203200" indent="-203200">
              <a:lnSpc>
                <a:spcPts val="1420"/>
              </a:lnSpc>
              <a:spcBef>
                <a:spcPts val="666"/>
              </a:spcBef>
              <a:buSzPct val="100000"/>
              <a:buChar char="•"/>
            </a:pPr>
            <a:r>
              <a:rPr lang="en-US" sz="98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Spadek wydajności przy bardzo starych wersjach</a:t>
            </a:r>
            <a:endParaRPr lang="en-US" sz="1220" dirty="0"/>
          </a:p>
          <a:p>
            <a:pPr algn="l" marL="203200" indent="-203200">
              <a:lnSpc>
                <a:spcPts val="1420"/>
              </a:lnSpc>
              <a:spcBef>
                <a:spcPts val="280"/>
              </a:spcBef>
              <a:buSzPct val="100000"/>
              <a:buChar char="•"/>
            </a:pPr>
            <a:r>
              <a:rPr lang="en-US" sz="98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Koszt przechowywania wersji historycznych</a:t>
            </a:r>
            <a:endParaRPr lang="en-US" sz="1220" dirty="0"/>
          </a:p>
          <a:p>
            <a:pPr algn="l" marL="203200" indent="-203200">
              <a:lnSpc>
                <a:spcPts val="1420"/>
              </a:lnSpc>
              <a:spcBef>
                <a:spcPts val="280"/>
              </a:spcBef>
              <a:buSzPct val="100000"/>
              <a:buChar char="•"/>
            </a:pPr>
            <a:r>
              <a:rPr lang="en-US" sz="98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Historia to domyślnie 30 dni, ale tylko dopóki VACUUM nie usunie plików (domyślnie 7 dni)</a:t>
            </a:r>
            <a:endParaRPr lang="en-US" sz="1220" dirty="0"/>
          </a:p>
        </p:txBody>
      </p:sp>
      <p:pic>
        <p:nvPicPr>
          <p:cNvPr id="17" name="Image 1" descr="assets/altkom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9760" y="6038850"/>
            <a:ext cx="637540" cy="2565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46410" y="6054281"/>
            <a:ext cx="508000" cy="1524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000000"/>
                </a:solidFill>
                <a:latin typeface="DM Sans"/>
                <a:ea typeface="DM Sans"/>
                <a:cs typeface="DM Sans"/>
              </a:defRPr>
            </a:lvl1pPr>
          </a:lstStyle>
          <a:p>
            <a:pPr algn="r"/>
            <a:fld id="{F7021451-1387-4CA6-816F-3879F97B5CBC}" type="slidenum">
              <a:rPr b="0" lang="en-US"/>
              <a:t>49</a:t>
            </a:fld>
            <a:endParaRPr 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2300" y="1121601"/>
            <a:ext cx="10185400" cy="522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13"/>
              </a:lnSpc>
              <a:buNone/>
            </a:pPr>
            <a:r>
              <a:rPr lang="en-US" sz="305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RESTORE, cofanie zmian</a:t>
            </a:r>
            <a:endParaRPr lang="en-US" sz="3050" dirty="0"/>
          </a:p>
        </p:txBody>
      </p:sp>
      <p:sp>
        <p:nvSpPr>
          <p:cNvPr id="3" name="Text 1"/>
          <p:cNvSpPr/>
          <p:nvPr/>
        </p:nvSpPr>
        <p:spPr>
          <a:xfrm>
            <a:off x="619760" y="1971040"/>
            <a:ext cx="10191750" cy="1475740"/>
          </a:xfrm>
          <a:prstGeom prst="roundRect">
            <a:avLst>
              <a:gd name="adj" fmla="val 5164"/>
            </a:avLst>
          </a:prstGeom>
          <a:solidFill>
            <a:srgbClr val="F2F2F2"/>
          </a:solidFill>
          <a:ln/>
        </p:spPr>
        <p:txBody>
          <a:bodyPr wrap="square" lIns="142240" tIns="82017" rIns="7620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22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-- Przywrócenie konkretnej wersji</a:t>
            </a:r>
            <a:endParaRPr lang="en-US" sz="122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22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RESTORE TABLE orders TO VERSION AS OF 2</a:t>
            </a:r>
            <a:endParaRPr lang="en-US" sz="122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22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endParaRPr lang="en-US" sz="122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22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-- Przywrócenie stanu z danej chwili</a:t>
            </a:r>
            <a:endParaRPr lang="en-US" sz="122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22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RESTORE TABLE orders TO TIMESTAMP AS OF '2024-01-10 08:00:00'</a:t>
            </a:r>
            <a:endParaRPr lang="en-US" sz="1220" dirty="0"/>
          </a:p>
        </p:txBody>
      </p:sp>
      <p:sp>
        <p:nvSpPr>
          <p:cNvPr id="4" name="Text 2"/>
          <p:cNvSpPr/>
          <p:nvPr/>
        </p:nvSpPr>
        <p:spPr>
          <a:xfrm>
            <a:off x="619760" y="3619500"/>
            <a:ext cx="3295650" cy="1638300"/>
          </a:xfrm>
          <a:prstGeom prst="roundRect">
            <a:avLst>
              <a:gd name="adj" fmla="val 4651"/>
            </a:avLst>
          </a:prstGeom>
          <a:solidFill>
            <a:srgbClr val="F8DEDC"/>
          </a:solidFill>
          <a:ln/>
        </p:spPr>
        <p:txBody>
          <a:bodyPr wrap="square" lIns="154940" tIns="133185" rIns="38100" bIns="0" rtlCol="0" anchor="t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53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RESTORE tworzy nową wersję</a:t>
            </a:r>
            <a:endParaRPr lang="en-US" sz="1530" dirty="0"/>
          </a:p>
          <a:p>
            <a:pPr algn="l" indent="0" marL="0">
              <a:lnSpc>
                <a:spcPts val="1950"/>
              </a:lnSpc>
              <a:spcBef>
                <a:spcPts val="504"/>
              </a:spcBef>
              <a:buNone/>
            </a:pPr>
            <a:r>
              <a:rPr lang="en-US" sz="122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Nie kasuje historii. Sama operacja RESTORE zapisuje się jako nowa wersja, w pełni audytowalna. Historia tabeli zostaje.</a:t>
            </a:r>
            <a:endParaRPr lang="en-US" sz="1530" dirty="0"/>
          </a:p>
        </p:txBody>
      </p:sp>
      <p:sp>
        <p:nvSpPr>
          <p:cNvPr id="5" name="Text 3"/>
          <p:cNvSpPr/>
          <p:nvPr/>
        </p:nvSpPr>
        <p:spPr>
          <a:xfrm>
            <a:off x="4066540" y="3619500"/>
            <a:ext cx="3295650" cy="1638300"/>
          </a:xfrm>
          <a:prstGeom prst="roundRect">
            <a:avLst>
              <a:gd name="adj" fmla="val 4651"/>
            </a:avLst>
          </a:prstGeom>
          <a:solidFill>
            <a:srgbClr val="F8DEDC"/>
          </a:solidFill>
          <a:ln/>
        </p:spPr>
        <p:txBody>
          <a:bodyPr wrap="square" lIns="154940" tIns="133185" rIns="101600" bIns="0" rtlCol="0" anchor="t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53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Szybszy niż backup</a:t>
            </a:r>
            <a:endParaRPr lang="en-US" sz="1530" dirty="0"/>
          </a:p>
          <a:p>
            <a:pPr algn="l" indent="0" marL="0">
              <a:lnSpc>
                <a:spcPts val="1950"/>
              </a:lnSpc>
              <a:spcBef>
                <a:spcPts val="504"/>
              </a:spcBef>
              <a:buNone/>
            </a:pPr>
            <a:r>
              <a:rPr lang="en-US" sz="122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 przypadkowym DELETE albo OVERWRITE polecenie RESTORE działa rzędy wielkości szybciej niż klasyczny backup.</a:t>
            </a:r>
            <a:endParaRPr lang="en-US" sz="1530" dirty="0"/>
          </a:p>
        </p:txBody>
      </p:sp>
      <p:sp>
        <p:nvSpPr>
          <p:cNvPr id="6" name="Text 4"/>
          <p:cNvSpPr/>
          <p:nvPr/>
        </p:nvSpPr>
        <p:spPr>
          <a:xfrm>
            <a:off x="7515860" y="3619500"/>
            <a:ext cx="3295650" cy="1638300"/>
          </a:xfrm>
          <a:prstGeom prst="roundRect">
            <a:avLst>
              <a:gd name="adj" fmla="val 4651"/>
            </a:avLst>
          </a:prstGeom>
          <a:solidFill>
            <a:srgbClr val="F8DEDC"/>
          </a:solidFill>
          <a:ln/>
        </p:spPr>
        <p:txBody>
          <a:bodyPr wrap="square" lIns="154940" tIns="133185" rIns="38100" bIns="0" rtlCol="0" anchor="t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53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Ograniczenie retencji</a:t>
            </a:r>
            <a:endParaRPr lang="en-US" sz="1530" dirty="0"/>
          </a:p>
          <a:p>
            <a:pPr algn="l" indent="0" marL="0">
              <a:lnSpc>
                <a:spcPts val="1950"/>
              </a:lnSpc>
              <a:spcBef>
                <a:spcPts val="504"/>
              </a:spcBef>
              <a:buNone/>
            </a:pPr>
            <a:r>
              <a:rPr lang="en-US" sz="122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Przywrócisz tylko wersje, których pliki nadal istnieją. Jeśli VACUUM usunął stare pliki, tych wersji już nie odzyskasz.</a:t>
            </a:r>
            <a:endParaRPr lang="en-US" sz="1530" dirty="0"/>
          </a:p>
        </p:txBody>
      </p:sp>
      <p:pic>
        <p:nvPicPr>
          <p:cNvPr id="7" name="Image 0" descr="assets/altko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240" y="6038850"/>
            <a:ext cx="637540" cy="2565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61000" y="6054281"/>
            <a:ext cx="508000" cy="1524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000000"/>
                </a:solidFill>
                <a:latin typeface="DM Sans"/>
                <a:ea typeface="DM Sans"/>
                <a:cs typeface="DM Sans"/>
              </a:defRPr>
            </a:lvl1pPr>
          </a:lstStyle>
          <a:p>
            <a:pPr algn="ctr"/>
            <a:fld id="{F7021451-1387-4CA6-816F-3879F97B5CBC}" type="slidenum">
              <a:rPr b="0" lang="en-US"/>
              <a:t>50</a:t>
            </a:fld>
            <a:endParaRPr 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2300" y="651701"/>
            <a:ext cx="10185400" cy="522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13"/>
              </a:lnSpc>
              <a:buNone/>
            </a:pPr>
            <a:r>
              <a:rPr lang="en-US" sz="305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Jak utrzymać szybkie tabele Delta</a:t>
            </a:r>
            <a:endParaRPr lang="en-US" sz="3050" dirty="0"/>
          </a:p>
        </p:txBody>
      </p:sp>
      <p:sp>
        <p:nvSpPr>
          <p:cNvPr id="3" name="Text 1"/>
          <p:cNvSpPr txBox="1"/>
          <p:nvPr/>
        </p:nvSpPr>
        <p:spPr>
          <a:xfrm>
            <a:off x="622300" y="1379957"/>
            <a:ext cx="101854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22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Wiele małych plików spowalnia każde zapytanie. Delta ma na to trzy odpowiedzi, a na tabelach managed Databricks uruchamia je za Ciebie:</a:t>
            </a:r>
            <a:endParaRPr lang="en-US" sz="1220" dirty="0"/>
          </a:p>
        </p:txBody>
      </p:sp>
      <p:sp>
        <p:nvSpPr>
          <p:cNvPr id="4" name="Text 2"/>
          <p:cNvSpPr/>
          <p:nvPr/>
        </p:nvSpPr>
        <p:spPr>
          <a:xfrm>
            <a:off x="619760" y="1905000"/>
            <a:ext cx="3295650" cy="17780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9050">
            <a:solidFill>
              <a:srgbClr val="F8DEDC"/>
            </a:solidFill>
          </a:ln>
        </p:spPr>
        <p:txBody>
          <a:bodyPr wrap="square" lIns="154940" tIns="133185" rIns="101600" bIns="0" rtlCol="0" anchor="t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53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OPTIMIZE</a:t>
            </a:r>
            <a:endParaRPr lang="en-US" sz="1530" dirty="0"/>
          </a:p>
          <a:p>
            <a:pPr algn="l" indent="0" marL="0">
              <a:lnSpc>
                <a:spcPts val="1980"/>
              </a:lnSpc>
              <a:spcBef>
                <a:spcPts val="474"/>
              </a:spcBef>
              <a:buNone/>
            </a:pPr>
            <a:r>
              <a:rPr lang="en-US" sz="122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Scala małe pliki w większe. Uruchom po intensywnych zapisach albo zostaw decyzję predictive optimization.</a:t>
            </a:r>
            <a:endParaRPr lang="en-US" sz="1530" dirty="0"/>
          </a:p>
        </p:txBody>
      </p:sp>
      <p:sp>
        <p:nvSpPr>
          <p:cNvPr id="5" name="Text 3"/>
          <p:cNvSpPr/>
          <p:nvPr/>
        </p:nvSpPr>
        <p:spPr>
          <a:xfrm>
            <a:off x="4066540" y="1905000"/>
            <a:ext cx="3295650" cy="17780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9050">
            <a:solidFill>
              <a:srgbClr val="F8DEDC"/>
            </a:solidFill>
          </a:ln>
        </p:spPr>
        <p:txBody>
          <a:bodyPr wrap="square" lIns="154940" tIns="133185" rIns="101600" bIns="0" rtlCol="0" anchor="t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53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VACUUM</a:t>
            </a:r>
            <a:endParaRPr lang="en-US" sz="1530" dirty="0"/>
          </a:p>
          <a:p>
            <a:pPr algn="l" indent="0" marL="0">
              <a:lnSpc>
                <a:spcPts val="1980"/>
              </a:lnSpc>
              <a:spcBef>
                <a:spcPts val="474"/>
              </a:spcBef>
              <a:buNone/>
            </a:pPr>
            <a:r>
              <a:rPr lang="en-US" sz="122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Usuwa pliki, do których nie odwołuje się żadna żywa wersja. Domyślna retencja to 7 dni i tyle samo wynosi zasięg time travel.</a:t>
            </a:r>
            <a:endParaRPr lang="en-US" sz="1530" dirty="0"/>
          </a:p>
        </p:txBody>
      </p:sp>
      <p:sp>
        <p:nvSpPr>
          <p:cNvPr id="6" name="Text 4"/>
          <p:cNvSpPr/>
          <p:nvPr/>
        </p:nvSpPr>
        <p:spPr>
          <a:xfrm>
            <a:off x="7515860" y="1905000"/>
            <a:ext cx="3295650" cy="17780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9050">
            <a:solidFill>
              <a:srgbClr val="F8DEDC"/>
            </a:solidFill>
          </a:ln>
        </p:spPr>
        <p:txBody>
          <a:bodyPr wrap="square" lIns="154940" tIns="133185" rIns="101600" bIns="0" rtlCol="0" anchor="t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53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Liquid clustering</a:t>
            </a:r>
            <a:endParaRPr lang="en-US" sz="1530" dirty="0"/>
          </a:p>
          <a:p>
            <a:pPr algn="l" indent="0" marL="0">
              <a:lnSpc>
                <a:spcPts val="1980"/>
              </a:lnSpc>
              <a:spcBef>
                <a:spcPts val="474"/>
              </a:spcBef>
              <a:buNone/>
            </a:pPr>
            <a:r>
              <a:rPr lang="en-US" sz="1220" dirty="0">
                <a:solidFill>
                  <a:srgbClr val="000000"/>
                </a:solidFill>
                <a:highlight>
                  <a:srgbClr val="F2F2F2"/>
                </a:highlight>
                <a:latin typeface="Open Sans" pitchFamily="34" charset="0"/>
                <a:ea typeface="Open Sans" pitchFamily="34" charset="-122"/>
                <a:cs typeface="Open Sans" pitchFamily="34" charset="-120"/>
              </a:rPr>
              <a:t>CLUSTER BY</a:t>
            </a:r>
            <a:pPr algn="l" indent="0" marL="0">
              <a:lnSpc>
                <a:spcPts val="1980"/>
              </a:lnSpc>
              <a:spcBef>
                <a:spcPts val="474"/>
              </a:spcBef>
              <a:buNone/>
            </a:pPr>
            <a:r>
              <a:rPr lang="en-US" sz="122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zastępuje partycjonowanie i ZORDER. </a:t>
            </a:r>
            <a:pPr algn="l" indent="0" marL="0">
              <a:lnSpc>
                <a:spcPts val="1980"/>
              </a:lnSpc>
              <a:spcBef>
                <a:spcPts val="474"/>
              </a:spcBef>
              <a:buNone/>
            </a:pPr>
            <a:r>
              <a:rPr lang="en-US" sz="1220" dirty="0">
                <a:solidFill>
                  <a:srgbClr val="000000"/>
                </a:solidFill>
                <a:highlight>
                  <a:srgbClr val="F2F2F2"/>
                </a:highlight>
                <a:latin typeface="Open Sans" pitchFamily="34" charset="0"/>
                <a:ea typeface="Open Sans" pitchFamily="34" charset="-122"/>
                <a:cs typeface="Open Sans" pitchFamily="34" charset="-120"/>
              </a:rPr>
              <a:t>CLUSTER BY AUTO</a:t>
            </a:r>
            <a:pPr algn="l" indent="0" marL="0">
              <a:lnSpc>
                <a:spcPts val="1980"/>
              </a:lnSpc>
              <a:spcBef>
                <a:spcPts val="474"/>
              </a:spcBef>
              <a:buNone/>
            </a:pPr>
            <a:r>
              <a:rPr lang="en-US" sz="122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pozwala Databricks dobrać klucze na podstawie historii zapytań.</a:t>
            </a:r>
            <a:endParaRPr lang="en-US" sz="1530" dirty="0"/>
          </a:p>
        </p:txBody>
      </p:sp>
      <p:sp>
        <p:nvSpPr>
          <p:cNvPr id="7" name="Text 5"/>
          <p:cNvSpPr txBox="1"/>
          <p:nvPr/>
        </p:nvSpPr>
        <p:spPr>
          <a:xfrm>
            <a:off x="622300" y="4057485"/>
            <a:ext cx="4826000" cy="11515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53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Predictive optimization</a:t>
            </a:r>
            <a:endParaRPr lang="en-US" sz="1530" dirty="0"/>
          </a:p>
          <a:p>
            <a:pPr algn="l" indent="0" marL="0">
              <a:lnSpc>
                <a:spcPts val="1950"/>
              </a:lnSpc>
              <a:spcBef>
                <a:spcPts val="1004"/>
              </a:spcBef>
              <a:buNone/>
            </a:pPr>
            <a:r>
              <a:rPr lang="en-US" sz="122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Na tabelach managed w Unity Catalog Databricks sam uruchamia OPTIMIZE, VACUUM i ANALYZE na compute serverless, a pomija je, gdy się nie opłacają.</a:t>
            </a:r>
            <a:endParaRPr lang="en-US" sz="1530" dirty="0"/>
          </a:p>
        </p:txBody>
      </p:sp>
      <p:sp>
        <p:nvSpPr>
          <p:cNvPr id="8" name="Text 6"/>
          <p:cNvSpPr txBox="1"/>
          <p:nvPr/>
        </p:nvSpPr>
        <p:spPr>
          <a:xfrm>
            <a:off x="5918200" y="4057485"/>
            <a:ext cx="4826000" cy="11515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53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 nadal zależy od Ciebie</a:t>
            </a:r>
            <a:endParaRPr lang="en-US" sz="1530" dirty="0"/>
          </a:p>
          <a:p>
            <a:pPr algn="l" indent="0" marL="0">
              <a:lnSpc>
                <a:spcPts val="1950"/>
              </a:lnSpc>
              <a:spcBef>
                <a:spcPts val="1004"/>
              </a:spcBef>
              <a:buNone/>
            </a:pPr>
            <a:r>
              <a:rPr lang="en-US" sz="122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Klucze klastrowania dla bardzo dużych tabel, retencja inna niż domyślna i to, czy tabela ma być managed. Tabele external utrzymujesz sam.</a:t>
            </a:r>
            <a:endParaRPr lang="en-US" sz="1530" dirty="0"/>
          </a:p>
        </p:txBody>
      </p:sp>
      <p:pic>
        <p:nvPicPr>
          <p:cNvPr id="9" name="Image 0" descr="assets/altko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240" y="6038850"/>
            <a:ext cx="637540" cy="2565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61000" y="6054281"/>
            <a:ext cx="508000" cy="1524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000000"/>
                </a:solidFill>
                <a:latin typeface="DM Sans"/>
                <a:ea typeface="DM Sans"/>
                <a:cs typeface="DM Sans"/>
              </a:defRPr>
            </a:lvl1pPr>
          </a:lstStyle>
          <a:p>
            <a:pPr algn="ctr"/>
            <a:fld id="{F7021451-1387-4CA6-816F-3879F97B5CBC}" type="slidenum">
              <a:rPr b="0" lang="en-US"/>
              <a:t>51</a:t>
            </a:fld>
            <a:endParaRPr 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9760" y="2562860"/>
            <a:ext cx="800100" cy="285750"/>
          </a:xfrm>
          <a:prstGeom prst="roundRect">
            <a:avLst>
              <a:gd name="adj" fmla="val 17778"/>
            </a:avLst>
          </a:prstGeom>
          <a:solidFill>
            <a:srgbClr val="F6D6D5"/>
          </a:solidFill>
          <a:ln/>
        </p:spPr>
        <p:txBody>
          <a:bodyPr wrap="square" lIns="95250" tIns="20599" rIns="2540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98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SEKCJA 6</a:t>
            </a:r>
            <a:endParaRPr lang="en-US" sz="980" dirty="0"/>
          </a:p>
        </p:txBody>
      </p:sp>
      <p:sp>
        <p:nvSpPr>
          <p:cNvPr id="3" name="Text 1"/>
          <p:cNvSpPr txBox="1"/>
          <p:nvPr/>
        </p:nvSpPr>
        <p:spPr>
          <a:xfrm>
            <a:off x="622300" y="2861501"/>
            <a:ext cx="10185400" cy="522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13"/>
              </a:lnSpc>
              <a:buNone/>
            </a:pPr>
            <a:r>
              <a:rPr lang="en-US" sz="305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Orkiestracja w Lakeflow</a:t>
            </a:r>
            <a:endParaRPr lang="en-US" sz="3050" dirty="0"/>
          </a:p>
        </p:txBody>
      </p:sp>
      <p:sp>
        <p:nvSpPr>
          <p:cNvPr id="4" name="Text 2"/>
          <p:cNvSpPr txBox="1"/>
          <p:nvPr/>
        </p:nvSpPr>
        <p:spPr>
          <a:xfrm>
            <a:off x="622300" y="3577057"/>
            <a:ext cx="101854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22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Od ręcznego uruchamiania notebooków do pewnych, monitorowanych pipeline’ów produkcyjnych.</a:t>
            </a:r>
            <a:endParaRPr lang="en-US" sz="1220" dirty="0"/>
          </a:p>
        </p:txBody>
      </p:sp>
      <p:pic>
        <p:nvPicPr>
          <p:cNvPr id="5" name="Image 0" descr="assets/altko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240" y="6038850"/>
            <a:ext cx="637540" cy="2565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61000" y="6054281"/>
            <a:ext cx="508000" cy="1524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000000"/>
                </a:solidFill>
                <a:latin typeface="DM Sans"/>
                <a:ea typeface="DM Sans"/>
                <a:cs typeface="DM Sans"/>
              </a:defRPr>
            </a:lvl1pPr>
          </a:lstStyle>
          <a:p>
            <a:pPr algn="ctr"/>
            <a:fld id="{F7021451-1387-4CA6-816F-3879F97B5CBC}" type="slidenum">
              <a:rPr b="0" lang="en-US"/>
              <a:t>52</a:t>
            </a:fld>
            <a:endParaRPr lang="en-US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2300" y="1147001"/>
            <a:ext cx="10185400" cy="522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13"/>
              </a:lnSpc>
              <a:buNone/>
            </a:pPr>
            <a:r>
              <a:rPr lang="en-US" sz="305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 co nam orkiestracja?</a:t>
            </a:r>
            <a:endParaRPr lang="en-US" sz="3050" dirty="0"/>
          </a:p>
        </p:txBody>
      </p:sp>
      <p:sp>
        <p:nvSpPr>
          <p:cNvPr id="3" name="Shape 1"/>
          <p:cNvSpPr/>
          <p:nvPr/>
        </p:nvSpPr>
        <p:spPr>
          <a:xfrm>
            <a:off x="619760" y="2000250"/>
            <a:ext cx="10191750" cy="1390650"/>
          </a:xfrm>
          <a:prstGeom prst="roundRect">
            <a:avLst>
              <a:gd name="adj" fmla="val 5479"/>
            </a:avLst>
          </a:prstGeom>
          <a:solidFill>
            <a:srgbClr val="F8DEDC"/>
          </a:solidFill>
          <a:ln/>
        </p:spPr>
      </p:sp>
      <p:sp>
        <p:nvSpPr>
          <p:cNvPr id="4" name="Shape 2"/>
          <p:cNvSpPr/>
          <p:nvPr/>
        </p:nvSpPr>
        <p:spPr>
          <a:xfrm>
            <a:off x="5715000" y="2000250"/>
            <a:ext cx="19050" cy="1390650"/>
          </a:xfrm>
          <a:prstGeom prst="rect">
            <a:avLst/>
          </a:prstGeom>
          <a:solidFill>
            <a:srgbClr val="DEC4C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4700" y="2127085"/>
            <a:ext cx="4826000" cy="10880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53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Problem: ręczne uruchamianie</a:t>
            </a:r>
            <a:endParaRPr lang="en-US" sz="1530" dirty="0"/>
          </a:p>
          <a:p>
            <a:pPr algn="l" indent="0" marL="0">
              <a:lnSpc>
                <a:spcPts val="1950"/>
              </a:lnSpc>
              <a:spcBef>
                <a:spcPts val="504"/>
              </a:spcBef>
              <a:buNone/>
            </a:pPr>
            <a:r>
              <a:rPr lang="en-US" sz="122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Ręczne odpalanie notebooków nie daje powtarzalności, śladu audytowego, alertów ani zależności. Jeden pominięty bieg to nieaktualne dane na produkcji.</a:t>
            </a:r>
            <a:endParaRPr lang="en-US" sz="1530" dirty="0"/>
          </a:p>
        </p:txBody>
      </p:sp>
      <p:sp>
        <p:nvSpPr>
          <p:cNvPr id="6" name="Text 4"/>
          <p:cNvSpPr txBox="1"/>
          <p:nvPr/>
        </p:nvSpPr>
        <p:spPr>
          <a:xfrm>
            <a:off x="5871210" y="2127085"/>
            <a:ext cx="4851400" cy="10880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53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Rozwiązanie: Lakeflow Jobs</a:t>
            </a:r>
            <a:endParaRPr lang="en-US" sz="1530" dirty="0"/>
          </a:p>
          <a:p>
            <a:pPr algn="l" indent="0" marL="0">
              <a:lnSpc>
                <a:spcPts val="1950"/>
              </a:lnSpc>
              <a:spcBef>
                <a:spcPts val="504"/>
              </a:spcBef>
              <a:buNone/>
            </a:pPr>
            <a:r>
              <a:rPr lang="en-US" sz="122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Lakeflow Job to zadeklarowany DAG tasków z harmonogramem i monitoringiem. Sam obsługuje ponowienia, zależności, repair run i śledzenie kosztów.</a:t>
            </a:r>
            <a:endParaRPr lang="en-US" sz="1530" dirty="0"/>
          </a:p>
        </p:txBody>
      </p:sp>
      <p:sp>
        <p:nvSpPr>
          <p:cNvPr id="7" name="Text 5"/>
          <p:cNvSpPr/>
          <p:nvPr/>
        </p:nvSpPr>
        <p:spPr>
          <a:xfrm>
            <a:off x="628650" y="3571240"/>
            <a:ext cx="3276600" cy="1657350"/>
          </a:xfrm>
          <a:prstGeom prst="roundRect">
            <a:avLst>
              <a:gd name="adj" fmla="val 4598"/>
            </a:avLst>
          </a:prstGeom>
          <a:solidFill>
            <a:srgbClr val="FFFFFF"/>
          </a:solidFill>
          <a:ln w="19050">
            <a:solidFill>
              <a:srgbClr val="F8DEDC"/>
            </a:solidFill>
          </a:ln>
        </p:spPr>
        <p:txBody>
          <a:bodyPr wrap="square" lIns="171450" tIns="134455" rIns="63500" bIns="0" rtlCol="0" anchor="t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53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 porównaniu z cronem</a:t>
            </a:r>
            <a:endParaRPr lang="en-US" sz="1530" dirty="0"/>
          </a:p>
          <a:p>
            <a:pPr algn="l" indent="0" marL="0">
              <a:lnSpc>
                <a:spcPts val="1950"/>
              </a:lnSpc>
              <a:spcBef>
                <a:spcPts val="574"/>
              </a:spcBef>
              <a:buNone/>
            </a:pPr>
            <a:r>
              <a:rPr lang="en-US" sz="122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Lakeflow Jobs dokłada zależności między taskami, równoległość, ponowienia per task i repair run. Tego cron po prostu nie ma.</a:t>
            </a:r>
            <a:endParaRPr lang="en-US" sz="1530" dirty="0"/>
          </a:p>
        </p:txBody>
      </p:sp>
      <p:sp>
        <p:nvSpPr>
          <p:cNvPr id="8" name="Text 6"/>
          <p:cNvSpPr/>
          <p:nvPr/>
        </p:nvSpPr>
        <p:spPr>
          <a:xfrm>
            <a:off x="4076700" y="3571240"/>
            <a:ext cx="3276600" cy="1657350"/>
          </a:xfrm>
          <a:prstGeom prst="roundRect">
            <a:avLst>
              <a:gd name="adj" fmla="val 4598"/>
            </a:avLst>
          </a:prstGeom>
          <a:solidFill>
            <a:srgbClr val="FFFFFF"/>
          </a:solidFill>
          <a:ln w="19050">
            <a:solidFill>
              <a:srgbClr val="F8DEDC"/>
            </a:solidFill>
          </a:ln>
        </p:spPr>
        <p:txBody>
          <a:bodyPr wrap="square" lIns="171450" tIns="134455" rIns="63500" bIns="0" rtlCol="0" anchor="t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53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Ekonomia job clustera</a:t>
            </a:r>
            <a:endParaRPr lang="en-US" sz="1530" dirty="0"/>
          </a:p>
          <a:p>
            <a:pPr algn="l" indent="0" marL="0">
              <a:lnSpc>
                <a:spcPts val="1950"/>
              </a:lnSpc>
              <a:spcBef>
                <a:spcPts val="574"/>
              </a:spcBef>
              <a:buNone/>
            </a:pPr>
            <a:r>
              <a:rPr lang="en-US" sz="122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Serverless albo job cluster startuje na czas biegu i gaśnie zaraz po nim. Zero kosztu bezczynności, dlatego produkcja nie chodzi na all-purpose.</a:t>
            </a:r>
            <a:endParaRPr lang="en-US" sz="1530" dirty="0"/>
          </a:p>
        </p:txBody>
      </p:sp>
      <p:sp>
        <p:nvSpPr>
          <p:cNvPr id="9" name="Text 7"/>
          <p:cNvSpPr/>
          <p:nvPr/>
        </p:nvSpPr>
        <p:spPr>
          <a:xfrm>
            <a:off x="7524750" y="3571240"/>
            <a:ext cx="3276600" cy="1657350"/>
          </a:xfrm>
          <a:prstGeom prst="roundRect">
            <a:avLst>
              <a:gd name="adj" fmla="val 4598"/>
            </a:avLst>
          </a:prstGeom>
          <a:solidFill>
            <a:srgbClr val="FFFFFF"/>
          </a:solidFill>
          <a:ln w="19050">
            <a:solidFill>
              <a:srgbClr val="F8DEDC"/>
            </a:solidFill>
          </a:ln>
        </p:spPr>
        <p:txBody>
          <a:bodyPr wrap="square" lIns="171450" tIns="134455" rIns="63500" bIns="0" rtlCol="0" anchor="t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53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Pełna audytowalność</a:t>
            </a:r>
            <a:endParaRPr lang="en-US" sz="1530" dirty="0"/>
          </a:p>
          <a:p>
            <a:pPr algn="l" indent="0" marL="0">
              <a:lnSpc>
                <a:spcPts val="1950"/>
              </a:lnSpc>
              <a:spcBef>
                <a:spcPts val="574"/>
              </a:spcBef>
              <a:buNone/>
            </a:pPr>
            <a:r>
              <a:rPr lang="en-US" sz="122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Każdy bieg jest zapisany: czas startu i końca, koszt, status i wynik. Odtworzysz dokładnie, co i kiedy się wykonało.</a:t>
            </a:r>
            <a:endParaRPr lang="en-US" sz="1530" dirty="0"/>
          </a:p>
        </p:txBody>
      </p:sp>
      <p:pic>
        <p:nvPicPr>
          <p:cNvPr id="10" name="Image 0" descr="assets/altko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240" y="6038850"/>
            <a:ext cx="637540" cy="2565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61000" y="6054281"/>
            <a:ext cx="508000" cy="1524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000000"/>
                </a:solidFill>
                <a:latin typeface="DM Sans"/>
                <a:ea typeface="DM Sans"/>
                <a:cs typeface="DM Sans"/>
              </a:defRPr>
            </a:lvl1pPr>
          </a:lstStyle>
          <a:p>
            <a:pPr algn="ctr"/>
            <a:fld id="{F7021451-1387-4CA6-816F-3879F97B5CBC}" type="slidenum">
              <a:rPr b="0" lang="en-US"/>
              <a:t>53</a:t>
            </a:fld>
            <a:endParaRPr lang="en-US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p48_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42480" y="8890"/>
            <a:ext cx="4288790" cy="642874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22300" y="527253"/>
            <a:ext cx="6350000" cy="425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50"/>
              </a:lnSpc>
              <a:buNone/>
            </a:pPr>
            <a:r>
              <a:rPr lang="en-US" sz="244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Budowa Lakeflow Joba</a:t>
            </a:r>
            <a:endParaRPr lang="en-US" sz="2440" dirty="0"/>
          </a:p>
        </p:txBody>
      </p:sp>
      <p:sp>
        <p:nvSpPr>
          <p:cNvPr id="4" name="Text 1"/>
          <p:cNvSpPr txBox="1"/>
          <p:nvPr/>
        </p:nvSpPr>
        <p:spPr>
          <a:xfrm>
            <a:off x="622300" y="1503147"/>
            <a:ext cx="5969000" cy="649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122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Task</a:t>
            </a:r>
            <a:endParaRPr lang="en-US" sz="1220" dirty="0"/>
          </a:p>
          <a:p>
            <a:pPr algn="l" indent="0" marL="0">
              <a:lnSpc>
                <a:spcPts val="1450"/>
              </a:lnSpc>
              <a:spcBef>
                <a:spcPts val="386"/>
              </a:spcBef>
              <a:buNone/>
            </a:pPr>
            <a:r>
              <a:rPr lang="en-US" sz="98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Najmniejsza jednostka pracy: notebook, skrypt Python, zapytanie SQL, projekt dbt albo pipeline Lakeflow. Każdy task ma własną konfigurację i status.</a:t>
            </a:r>
            <a:endParaRPr lang="en-US" sz="1220" dirty="0"/>
          </a:p>
        </p:txBody>
      </p:sp>
      <p:sp>
        <p:nvSpPr>
          <p:cNvPr id="5" name="Text 2"/>
          <p:cNvSpPr txBox="1"/>
          <p:nvPr/>
        </p:nvSpPr>
        <p:spPr>
          <a:xfrm>
            <a:off x="622300" y="2747747"/>
            <a:ext cx="5969000" cy="649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122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Depends on</a:t>
            </a:r>
            <a:endParaRPr lang="en-US" sz="1220" dirty="0"/>
          </a:p>
          <a:p>
            <a:pPr algn="l" indent="0" marL="0">
              <a:lnSpc>
                <a:spcPts val="1450"/>
              </a:lnSpc>
              <a:spcBef>
                <a:spcPts val="386"/>
              </a:spcBef>
              <a:buNone/>
            </a:pPr>
            <a:r>
              <a:rPr lang="en-US" sz="98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Krawędź grafu. Task Silver rusza dopiero po udanym Bronze. Awaria zatrzymuje kaskadę, kolejne taski są pomijane, a nie psute.</a:t>
            </a:r>
            <a:endParaRPr lang="en-US" sz="1220" dirty="0"/>
          </a:p>
        </p:txBody>
      </p:sp>
      <p:sp>
        <p:nvSpPr>
          <p:cNvPr id="6" name="Text 3"/>
          <p:cNvSpPr txBox="1"/>
          <p:nvPr/>
        </p:nvSpPr>
        <p:spPr>
          <a:xfrm>
            <a:off x="622300" y="3992347"/>
            <a:ext cx="5969000" cy="649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122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Parametry</a:t>
            </a:r>
            <a:endParaRPr lang="en-US" sz="1220" dirty="0"/>
          </a:p>
          <a:p>
            <a:pPr algn="l" indent="0" marL="0">
              <a:lnSpc>
                <a:spcPts val="1450"/>
              </a:lnSpc>
              <a:spcBef>
                <a:spcPts val="386"/>
              </a:spcBef>
              <a:buNone/>
            </a:pPr>
            <a:r>
              <a:rPr lang="en-US" sz="98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Przekazujesz je do notebooków przez </a:t>
            </a:r>
            <a:pPr algn="l" indent="0" marL="0">
              <a:lnSpc>
                <a:spcPts val="1450"/>
              </a:lnSpc>
              <a:spcBef>
                <a:spcPts val="386"/>
              </a:spcBef>
              <a:buNone/>
            </a:pPr>
            <a:r>
              <a:rPr lang="en-US" sz="980" dirty="0">
                <a:solidFill>
                  <a:srgbClr val="000000"/>
                </a:solidFill>
                <a:highlight>
                  <a:srgbClr val="F2F2F2"/>
                </a:highlight>
                <a:latin typeface="Open Sans" pitchFamily="34" charset="0"/>
                <a:ea typeface="Open Sans" pitchFamily="34" charset="-122"/>
                <a:cs typeface="Open Sans" pitchFamily="34" charset="-120"/>
              </a:rPr>
              <a:t>dbutils.widgets</a:t>
            </a:r>
            <a:pPr algn="l" indent="0" marL="0">
              <a:lnSpc>
                <a:spcPts val="1450"/>
              </a:lnSpc>
              <a:spcBef>
                <a:spcPts val="386"/>
              </a:spcBef>
              <a:buNone/>
            </a:pPr>
            <a:r>
              <a:rPr lang="en-US" sz="98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lub </a:t>
            </a:r>
            <a:pPr algn="l" indent="0" marL="0">
              <a:lnSpc>
                <a:spcPts val="1450"/>
              </a:lnSpc>
              <a:spcBef>
                <a:spcPts val="386"/>
              </a:spcBef>
              <a:buNone/>
            </a:pPr>
            <a:r>
              <a:rPr lang="en-US" sz="980" dirty="0">
                <a:solidFill>
                  <a:srgbClr val="000000"/>
                </a:solidFill>
                <a:highlight>
                  <a:srgbClr val="F2F2F2"/>
                </a:highlight>
                <a:latin typeface="Open Sans" pitchFamily="34" charset="0"/>
                <a:ea typeface="Open Sans" pitchFamily="34" charset="-122"/>
                <a:cs typeface="Open Sans" pitchFamily="34" charset="-120"/>
              </a:rPr>
              <a:t>sys.argv</a:t>
            </a:r>
            <a:pPr algn="l" indent="0" marL="0">
              <a:lnSpc>
                <a:spcPts val="1450"/>
              </a:lnSpc>
              <a:spcBef>
                <a:spcPts val="386"/>
              </a:spcBef>
              <a:buNone/>
            </a:pPr>
            <a:r>
              <a:rPr lang="en-US" sz="98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 Dzięki temu pipeline działa dla różnych dat, środowisk i źródeł.</a:t>
            </a:r>
            <a:endParaRPr lang="en-US" sz="1220" dirty="0"/>
          </a:p>
        </p:txBody>
      </p:sp>
      <p:sp>
        <p:nvSpPr>
          <p:cNvPr id="7" name="Text 4"/>
          <p:cNvSpPr txBox="1"/>
          <p:nvPr/>
        </p:nvSpPr>
        <p:spPr>
          <a:xfrm>
            <a:off x="622300" y="5236947"/>
            <a:ext cx="5969000" cy="6560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122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Ponowienia</a:t>
            </a:r>
            <a:endParaRPr lang="en-US" sz="1220" dirty="0"/>
          </a:p>
          <a:p>
            <a:pPr algn="l" indent="0" marL="0">
              <a:lnSpc>
                <a:spcPts val="1450"/>
              </a:lnSpc>
              <a:spcBef>
                <a:spcPts val="436"/>
              </a:spcBef>
              <a:buNone/>
            </a:pPr>
            <a:r>
              <a:rPr lang="en-US" sz="98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Automatyczne ponowienie po błędzie, konfigurowane per task. Krytyczny task może próbować 3 razy, idempotentny raz.</a:t>
            </a:r>
            <a:endParaRPr lang="en-US" sz="1220" dirty="0"/>
          </a:p>
        </p:txBody>
      </p:sp>
      <p:pic>
        <p:nvPicPr>
          <p:cNvPr id="8" name="Image 1" descr="assets/icon_p48_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075690"/>
            <a:ext cx="267970" cy="349250"/>
          </a:xfrm>
          <a:prstGeom prst="rect">
            <a:avLst/>
          </a:prstGeom>
        </p:spPr>
      </p:pic>
      <p:pic>
        <p:nvPicPr>
          <p:cNvPr id="9" name="Image 2" descr="assets/icon_p48_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730" y="2324100"/>
            <a:ext cx="281940" cy="347980"/>
          </a:xfrm>
          <a:prstGeom prst="rect">
            <a:avLst/>
          </a:prstGeom>
        </p:spPr>
      </p:pic>
      <p:pic>
        <p:nvPicPr>
          <p:cNvPr id="10" name="Image 3" descr="assets/icon_p48_2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710" y="3599180"/>
            <a:ext cx="347980" cy="274320"/>
          </a:xfrm>
          <a:prstGeom prst="rect">
            <a:avLst/>
          </a:prstGeom>
        </p:spPr>
      </p:pic>
      <p:pic>
        <p:nvPicPr>
          <p:cNvPr id="11" name="Image 4" descr="assets/icon_p48_3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780" y="4819650"/>
            <a:ext cx="242570" cy="347980"/>
          </a:xfrm>
          <a:prstGeom prst="rect">
            <a:avLst/>
          </a:prstGeom>
        </p:spPr>
      </p:pic>
      <p:pic>
        <p:nvPicPr>
          <p:cNvPr id="12" name="Image 5" descr="assets/altkom_logo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2240" y="6038850"/>
            <a:ext cx="637540" cy="2565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6614160" y="6054281"/>
            <a:ext cx="508000" cy="1524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000000"/>
                </a:solidFill>
                <a:latin typeface="DM Sans"/>
                <a:ea typeface="DM Sans"/>
                <a:cs typeface="DM Sans"/>
              </a:defRPr>
            </a:lvl1pPr>
          </a:lstStyle>
          <a:p>
            <a:pPr algn="ctr"/>
            <a:fld id="{F7021451-1387-4CA6-816F-3879F97B5CBC}" type="slidenum">
              <a:rPr b="0" lang="en-US"/>
              <a:t>54</a:t>
            </a:fld>
            <a:endParaRPr lang="en-US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2300" y="1032701"/>
            <a:ext cx="10185400" cy="522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13"/>
              </a:lnSpc>
              <a:buNone/>
            </a:pPr>
            <a:r>
              <a:rPr lang="en-US" sz="305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Harmonogram i monitoring</a:t>
            </a:r>
            <a:endParaRPr lang="en-US" sz="3050" dirty="0"/>
          </a:p>
        </p:txBody>
      </p:sp>
      <p:sp>
        <p:nvSpPr>
          <p:cNvPr id="3" name="Text 1"/>
          <p:cNvSpPr/>
          <p:nvPr/>
        </p:nvSpPr>
        <p:spPr>
          <a:xfrm>
            <a:off x="505460" y="1809750"/>
            <a:ext cx="5133340" cy="3534410"/>
          </a:xfrm>
          <a:prstGeom prst="roundRect">
            <a:avLst>
              <a:gd name="adj" fmla="val 2875"/>
            </a:avLst>
          </a:prstGeom>
          <a:solidFill>
            <a:srgbClr val="F8DEDC"/>
          </a:solidFill>
          <a:ln/>
        </p:spPr>
        <p:txBody>
          <a:bodyPr wrap="square" lIns="154940" tIns="126835" rIns="101600" bIns="0" rtlCol="0" anchor="t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53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Składnia CRON Quartz</a:t>
            </a:r>
            <a:endParaRPr lang="en-US" sz="1530" dirty="0"/>
          </a:p>
        </p:txBody>
      </p:sp>
      <p:sp>
        <p:nvSpPr>
          <p:cNvPr id="4" name="Text 2"/>
          <p:cNvSpPr/>
          <p:nvPr/>
        </p:nvSpPr>
        <p:spPr>
          <a:xfrm>
            <a:off x="666750" y="2381250"/>
            <a:ext cx="4819650" cy="734060"/>
          </a:xfrm>
          <a:prstGeom prst="roundRect">
            <a:avLst>
              <a:gd name="adj" fmla="val 10381"/>
            </a:avLst>
          </a:prstGeom>
          <a:solidFill>
            <a:srgbClr val="EBD1CF"/>
          </a:solidFill>
          <a:ln/>
        </p:spPr>
        <p:txBody>
          <a:bodyPr wrap="square" lIns="146050" tIns="78207" rIns="7620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22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 0 6 * * ?</a:t>
            </a:r>
            <a:endParaRPr lang="en-US" sz="122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22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# = codziennie o 06:00</a:t>
            </a:r>
            <a:endParaRPr lang="en-US" sz="1220" dirty="0"/>
          </a:p>
        </p:txBody>
      </p:sp>
      <p:sp>
        <p:nvSpPr>
          <p:cNvPr id="5" name="Text 3"/>
          <p:cNvSpPr txBox="1"/>
          <p:nvPr/>
        </p:nvSpPr>
        <p:spPr>
          <a:xfrm>
            <a:off x="660400" y="3235795"/>
            <a:ext cx="4826000" cy="15921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53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Rodzaje wyzwalaczy</a:t>
            </a:r>
            <a:endParaRPr lang="en-US" sz="1530" dirty="0"/>
          </a:p>
          <a:p>
            <a:pPr algn="l" marL="241300" indent="-241300">
              <a:lnSpc>
                <a:spcPts val="1950"/>
              </a:lnSpc>
              <a:spcBef>
                <a:spcPts val="974"/>
              </a:spcBef>
              <a:buSzPct val="100000"/>
              <a:buChar char="•"/>
            </a:pPr>
            <a:r>
              <a:rPr lang="en-US" sz="122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Manual</a:t>
            </a:r>
            <a:pPr algn="l" marL="241300" indent="-241300">
              <a:lnSpc>
                <a:spcPts val="1950"/>
              </a:lnSpc>
              <a:spcBef>
                <a:spcPts val="974"/>
              </a:spcBef>
              <a:buSzPct val="100000"/>
              <a:buChar char="•"/>
            </a:pPr>
            <a:r>
              <a:rPr lang="en-US" sz="122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uruchomienie na żądanie</a:t>
            </a:r>
            <a:endParaRPr lang="en-US" sz="1530" dirty="0"/>
          </a:p>
          <a:p>
            <a:pPr algn="l" marL="241300" indent="-241300">
              <a:lnSpc>
                <a:spcPts val="1950"/>
              </a:lnSpc>
              <a:spcBef>
                <a:spcPts val="650"/>
              </a:spcBef>
              <a:buSzPct val="100000"/>
              <a:buChar char="•"/>
            </a:pPr>
            <a:r>
              <a:rPr lang="en-US" sz="122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CRON</a:t>
            </a:r>
            <a:pPr algn="l" marL="241300" indent="-241300">
              <a:lnSpc>
                <a:spcPts val="1950"/>
              </a:lnSpc>
              <a:spcBef>
                <a:spcPts val="650"/>
              </a:spcBef>
              <a:buSzPct val="100000"/>
              <a:buChar char="•"/>
            </a:pPr>
            <a:r>
              <a:rPr lang="en-US" sz="122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harmonogram czasowy</a:t>
            </a:r>
            <a:endParaRPr lang="en-US" sz="1530" dirty="0"/>
          </a:p>
          <a:p>
            <a:pPr algn="l" marL="241300" indent="-241300">
              <a:lnSpc>
                <a:spcPts val="1950"/>
              </a:lnSpc>
              <a:spcBef>
                <a:spcPts val="450"/>
              </a:spcBef>
              <a:buSzPct val="100000"/>
              <a:buChar char="•"/>
            </a:pPr>
            <a:r>
              <a:rPr lang="en-US" sz="122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File arrival</a:t>
            </a:r>
            <a:pPr algn="l" marL="241300" indent="-241300">
              <a:lnSpc>
                <a:spcPts val="1950"/>
              </a:lnSpc>
              <a:spcBef>
                <a:spcPts val="450"/>
              </a:spcBef>
              <a:buSzPct val="100000"/>
              <a:buChar char="•"/>
            </a:pPr>
            <a:r>
              <a:rPr lang="en-US" sz="122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start po nowym pliku</a:t>
            </a:r>
            <a:endParaRPr lang="en-US" sz="1530" dirty="0"/>
          </a:p>
          <a:p>
            <a:pPr algn="l" marL="241300" indent="-241300">
              <a:lnSpc>
                <a:spcPts val="1950"/>
              </a:lnSpc>
              <a:spcBef>
                <a:spcPts val="450"/>
              </a:spcBef>
              <a:buSzPct val="100000"/>
              <a:buChar char="•"/>
            </a:pPr>
            <a:r>
              <a:rPr lang="en-US" sz="122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Continuous</a:t>
            </a:r>
            <a:pPr algn="l" marL="241300" indent="-241300">
              <a:lnSpc>
                <a:spcPts val="1950"/>
              </a:lnSpc>
              <a:spcBef>
                <a:spcPts val="450"/>
              </a:spcBef>
              <a:buSzPct val="100000"/>
              <a:buChar char="•"/>
            </a:pPr>
            <a:r>
              <a:rPr lang="en-US" sz="122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zadania strumieniowe</a:t>
            </a:r>
            <a:endParaRPr lang="en-US" sz="1530" dirty="0"/>
          </a:p>
        </p:txBody>
      </p:sp>
      <p:sp>
        <p:nvSpPr>
          <p:cNvPr id="6" name="Text 4"/>
          <p:cNvSpPr txBox="1"/>
          <p:nvPr/>
        </p:nvSpPr>
        <p:spPr>
          <a:xfrm>
            <a:off x="5922010" y="1936585"/>
            <a:ext cx="4927600" cy="32533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53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Repair run</a:t>
            </a:r>
            <a:endParaRPr lang="en-US" sz="1530" dirty="0"/>
          </a:p>
          <a:p>
            <a:pPr algn="l" indent="0" marL="0">
              <a:lnSpc>
                <a:spcPts val="1950"/>
              </a:lnSpc>
              <a:spcBef>
                <a:spcPts val="1004"/>
              </a:spcBef>
              <a:buNone/>
            </a:pPr>
            <a:r>
              <a:rPr lang="en-US" sz="122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Powtarza </a:t>
            </a:r>
            <a:pPr algn="l" indent="0" marL="0">
              <a:lnSpc>
                <a:spcPts val="1950"/>
              </a:lnSpc>
              <a:spcBef>
                <a:spcPts val="1004"/>
              </a:spcBef>
              <a:buNone/>
            </a:pPr>
            <a:r>
              <a:rPr lang="en-US" sz="122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tylko taski, które padły</a:t>
            </a:r>
            <a:pPr algn="l" indent="0" marL="0">
              <a:lnSpc>
                <a:spcPts val="1950"/>
              </a:lnSpc>
              <a:spcBef>
                <a:spcPts val="1004"/>
              </a:spcBef>
              <a:buNone/>
            </a:pPr>
            <a:r>
              <a:rPr lang="en-US" sz="122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a nie cały pipeline. Gdy Bronze się udał, a Silver nie, repair run rusza od Silver. Oszczędza czas i koszt compute.</a:t>
            </a:r>
            <a:endParaRPr lang="en-US" sz="1530" dirty="0"/>
          </a:p>
          <a:p>
            <a:pPr algn="l" indent="0" marL="0">
              <a:lnSpc>
                <a:spcPts val="1913"/>
              </a:lnSpc>
              <a:spcBef>
                <a:spcPts val="1463"/>
              </a:spcBef>
              <a:buNone/>
            </a:pPr>
            <a:r>
              <a:rPr lang="en-US" sz="153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Alerty</a:t>
            </a:r>
            <a:endParaRPr lang="en-US" sz="1530" dirty="0"/>
          </a:p>
          <a:p>
            <a:pPr algn="l" indent="0" marL="0">
              <a:lnSpc>
                <a:spcPts val="1950"/>
              </a:lnSpc>
              <a:spcBef>
                <a:spcPts val="974"/>
              </a:spcBef>
              <a:buNone/>
            </a:pPr>
            <a:r>
              <a:rPr lang="en-US" sz="122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Powiadomienia mailem lub webhookiem przy starcie, sukcesie, błędzie i pominięciu. Ustawisz je per job albo per task.</a:t>
            </a:r>
            <a:endParaRPr lang="en-US" sz="1530" dirty="0"/>
          </a:p>
          <a:p>
            <a:pPr algn="l" indent="0" marL="0">
              <a:lnSpc>
                <a:spcPts val="1913"/>
              </a:lnSpc>
              <a:spcBef>
                <a:spcPts val="1413"/>
              </a:spcBef>
              <a:buNone/>
            </a:pPr>
            <a:r>
              <a:rPr lang="en-US" sz="153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Panel metryk</a:t>
            </a:r>
            <a:endParaRPr lang="en-US" sz="1530" dirty="0"/>
          </a:p>
          <a:p>
            <a:pPr algn="l" indent="0" marL="0">
              <a:lnSpc>
                <a:spcPts val="1950"/>
              </a:lnSpc>
              <a:spcBef>
                <a:spcPts val="1074"/>
              </a:spcBef>
              <a:buNone/>
            </a:pPr>
            <a:r>
              <a:rPr lang="en-US" sz="122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Czas wykonania, koszt i historia ostatnich biegów, wszystko w interfejsie Jobs.</a:t>
            </a:r>
            <a:endParaRPr lang="en-US" sz="1530" dirty="0"/>
          </a:p>
        </p:txBody>
      </p:sp>
      <p:pic>
        <p:nvPicPr>
          <p:cNvPr id="7" name="Image 0" descr="assets/altko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240" y="6038850"/>
            <a:ext cx="637540" cy="2565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61000" y="6054281"/>
            <a:ext cx="508000" cy="1524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000000"/>
                </a:solidFill>
                <a:latin typeface="DM Sans"/>
                <a:ea typeface="DM Sans"/>
                <a:cs typeface="DM Sans"/>
              </a:defRPr>
            </a:lvl1pPr>
          </a:lstStyle>
          <a:p>
            <a:pPr algn="ctr"/>
            <a:fld id="{F7021451-1387-4CA6-816F-3879F97B5CBC}" type="slidenum">
              <a:rPr b="0" lang="en-US"/>
              <a:t>55</a:t>
            </a:fld>
            <a:endParaRPr lang="en-US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2300" y="651701"/>
            <a:ext cx="10185400" cy="522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13"/>
              </a:lnSpc>
              <a:buNone/>
            </a:pPr>
            <a:r>
              <a:rPr lang="en-US" sz="305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Alternatywa deklaratywna: Lakeflow pipelines</a:t>
            </a:r>
            <a:endParaRPr lang="en-US" sz="3050" dirty="0"/>
          </a:p>
        </p:txBody>
      </p:sp>
      <p:sp>
        <p:nvSpPr>
          <p:cNvPr id="3" name="Text 1"/>
          <p:cNvSpPr txBox="1"/>
          <p:nvPr/>
        </p:nvSpPr>
        <p:spPr>
          <a:xfrm>
            <a:off x="622300" y="1379957"/>
            <a:ext cx="101854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22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Job orkiestruje notebooki, które napisałeś. Pipeline odwraca podejście: deklarujesz tabele, a Databricks ustala kolejność, logikę przyrostową i utrzymanie.</a:t>
            </a:r>
            <a:endParaRPr lang="en-US" sz="1220" dirty="0"/>
          </a:p>
        </p:txBody>
      </p:sp>
      <p:sp>
        <p:nvSpPr>
          <p:cNvPr id="4" name="Text 2"/>
          <p:cNvSpPr/>
          <p:nvPr/>
        </p:nvSpPr>
        <p:spPr>
          <a:xfrm>
            <a:off x="619760" y="2159000"/>
            <a:ext cx="5133340" cy="1968500"/>
          </a:xfrm>
          <a:prstGeom prst="roundRect">
            <a:avLst>
              <a:gd name="adj" fmla="val 3871"/>
            </a:avLst>
          </a:prstGeom>
          <a:solidFill>
            <a:srgbClr val="F2F2F2"/>
          </a:solidFill>
          <a:ln/>
        </p:spPr>
        <p:txBody>
          <a:bodyPr wrap="square" lIns="142240" tIns="102743" rIns="7620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from pyspark import pipelines as dp</a:t>
            </a:r>
            <a:endParaRPr lang="en-US" sz="1100" dirty="0"/>
          </a:p>
          <a:p>
            <a:pPr algn="l"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endParaRPr lang="en-US" sz="1100" dirty="0"/>
          </a:p>
          <a:p>
            <a:pPr algn="l"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@dp.table(name="silver_orders")</a:t>
            </a:r>
            <a:endParaRPr lang="en-US" sz="1100" dirty="0"/>
          </a:p>
          <a:p>
            <a:pPr algn="l"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@dp.expect_or_drop("valid_id", "order_id IS NOT NULL")</a:t>
            </a:r>
            <a:endParaRPr lang="en-US" sz="1100" dirty="0"/>
          </a:p>
          <a:p>
            <a:pPr algn="l"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def silver_orders():</a:t>
            </a:r>
            <a:endParaRPr lang="en-US" sz="1100" dirty="0"/>
          </a:p>
          <a:p>
            <a:pPr algn="l"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   return spark.readStream.table("bronze_orders")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922010" y="2292185"/>
            <a:ext cx="4902200" cy="24469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53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 dostajesz</a:t>
            </a:r>
            <a:endParaRPr lang="en-US" sz="1530" dirty="0"/>
          </a:p>
          <a:p>
            <a:pPr algn="l" indent="0" marL="0">
              <a:lnSpc>
                <a:spcPts val="1950"/>
              </a:lnSpc>
              <a:spcBef>
                <a:spcPts val="1004"/>
              </a:spcBef>
              <a:buNone/>
            </a:pPr>
            <a:r>
              <a:rPr lang="en-US" sz="122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Zależności wyprowadzone z kodu, odświeżanie przyrostowe, expectations dla jakości danych, automatyczne ponowienia i graf lineage całego przepływu.</a:t>
            </a:r>
            <a:endParaRPr lang="en-US" sz="1530" dirty="0"/>
          </a:p>
          <a:p>
            <a:pPr algn="l" indent="0" marL="0">
              <a:lnSpc>
                <a:spcPts val="1913"/>
              </a:lnSpc>
              <a:spcBef>
                <a:spcPts val="1433"/>
              </a:spcBef>
              <a:buNone/>
            </a:pPr>
            <a:r>
              <a:rPr lang="en-US" sz="153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 kiedy wybrać</a:t>
            </a:r>
            <a:endParaRPr lang="en-US" sz="1530" dirty="0"/>
          </a:p>
          <a:p>
            <a:pPr algn="l" indent="0" marL="0">
              <a:lnSpc>
                <a:spcPts val="1950"/>
              </a:lnSpc>
              <a:spcBef>
                <a:spcPts val="1004"/>
              </a:spcBef>
              <a:buNone/>
            </a:pPr>
            <a:r>
              <a:rPr lang="en-US" sz="122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Pipeline pasuje do ciągłego ETL do warstw medalionu. Job pasuje do reszty: notebooki ad hoc, dbt, SQL, machine learning albo wywołanie pipeline jako jednego tasku.</a:t>
            </a:r>
            <a:endParaRPr lang="en-US" sz="1530" dirty="0"/>
          </a:p>
        </p:txBody>
      </p:sp>
      <p:sp>
        <p:nvSpPr>
          <p:cNvPr id="6" name="Text 4"/>
          <p:cNvSpPr/>
          <p:nvPr/>
        </p:nvSpPr>
        <p:spPr>
          <a:xfrm>
            <a:off x="619760" y="5003800"/>
            <a:ext cx="10191750" cy="666750"/>
          </a:xfrm>
          <a:prstGeom prst="roundRect">
            <a:avLst>
              <a:gd name="adj" fmla="val 11429"/>
            </a:avLst>
          </a:prstGeom>
          <a:solidFill>
            <a:srgbClr val="F2C1BF"/>
          </a:solidFill>
          <a:ln/>
        </p:spPr>
        <p:txBody>
          <a:bodyPr wrap="square" lIns="497840" tIns="148057" rIns="15240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22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Delta Live Tables to stara nazwa tej funkcji, a </a:t>
            </a:r>
            <a:pPr algn="l" indent="0" marL="0">
              <a:lnSpc>
                <a:spcPts val="1950"/>
              </a:lnSpc>
              <a:buNone/>
            </a:pPr>
            <a:r>
              <a:rPr lang="en-US" sz="1220" dirty="0">
                <a:solidFill>
                  <a:srgbClr val="000000"/>
                </a:solidFill>
                <a:highlight>
                  <a:srgbClr val="F2F2F2"/>
                </a:highlight>
                <a:latin typeface="Open Sans" pitchFamily="34" charset="0"/>
                <a:ea typeface="Open Sans" pitchFamily="34" charset="-122"/>
                <a:cs typeface="Open Sans" pitchFamily="34" charset="-120"/>
              </a:rPr>
              <a:t>APPLY CHANGES INTO</a:t>
            </a:r>
            <a:pPr algn="l" indent="0" marL="0">
              <a:lnSpc>
                <a:spcPts val="1950"/>
              </a:lnSpc>
              <a:buNone/>
            </a:pPr>
            <a:r>
              <a:rPr lang="en-US" sz="122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to dziś </a:t>
            </a:r>
            <a:pPr algn="l" indent="0" marL="0">
              <a:lnSpc>
                <a:spcPts val="1950"/>
              </a:lnSpc>
              <a:buNone/>
            </a:pPr>
            <a:r>
              <a:rPr lang="en-US" sz="1220" dirty="0">
                <a:solidFill>
                  <a:srgbClr val="000000"/>
                </a:solidFill>
                <a:highlight>
                  <a:srgbClr val="F2F2F2"/>
                </a:highlight>
                <a:latin typeface="Open Sans" pitchFamily="34" charset="0"/>
                <a:ea typeface="Open Sans" pitchFamily="34" charset="-122"/>
                <a:cs typeface="Open Sans" pitchFamily="34" charset="-120"/>
              </a:rPr>
              <a:t>AUTO CDC INTO</a:t>
            </a:r>
            <a:pPr algn="l" indent="0" marL="0">
              <a:lnSpc>
                <a:spcPts val="1950"/>
              </a:lnSpc>
              <a:buNone/>
            </a:pPr>
            <a:r>
              <a:rPr lang="en-US" sz="122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 W starszych materiałach spotkasz obie formy.</a:t>
            </a:r>
            <a:endParaRPr lang="en-US" sz="1220" dirty="0"/>
          </a:p>
        </p:txBody>
      </p:sp>
      <p:pic>
        <p:nvPicPr>
          <p:cNvPr id="7" name="Image 0" descr="assets/icon_p32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0" y="5204460"/>
            <a:ext cx="173990" cy="172720"/>
          </a:xfrm>
          <a:prstGeom prst="rect">
            <a:avLst/>
          </a:prstGeom>
        </p:spPr>
      </p:pic>
      <p:pic>
        <p:nvPicPr>
          <p:cNvPr id="8" name="Image 1" descr="assets/altkom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240" y="6038850"/>
            <a:ext cx="637540" cy="2565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61000" y="6054281"/>
            <a:ext cx="508000" cy="1524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000000"/>
                </a:solidFill>
                <a:latin typeface="DM Sans"/>
                <a:ea typeface="DM Sans"/>
                <a:cs typeface="DM Sans"/>
              </a:defRPr>
            </a:lvl1pPr>
          </a:lstStyle>
          <a:p>
            <a:pPr algn="ctr"/>
            <a:fld id="{F7021451-1387-4CA6-816F-3879F97B5CBC}" type="slidenum">
              <a:rPr b="0" lang="en-US"/>
              <a:t>56</a:t>
            </a:fld>
            <a:endParaRPr lang="en-US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9760" y="2562860"/>
            <a:ext cx="800100" cy="285750"/>
          </a:xfrm>
          <a:prstGeom prst="roundRect">
            <a:avLst>
              <a:gd name="adj" fmla="val 17778"/>
            </a:avLst>
          </a:prstGeom>
          <a:solidFill>
            <a:srgbClr val="F6D6D5"/>
          </a:solidFill>
          <a:ln/>
        </p:spPr>
        <p:txBody>
          <a:bodyPr wrap="square" lIns="95250" tIns="20599" rIns="2540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98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SEKCJA 7</a:t>
            </a:r>
            <a:endParaRPr lang="en-US" sz="980" dirty="0"/>
          </a:p>
        </p:txBody>
      </p:sp>
      <p:sp>
        <p:nvSpPr>
          <p:cNvPr id="3" name="Text 1"/>
          <p:cNvSpPr txBox="1"/>
          <p:nvPr/>
        </p:nvSpPr>
        <p:spPr>
          <a:xfrm>
            <a:off x="622300" y="2861501"/>
            <a:ext cx="10185400" cy="522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13"/>
              </a:lnSpc>
              <a:buNone/>
            </a:pPr>
            <a:r>
              <a:rPr lang="en-US" sz="305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Unity Catalog i AI/BI</a:t>
            </a:r>
            <a:endParaRPr lang="en-US" sz="3050" dirty="0"/>
          </a:p>
        </p:txBody>
      </p:sp>
      <p:sp>
        <p:nvSpPr>
          <p:cNvPr id="4" name="Text 2"/>
          <p:cNvSpPr txBox="1"/>
          <p:nvPr/>
        </p:nvSpPr>
        <p:spPr>
          <a:xfrm>
            <a:off x="622300" y="3577057"/>
            <a:ext cx="101854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22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Governance dla firmy, lineage i wbudowana analityka, wszystko w Databricks.</a:t>
            </a:r>
            <a:endParaRPr lang="en-US" sz="1220" dirty="0"/>
          </a:p>
        </p:txBody>
      </p:sp>
      <p:pic>
        <p:nvPicPr>
          <p:cNvPr id="5" name="Image 0" descr="assets/altko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240" y="6038850"/>
            <a:ext cx="637540" cy="2565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61000" y="6054281"/>
            <a:ext cx="508000" cy="1524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000000"/>
                </a:solidFill>
                <a:latin typeface="DM Sans"/>
                <a:ea typeface="DM Sans"/>
                <a:cs typeface="DM Sans"/>
              </a:defRPr>
            </a:lvl1pPr>
          </a:lstStyle>
          <a:p>
            <a:pPr algn="ctr"/>
            <a:fld id="{F7021451-1387-4CA6-816F-3879F97B5CBC}" type="slidenum">
              <a:rPr b="0" lang="en-US"/>
              <a:t>57</a:t>
            </a:fld>
            <a:endParaRPr lang="en-US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2300" y="1059752"/>
            <a:ext cx="10185400" cy="1003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00"/>
              </a:lnSpc>
              <a:buNone/>
            </a:pPr>
            <a:r>
              <a:rPr lang="en-US" sz="305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Unity Catalog, governance dla całej organizacji</a:t>
            </a:r>
            <a:endParaRPr lang="en-US" sz="3050" dirty="0"/>
          </a:p>
        </p:txBody>
      </p:sp>
      <p:sp>
        <p:nvSpPr>
          <p:cNvPr id="3" name="Text 1"/>
          <p:cNvSpPr/>
          <p:nvPr/>
        </p:nvSpPr>
        <p:spPr>
          <a:xfrm>
            <a:off x="619760" y="2390140"/>
            <a:ext cx="5019040" cy="1390650"/>
          </a:xfrm>
          <a:prstGeom prst="roundRect">
            <a:avLst>
              <a:gd name="adj" fmla="val 5479"/>
            </a:avLst>
          </a:prstGeom>
          <a:solidFill>
            <a:srgbClr val="F8DEDC"/>
          </a:solidFill>
          <a:ln/>
        </p:spPr>
        <p:txBody>
          <a:bodyPr wrap="square" lIns="154940" tIns="121755" rIns="50800" bIns="0" rtlCol="0" anchor="t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53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Jeden katalog dla wszystkich workspace</a:t>
            </a:r>
            <a:endParaRPr lang="en-US" sz="1530" dirty="0"/>
          </a:p>
          <a:p>
            <a:pPr algn="l" indent="0" marL="0">
              <a:lnSpc>
                <a:spcPts val="1950"/>
              </a:lnSpc>
              <a:spcBef>
                <a:spcPts val="674"/>
              </a:spcBef>
              <a:buNone/>
            </a:pPr>
            <a:r>
              <a:rPr lang="en-US" sz="122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Przed Unity Catalog każdy workspace miał własny metastore Hive, co tworzyło silosy. UC daje jeden wspólny katalog dla całego konta Databricks.</a:t>
            </a:r>
            <a:endParaRPr lang="en-US" sz="1530" dirty="0"/>
          </a:p>
        </p:txBody>
      </p:sp>
      <p:sp>
        <p:nvSpPr>
          <p:cNvPr id="4" name="Text 2"/>
          <p:cNvSpPr/>
          <p:nvPr/>
        </p:nvSpPr>
        <p:spPr>
          <a:xfrm>
            <a:off x="5791200" y="2390140"/>
            <a:ext cx="5019040" cy="1390650"/>
          </a:xfrm>
          <a:prstGeom prst="roundRect">
            <a:avLst>
              <a:gd name="adj" fmla="val 5479"/>
            </a:avLst>
          </a:prstGeom>
          <a:solidFill>
            <a:srgbClr val="F8DEDC"/>
          </a:solidFill>
          <a:ln/>
        </p:spPr>
        <p:txBody>
          <a:bodyPr wrap="square" lIns="154940" tIns="121755" rIns="38100" bIns="0" rtlCol="0" anchor="t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53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Lineage danych</a:t>
            </a:r>
            <a:endParaRPr lang="en-US" sz="1530" dirty="0"/>
          </a:p>
          <a:p>
            <a:pPr algn="l" indent="0" marL="0">
              <a:lnSpc>
                <a:spcPts val="1950"/>
              </a:lnSpc>
              <a:spcBef>
                <a:spcPts val="674"/>
              </a:spcBef>
              <a:buNone/>
            </a:pPr>
            <a:r>
              <a:rPr lang="en-US" sz="122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Automatyczne śledzenie przepływu danych między tabelami, także na poziomie kolumn. Wiesz, skąd pole pochodzi i dokąd trafia.</a:t>
            </a:r>
            <a:endParaRPr lang="en-US" sz="1530" dirty="0"/>
          </a:p>
        </p:txBody>
      </p:sp>
      <p:sp>
        <p:nvSpPr>
          <p:cNvPr id="5" name="Text 3"/>
          <p:cNvSpPr/>
          <p:nvPr/>
        </p:nvSpPr>
        <p:spPr>
          <a:xfrm>
            <a:off x="619760" y="3934460"/>
            <a:ext cx="5019040" cy="1390650"/>
          </a:xfrm>
          <a:prstGeom prst="roundRect">
            <a:avLst>
              <a:gd name="adj" fmla="val 5479"/>
            </a:avLst>
          </a:prstGeom>
          <a:solidFill>
            <a:srgbClr val="F8DEDC"/>
          </a:solidFill>
          <a:ln/>
        </p:spPr>
        <p:txBody>
          <a:bodyPr wrap="square" lIns="154940" tIns="133185" rIns="38100" bIns="0" rtlCol="0" anchor="t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53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Log audytowy</a:t>
            </a:r>
            <a:endParaRPr lang="en-US" sz="1530" dirty="0"/>
          </a:p>
          <a:p>
            <a:pPr algn="l" indent="0" marL="0">
              <a:lnSpc>
                <a:spcPts val="1950"/>
              </a:lnSpc>
              <a:spcBef>
                <a:spcPts val="524"/>
              </a:spcBef>
              <a:buNone/>
            </a:pPr>
            <a:r>
              <a:rPr lang="en-US" sz="122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Każdy SELECT, INSERT i GRANT jest zapisany: kto, kiedy i co. Niezbędne przy zgodności, incydentach i audycie RODO.</a:t>
            </a:r>
            <a:endParaRPr lang="en-US" sz="1530" dirty="0"/>
          </a:p>
        </p:txBody>
      </p:sp>
      <p:sp>
        <p:nvSpPr>
          <p:cNvPr id="6" name="Text 4"/>
          <p:cNvSpPr/>
          <p:nvPr/>
        </p:nvSpPr>
        <p:spPr>
          <a:xfrm>
            <a:off x="5791200" y="3934460"/>
            <a:ext cx="5019040" cy="1390650"/>
          </a:xfrm>
          <a:prstGeom prst="roundRect">
            <a:avLst>
              <a:gd name="adj" fmla="val 5479"/>
            </a:avLst>
          </a:prstGeom>
          <a:solidFill>
            <a:srgbClr val="F8DEDC"/>
          </a:solidFill>
          <a:ln/>
        </p:spPr>
        <p:txBody>
          <a:bodyPr wrap="square" lIns="154940" tIns="133185" rIns="38100" bIns="0" rtlCol="0" anchor="t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53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Tagi i komentarze</a:t>
            </a:r>
            <a:endParaRPr lang="en-US" sz="1530" dirty="0"/>
          </a:p>
          <a:p>
            <a:pPr algn="l" indent="0" marL="0">
              <a:lnSpc>
                <a:spcPts val="1950"/>
              </a:lnSpc>
              <a:spcBef>
                <a:spcPts val="524"/>
              </a:spcBef>
              <a:buNone/>
            </a:pPr>
            <a:r>
              <a:rPr lang="en-US" sz="122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Dokumentujesz tabele i kolumny wprost w katalogu, bez osobnej wiki. Tagi pomagają wyszukiwać i klasyfikować dane na skalę.</a:t>
            </a:r>
            <a:endParaRPr lang="en-US" sz="1530" dirty="0"/>
          </a:p>
        </p:txBody>
      </p:sp>
      <p:pic>
        <p:nvPicPr>
          <p:cNvPr id="7" name="Image 0" descr="assets/altko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240" y="6038850"/>
            <a:ext cx="637540" cy="2565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61000" y="6054281"/>
            <a:ext cx="508000" cy="1524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000000"/>
                </a:solidFill>
                <a:latin typeface="DM Sans"/>
                <a:ea typeface="DM Sans"/>
                <a:cs typeface="DM Sans"/>
              </a:defRPr>
            </a:lvl1pPr>
          </a:lstStyle>
          <a:p>
            <a:pPr algn="ctr"/>
            <a:fld id="{F7021451-1387-4CA6-816F-3879F97B5CBC}" type="slidenum">
              <a:rPr b="0" lang="en-US"/>
              <a:t>58</a:t>
            </a:fld>
            <a:endParaRPr lang="en-US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2300" y="1210501"/>
            <a:ext cx="10185400" cy="522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13"/>
              </a:lnSpc>
              <a:buNone/>
            </a:pPr>
            <a:r>
              <a:rPr lang="en-US" sz="305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Model uprawnień</a:t>
            </a:r>
            <a:endParaRPr lang="en-US" sz="3050" dirty="0"/>
          </a:p>
        </p:txBody>
      </p:sp>
      <p:sp>
        <p:nvSpPr>
          <p:cNvPr id="3" name="Text 1"/>
          <p:cNvSpPr/>
          <p:nvPr/>
        </p:nvSpPr>
        <p:spPr>
          <a:xfrm>
            <a:off x="619760" y="2067560"/>
            <a:ext cx="10191750" cy="971550"/>
          </a:xfrm>
          <a:prstGeom prst="roundRect">
            <a:avLst>
              <a:gd name="adj" fmla="val 7843"/>
            </a:avLst>
          </a:prstGeom>
          <a:solidFill>
            <a:srgbClr val="F2F2F2"/>
          </a:solidFill>
          <a:ln/>
        </p:spPr>
        <p:txBody>
          <a:bodyPr wrap="square" lIns="142240" tIns="74397" rIns="7620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22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GRANT SELECT ON TABLE catalog.schema.orders TO `analyst@company.com`;</a:t>
            </a:r>
            <a:endParaRPr lang="en-US" sz="122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22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GRANT USE SCHEMA ON SCHEMA catalog.bronze TO `data_engineers`;</a:t>
            </a:r>
            <a:endParaRPr lang="en-US" sz="122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22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GRANT ALL PRIVILEGES ON CATALOG dev TO `admin_group`;</a:t>
            </a:r>
            <a:endParaRPr lang="en-US" sz="1220" dirty="0"/>
          </a:p>
        </p:txBody>
      </p:sp>
      <p:sp>
        <p:nvSpPr>
          <p:cNvPr id="4" name="Text 2"/>
          <p:cNvSpPr/>
          <p:nvPr/>
        </p:nvSpPr>
        <p:spPr>
          <a:xfrm>
            <a:off x="628650" y="3228340"/>
            <a:ext cx="3276600" cy="1932940"/>
          </a:xfrm>
          <a:prstGeom prst="roundRect">
            <a:avLst>
              <a:gd name="adj" fmla="val 3942"/>
            </a:avLst>
          </a:prstGeom>
          <a:solidFill>
            <a:srgbClr val="FFFFFF"/>
          </a:solidFill>
          <a:ln w="19050">
            <a:solidFill>
              <a:srgbClr val="F8DEDC"/>
            </a:solidFill>
          </a:ln>
        </p:spPr>
        <p:txBody>
          <a:bodyPr wrap="square" lIns="171450" tIns="134455" rIns="127000" bIns="0" rtlCol="0" anchor="t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53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Hierarchia uprawnień</a:t>
            </a:r>
            <a:endParaRPr lang="en-US" sz="1530" dirty="0"/>
          </a:p>
          <a:p>
            <a:pPr algn="l" indent="0" marL="0">
              <a:lnSpc>
                <a:spcPts val="1980"/>
              </a:lnSpc>
              <a:spcBef>
                <a:spcPts val="444"/>
              </a:spcBef>
              <a:buNone/>
            </a:pPr>
            <a:r>
              <a:rPr lang="en-US" sz="122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Uprawnienia kaskadują: </a:t>
            </a:r>
            <a:pPr algn="l" indent="0" marL="0">
              <a:lnSpc>
                <a:spcPts val="1980"/>
              </a:lnSpc>
              <a:spcBef>
                <a:spcPts val="444"/>
              </a:spcBef>
              <a:buNone/>
            </a:pPr>
            <a:r>
              <a:rPr lang="en-US" sz="1220" dirty="0">
                <a:solidFill>
                  <a:srgbClr val="000000"/>
                </a:solidFill>
                <a:highlight>
                  <a:srgbClr val="F2F2F2"/>
                </a:highlight>
                <a:latin typeface="Open Sans" pitchFamily="34" charset="0"/>
                <a:ea typeface="Open Sans" pitchFamily="34" charset="-122"/>
                <a:cs typeface="Open Sans" pitchFamily="34" charset="-120"/>
              </a:rPr>
              <a:t>USE CATALOG →</a:t>
            </a:r>
            <a:pPr algn="l" indent="0" marL="0">
              <a:lnSpc>
                <a:spcPts val="1980"/>
              </a:lnSpc>
              <a:spcBef>
                <a:spcPts val="444"/>
              </a:spcBef>
              <a:buNone/>
            </a:pPr>
            <a:r>
              <a:rPr lang="en-US" sz="122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pPr algn="l" indent="0" marL="0">
              <a:lnSpc>
                <a:spcPts val="1980"/>
              </a:lnSpc>
              <a:spcBef>
                <a:spcPts val="444"/>
              </a:spcBef>
              <a:buNone/>
            </a:pPr>
            <a:r>
              <a:rPr lang="en-US" sz="1220" dirty="0">
                <a:solidFill>
                  <a:srgbClr val="000000"/>
                </a:solidFill>
                <a:highlight>
                  <a:srgbClr val="F2F2F2"/>
                </a:highlight>
                <a:latin typeface="Open Sans" pitchFamily="34" charset="0"/>
                <a:ea typeface="Open Sans" pitchFamily="34" charset="-122"/>
                <a:cs typeface="Open Sans" pitchFamily="34" charset="-120"/>
              </a:rPr>
              <a:t>USE SCHEMA → SELECT → MODIFY →</a:t>
            </a:r>
            <a:pPr algn="l" indent="0" marL="0">
              <a:lnSpc>
                <a:spcPts val="1980"/>
              </a:lnSpc>
              <a:spcBef>
                <a:spcPts val="444"/>
              </a:spcBef>
              <a:buNone/>
            </a:pPr>
            <a:r>
              <a:rPr lang="en-US" sz="122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pPr algn="l" indent="0" marL="0">
              <a:lnSpc>
                <a:spcPts val="1980"/>
              </a:lnSpc>
              <a:spcBef>
                <a:spcPts val="444"/>
              </a:spcBef>
              <a:buNone/>
            </a:pPr>
            <a:r>
              <a:rPr lang="en-US" sz="1220" dirty="0">
                <a:solidFill>
                  <a:srgbClr val="000000"/>
                </a:solidFill>
                <a:highlight>
                  <a:srgbClr val="F2F2F2"/>
                </a:highlight>
                <a:latin typeface="Open Sans" pitchFamily="34" charset="0"/>
                <a:ea typeface="Open Sans" pitchFamily="34" charset="-122"/>
                <a:cs typeface="Open Sans" pitchFamily="34" charset="-120"/>
              </a:rPr>
              <a:t>CREATE TABLE → ALL PRIVILEGES</a:t>
            </a:r>
            <a:pPr algn="l" indent="0" marL="0">
              <a:lnSpc>
                <a:spcPts val="1980"/>
              </a:lnSpc>
              <a:spcBef>
                <a:spcPts val="444"/>
              </a:spcBef>
              <a:buNone/>
            </a:pPr>
            <a:r>
              <a:rPr lang="en-US" sz="122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 Nadawaj je na właściwym poziomie.</a:t>
            </a:r>
            <a:endParaRPr lang="en-US" sz="1530" dirty="0"/>
          </a:p>
        </p:txBody>
      </p:sp>
      <p:sp>
        <p:nvSpPr>
          <p:cNvPr id="5" name="Text 3"/>
          <p:cNvSpPr/>
          <p:nvPr/>
        </p:nvSpPr>
        <p:spPr>
          <a:xfrm>
            <a:off x="4076700" y="3228340"/>
            <a:ext cx="3276600" cy="1932940"/>
          </a:xfrm>
          <a:prstGeom prst="roundRect">
            <a:avLst>
              <a:gd name="adj" fmla="val 3942"/>
            </a:avLst>
          </a:prstGeom>
          <a:solidFill>
            <a:srgbClr val="FFFFFF"/>
          </a:solidFill>
          <a:ln w="19050">
            <a:solidFill>
              <a:srgbClr val="F8DEDC"/>
            </a:solidFill>
          </a:ln>
        </p:spPr>
        <p:txBody>
          <a:bodyPr wrap="square" lIns="171450" tIns="134455" rIns="127000" bIns="0" rtlCol="0" anchor="t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53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Ochrona wierszy i kolumn</a:t>
            </a:r>
            <a:endParaRPr lang="en-US" sz="1530" dirty="0"/>
          </a:p>
          <a:p>
            <a:pPr algn="l" indent="0" marL="0">
              <a:lnSpc>
                <a:spcPts val="1980"/>
              </a:lnSpc>
              <a:spcBef>
                <a:spcPts val="444"/>
              </a:spcBef>
              <a:buNone/>
            </a:pPr>
            <a:r>
              <a:rPr lang="en-US" sz="122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Filtrujesz dane w czasie zapytania, bez osobnych widoków. Użytkownik widzi tylko dozwolone wiersze i kolumny, pilnuje tego katalog.</a:t>
            </a:r>
            <a:endParaRPr lang="en-US" sz="1530" dirty="0"/>
          </a:p>
        </p:txBody>
      </p:sp>
      <p:sp>
        <p:nvSpPr>
          <p:cNvPr id="6" name="Text 4"/>
          <p:cNvSpPr/>
          <p:nvPr/>
        </p:nvSpPr>
        <p:spPr>
          <a:xfrm>
            <a:off x="7524750" y="3228340"/>
            <a:ext cx="3276600" cy="1932940"/>
          </a:xfrm>
          <a:prstGeom prst="roundRect">
            <a:avLst>
              <a:gd name="adj" fmla="val 3942"/>
            </a:avLst>
          </a:prstGeom>
          <a:solidFill>
            <a:srgbClr val="FFFFFF"/>
          </a:solidFill>
          <a:ln w="19050">
            <a:solidFill>
              <a:srgbClr val="F8DEDC"/>
            </a:solidFill>
          </a:ln>
        </p:spPr>
        <p:txBody>
          <a:bodyPr wrap="square" lIns="171450" tIns="134455" rIns="127000" bIns="0" rtlCol="0" anchor="t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53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Service principals</a:t>
            </a:r>
            <a:endParaRPr lang="en-US" sz="1530" dirty="0"/>
          </a:p>
          <a:p>
            <a:pPr algn="l" indent="0" marL="0">
              <a:lnSpc>
                <a:spcPts val="1980"/>
              </a:lnSpc>
              <a:spcBef>
                <a:spcPts val="444"/>
              </a:spcBef>
              <a:buNone/>
            </a:pPr>
            <a:r>
              <a:rPr lang="en-US" sz="122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Zadania automatyczne nigdy nie powinny chodzić na koncie osobowym. Używaj service principals, czyli tożsamości dla pipeline’ów z minimalnymi uprawnieniami.</a:t>
            </a:r>
            <a:endParaRPr lang="en-US" sz="1530" dirty="0"/>
          </a:p>
        </p:txBody>
      </p:sp>
      <p:pic>
        <p:nvPicPr>
          <p:cNvPr id="7" name="Image 0" descr="assets/altko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240" y="6038850"/>
            <a:ext cx="637540" cy="2565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61000" y="6054281"/>
            <a:ext cx="508000" cy="1524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000000"/>
                </a:solidFill>
                <a:latin typeface="DM Sans"/>
                <a:ea typeface="DM Sans"/>
                <a:cs typeface="DM Sans"/>
              </a:defRPr>
            </a:lvl1pPr>
          </a:lstStyle>
          <a:p>
            <a:pPr algn="ctr"/>
            <a:fld id="{F7021451-1387-4CA6-816F-3879F97B5CBC}" type="slidenum">
              <a:rPr b="0" lang="en-US"/>
              <a:t>59</a:t>
            </a:fld>
            <a:endParaRPr lang="en-US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2300" y="854900"/>
            <a:ext cx="10185400" cy="522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13"/>
              </a:lnSpc>
              <a:buNone/>
            </a:pPr>
            <a:r>
              <a:rPr lang="en-US" sz="305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Dashboardy AI/BI</a:t>
            </a:r>
            <a:endParaRPr lang="en-US" sz="3050" dirty="0"/>
          </a:p>
        </p:txBody>
      </p:sp>
      <p:sp>
        <p:nvSpPr>
          <p:cNvPr id="3" name="Text 1"/>
          <p:cNvSpPr txBox="1"/>
          <p:nvPr/>
        </p:nvSpPr>
        <p:spPr>
          <a:xfrm>
            <a:off x="622300" y="1762595"/>
            <a:ext cx="4978400" cy="36051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53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Natywne dashboardy w Databricks</a:t>
            </a:r>
            <a:endParaRPr lang="en-US" sz="1530" dirty="0"/>
          </a:p>
          <a:p>
            <a:pPr algn="l" indent="0" marL="0">
              <a:lnSpc>
                <a:spcPts val="1950"/>
              </a:lnSpc>
              <a:spcBef>
                <a:spcPts val="974"/>
              </a:spcBef>
              <a:buNone/>
            </a:pPr>
            <a:r>
              <a:rPr lang="en-US" sz="122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Budujesz i udostępniasz dashboardy wprost w platformie, bez eksportu do Tableau czy Power BI. Źródłem jest dowolna tabela Delta lub wynik SQL.</a:t>
            </a:r>
            <a:endParaRPr lang="en-US" sz="1530" dirty="0"/>
          </a:p>
          <a:p>
            <a:pPr algn="l" indent="0" marL="0">
              <a:lnSpc>
                <a:spcPts val="1913"/>
              </a:lnSpc>
              <a:spcBef>
                <a:spcPts val="1463"/>
              </a:spcBef>
              <a:buNone/>
            </a:pPr>
            <a:r>
              <a:rPr lang="en-US" sz="153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Odświeżanie</a:t>
            </a:r>
            <a:endParaRPr lang="en-US" sz="1530" dirty="0"/>
          </a:p>
          <a:p>
            <a:pPr algn="l" marL="241300" indent="-241300">
              <a:lnSpc>
                <a:spcPts val="1950"/>
              </a:lnSpc>
              <a:spcBef>
                <a:spcPts val="1074"/>
              </a:spcBef>
              <a:buSzPct val="100000"/>
              <a:buChar char="•"/>
            </a:pPr>
            <a:r>
              <a:rPr lang="en-US" sz="122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Ręcznie, na żądanie</a:t>
            </a:r>
            <a:endParaRPr lang="en-US" sz="1530" dirty="0"/>
          </a:p>
          <a:p>
            <a:pPr algn="l" marL="241300" indent="-241300">
              <a:lnSpc>
                <a:spcPts val="1950"/>
              </a:lnSpc>
              <a:spcBef>
                <a:spcPts val="350"/>
              </a:spcBef>
              <a:buSzPct val="100000"/>
              <a:buChar char="•"/>
            </a:pPr>
            <a:r>
              <a:rPr lang="en-US" sz="122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Z harmonogramu CRON</a:t>
            </a:r>
            <a:endParaRPr lang="en-US" sz="1530" dirty="0"/>
          </a:p>
          <a:p>
            <a:pPr algn="l" marL="241300" indent="-241300">
              <a:lnSpc>
                <a:spcPts val="1950"/>
              </a:lnSpc>
              <a:spcBef>
                <a:spcPts val="450"/>
              </a:spcBef>
              <a:buSzPct val="100000"/>
              <a:buChar char="•"/>
            </a:pPr>
            <a:r>
              <a:rPr lang="en-US" sz="122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Na żywo przy otwarciu dashboardu</a:t>
            </a:r>
            <a:endParaRPr lang="en-US" sz="1530" dirty="0"/>
          </a:p>
          <a:p>
            <a:pPr algn="l" indent="0" marL="0">
              <a:lnSpc>
                <a:spcPts val="1913"/>
              </a:lnSpc>
              <a:spcBef>
                <a:spcPts val="1363"/>
              </a:spcBef>
              <a:buNone/>
            </a:pPr>
            <a:r>
              <a:rPr lang="en-US" sz="153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Typy wykresów</a:t>
            </a:r>
            <a:endParaRPr lang="en-US" sz="1530" dirty="0"/>
          </a:p>
          <a:p>
            <a:pPr algn="l" indent="0" marL="0">
              <a:lnSpc>
                <a:spcPts val="1950"/>
              </a:lnSpc>
              <a:spcBef>
                <a:spcPts val="1074"/>
              </a:spcBef>
              <a:buNone/>
            </a:pPr>
            <a:r>
              <a:rPr lang="en-US" sz="122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Słupki, linie, punkty, kołowe, liczniki, heatmapy i mapy. Metric views w Unity Catalog pozwalają zdefiniować KPI raz i używać go wszędzie.</a:t>
            </a:r>
            <a:endParaRPr lang="en-US" sz="1530" dirty="0"/>
          </a:p>
        </p:txBody>
      </p:sp>
      <p:sp>
        <p:nvSpPr>
          <p:cNvPr id="4" name="Text 2"/>
          <p:cNvSpPr/>
          <p:nvPr/>
        </p:nvSpPr>
        <p:spPr>
          <a:xfrm>
            <a:off x="5801360" y="1638300"/>
            <a:ext cx="5133340" cy="3886200"/>
          </a:xfrm>
          <a:prstGeom prst="roundRect">
            <a:avLst>
              <a:gd name="adj" fmla="val 2614"/>
            </a:avLst>
          </a:prstGeom>
          <a:solidFill>
            <a:srgbClr val="F8DEDC"/>
          </a:solidFill>
          <a:ln/>
        </p:spPr>
        <p:txBody>
          <a:bodyPr wrap="square" lIns="154940" tIns="124295" rIns="63500" bIns="0" rtlCol="0" anchor="t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53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Genie, asystent AI</a:t>
            </a:r>
            <a:endParaRPr lang="en-US" sz="1530" dirty="0"/>
          </a:p>
          <a:p>
            <a:pPr algn="l" indent="0" marL="0">
              <a:lnSpc>
                <a:spcPts val="1950"/>
              </a:lnSpc>
              <a:spcBef>
                <a:spcPts val="974"/>
              </a:spcBef>
              <a:buNone/>
            </a:pPr>
            <a:r>
              <a:rPr lang="en-US" sz="122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Użytkownik pyta w języku naturalnym. Genie generuje SQL, wykonuje go i pokazuje wynik na wykresie. Znajomość SQL nie jest potrzebna.</a:t>
            </a:r>
            <a:endParaRPr lang="en-US" sz="1530" dirty="0"/>
          </a:p>
          <a:p>
            <a:pPr algn="l" indent="0" marL="0">
              <a:lnSpc>
                <a:spcPts val="1913"/>
              </a:lnSpc>
              <a:spcBef>
                <a:spcPts val="1463"/>
              </a:spcBef>
              <a:buNone/>
            </a:pPr>
            <a:r>
              <a:rPr lang="en-US" sz="153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Udostępnianie dashboardów</a:t>
            </a:r>
            <a:endParaRPr lang="en-US" sz="1530" dirty="0"/>
          </a:p>
          <a:p>
            <a:pPr algn="l" indent="0" marL="0">
              <a:lnSpc>
                <a:spcPts val="1950"/>
              </a:lnSpc>
              <a:spcBef>
                <a:spcPts val="1074"/>
              </a:spcBef>
              <a:buNone/>
            </a:pPr>
            <a:r>
              <a:rPr lang="en-US" sz="122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Udostępniasz linkiem. Przy odpowiedniej konfiguracji odbiorca nie potrzebuje konta Databricks, co jest wygodne dla biznesu spoza platformy.</a:t>
            </a:r>
            <a:endParaRPr lang="en-US" sz="1530" dirty="0"/>
          </a:p>
        </p:txBody>
      </p:sp>
      <p:pic>
        <p:nvPicPr>
          <p:cNvPr id="5" name="Image 0" descr="assets/altko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240" y="6038850"/>
            <a:ext cx="637540" cy="2565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61000" y="6054281"/>
            <a:ext cx="508000" cy="1524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000000"/>
                </a:solidFill>
                <a:latin typeface="DM Sans"/>
                <a:ea typeface="DM Sans"/>
                <a:cs typeface="DM Sans"/>
              </a:defRPr>
            </a:lvl1pPr>
          </a:lstStyle>
          <a:p>
            <a:pPr algn="ctr"/>
            <a:fld id="{F7021451-1387-4CA6-816F-3879F97B5CBC}" type="slidenum">
              <a:rPr b="0" lang="en-US"/>
              <a:t>60</a:t>
            </a:fld>
            <a:endParaRPr lang="en-US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9760" y="2562860"/>
            <a:ext cx="800100" cy="285750"/>
          </a:xfrm>
          <a:prstGeom prst="roundRect">
            <a:avLst>
              <a:gd name="adj" fmla="val 17778"/>
            </a:avLst>
          </a:prstGeom>
          <a:solidFill>
            <a:srgbClr val="F6D6D5"/>
          </a:solidFill>
          <a:ln/>
        </p:spPr>
        <p:txBody>
          <a:bodyPr wrap="square" lIns="95250" tIns="20599" rIns="2540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98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SEKCJA 8</a:t>
            </a:r>
            <a:endParaRPr lang="en-US" sz="980" dirty="0"/>
          </a:p>
        </p:txBody>
      </p:sp>
      <p:sp>
        <p:nvSpPr>
          <p:cNvPr id="3" name="Text 1"/>
          <p:cNvSpPr txBox="1"/>
          <p:nvPr/>
        </p:nvSpPr>
        <p:spPr>
          <a:xfrm>
            <a:off x="622300" y="2861501"/>
            <a:ext cx="10185400" cy="522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13"/>
              </a:lnSpc>
              <a:buNone/>
            </a:pPr>
            <a:r>
              <a:rPr lang="en-US" sz="305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Projekt końcowy: pipeline RetailHub</a:t>
            </a:r>
            <a:endParaRPr lang="en-US" sz="3050" dirty="0"/>
          </a:p>
        </p:txBody>
      </p:sp>
      <p:sp>
        <p:nvSpPr>
          <p:cNvPr id="4" name="Text 2"/>
          <p:cNvSpPr txBox="1"/>
          <p:nvPr/>
        </p:nvSpPr>
        <p:spPr>
          <a:xfrm>
            <a:off x="622300" y="3577057"/>
            <a:ext cx="101854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22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Składamy wszystko w całość i budujemy kompletny pipeline produkcyjny, od surowych zamówień po dzienny raport biznesowy.</a:t>
            </a:r>
            <a:endParaRPr lang="en-US" sz="1220" dirty="0"/>
          </a:p>
        </p:txBody>
      </p:sp>
      <p:pic>
        <p:nvPicPr>
          <p:cNvPr id="5" name="Image 0" descr="assets/altko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240" y="6038850"/>
            <a:ext cx="637540" cy="2565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61000" y="6054281"/>
            <a:ext cx="508000" cy="1524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000000"/>
                </a:solidFill>
                <a:latin typeface="DM Sans"/>
                <a:ea typeface="DM Sans"/>
                <a:cs typeface="DM Sans"/>
              </a:defRPr>
            </a:lvl1pPr>
          </a:lstStyle>
          <a:p>
            <a:pPr algn="ctr"/>
            <a:fld id="{F7021451-1387-4CA6-816F-3879F97B5CBC}" type="slidenum">
              <a:rPr b="0" lang="en-US"/>
              <a:t>61</a:t>
            </a:fld>
            <a:endParaRPr lang="en-US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2300" y="1032701"/>
            <a:ext cx="10185400" cy="522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13"/>
              </a:lnSpc>
              <a:buNone/>
            </a:pPr>
            <a:r>
              <a:rPr lang="en-US" sz="305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Scenariusz biznesowy</a:t>
            </a:r>
            <a:endParaRPr lang="en-US" sz="3050" dirty="0"/>
          </a:p>
        </p:txBody>
      </p:sp>
      <p:sp>
        <p:nvSpPr>
          <p:cNvPr id="3" name="Text 1"/>
          <p:cNvSpPr/>
          <p:nvPr/>
        </p:nvSpPr>
        <p:spPr>
          <a:xfrm>
            <a:off x="505460" y="1800860"/>
            <a:ext cx="5133340" cy="3553460"/>
          </a:xfrm>
          <a:prstGeom prst="roundRect">
            <a:avLst>
              <a:gd name="adj" fmla="val 2859"/>
            </a:avLst>
          </a:prstGeom>
          <a:solidFill>
            <a:srgbClr val="F8DEDC"/>
          </a:solidFill>
          <a:ln/>
        </p:spPr>
        <p:txBody>
          <a:bodyPr wrap="square" lIns="154940" tIns="126835" rIns="101600" bIns="0" rtlCol="0" anchor="t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53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Firma</a:t>
            </a:r>
            <a:endParaRPr lang="en-US" sz="1530" dirty="0"/>
          </a:p>
          <a:p>
            <a:pPr algn="l" indent="0" marL="0">
              <a:lnSpc>
                <a:spcPts val="1950"/>
              </a:lnSpc>
              <a:spcBef>
                <a:spcPts val="1074"/>
              </a:spcBef>
              <a:buNone/>
            </a:pPr>
            <a:r>
              <a:rPr lang="en-US" sz="122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RetailHub</a:t>
            </a:r>
            <a:pPr algn="l" indent="0" marL="0">
              <a:lnSpc>
                <a:spcPts val="1950"/>
              </a:lnSpc>
              <a:spcBef>
                <a:spcPts val="1074"/>
              </a:spcBef>
              <a:buNone/>
            </a:pPr>
            <a:r>
              <a:rPr lang="en-US" sz="122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obsługuje zamówienia z wielu kanałów sprzedaży. Zamówienia przychodzą w plikach JSON, jeden plik na dzień.</a:t>
            </a:r>
            <a:endParaRPr lang="en-US" sz="1530" dirty="0"/>
          </a:p>
          <a:p>
            <a:pPr algn="l" indent="0" marL="0">
              <a:lnSpc>
                <a:spcPts val="1913"/>
              </a:lnSpc>
              <a:spcBef>
                <a:spcPts val="1413"/>
              </a:spcBef>
              <a:buNone/>
            </a:pPr>
            <a:r>
              <a:rPr lang="en-US" sz="153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Cel</a:t>
            </a:r>
            <a:endParaRPr lang="en-US" sz="1530" dirty="0"/>
          </a:p>
          <a:p>
            <a:pPr algn="l" indent="0" marL="0">
              <a:lnSpc>
                <a:spcPts val="1950"/>
              </a:lnSpc>
              <a:spcBef>
                <a:spcPts val="974"/>
              </a:spcBef>
              <a:buNone/>
            </a:pPr>
            <a:r>
              <a:rPr lang="en-US" sz="122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Codziennie o </a:t>
            </a:r>
            <a:pPr algn="l" indent="0" marL="0">
              <a:lnSpc>
                <a:spcPts val="1950"/>
              </a:lnSpc>
              <a:spcBef>
                <a:spcPts val="974"/>
              </a:spcBef>
              <a:buNone/>
            </a:pPr>
            <a:r>
              <a:rPr lang="en-US" sz="122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06:00</a:t>
            </a:r>
            <a:pPr algn="l" indent="0" marL="0">
              <a:lnSpc>
                <a:spcPts val="1950"/>
              </a:lnSpc>
              <a:spcBef>
                <a:spcPts val="974"/>
              </a:spcBef>
              <a:buNone/>
            </a:pPr>
            <a:r>
              <a:rPr lang="en-US" sz="122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automatycznie odświeżamy dzienny raport przychodów w tabeli Gold, tak aby czekał na analityków od rana.</a:t>
            </a:r>
            <a:endParaRPr lang="en-US" sz="1530" dirty="0"/>
          </a:p>
        </p:txBody>
      </p:sp>
      <p:sp>
        <p:nvSpPr>
          <p:cNvPr id="4" name="Text 2"/>
          <p:cNvSpPr txBox="1"/>
          <p:nvPr/>
        </p:nvSpPr>
        <p:spPr>
          <a:xfrm>
            <a:off x="5922010" y="1927695"/>
            <a:ext cx="4927600" cy="32749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53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Dane wejściowe</a:t>
            </a:r>
            <a:endParaRPr lang="en-US" sz="1530" dirty="0"/>
          </a:p>
          <a:p>
            <a:pPr algn="l" indent="0" marL="0">
              <a:lnSpc>
                <a:spcPts val="1950"/>
              </a:lnSpc>
              <a:spcBef>
                <a:spcPts val="1074"/>
              </a:spcBef>
              <a:buNone/>
            </a:pPr>
            <a:r>
              <a:rPr lang="en-US" sz="1220" dirty="0">
                <a:solidFill>
                  <a:srgbClr val="000000"/>
                </a:solidFill>
                <a:highlight>
                  <a:srgbClr val="F2F2F2"/>
                </a:highlight>
                <a:latin typeface="Open Sans" pitchFamily="34" charset="0"/>
                <a:ea typeface="Open Sans" pitchFamily="34" charset="-122"/>
                <a:cs typeface="Open Sans" pitchFamily="34" charset="-120"/>
              </a:rPr>
              <a:t>orders_batch.json</a:t>
            </a:r>
            <a:pPr algn="l" indent="0" marL="0">
              <a:lnSpc>
                <a:spcPts val="1950"/>
              </a:lnSpc>
              <a:spcBef>
                <a:spcPts val="1074"/>
              </a:spcBef>
              <a:buNone/>
            </a:pPr>
            <a:r>
              <a:rPr lang="en-US" sz="122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w volume Unity Catalog, surowe zamówienia z jednego dnia. Zawiera identyfikatory, kwoty, rabaty, znaczniki czasu i kanał sprzedaży.</a:t>
            </a:r>
            <a:endParaRPr lang="en-US" sz="1530" dirty="0"/>
          </a:p>
          <a:p>
            <a:pPr algn="l" indent="0" marL="0">
              <a:lnSpc>
                <a:spcPts val="1913"/>
              </a:lnSpc>
              <a:spcBef>
                <a:spcPts val="1463"/>
              </a:spcBef>
              <a:buNone/>
            </a:pPr>
            <a:r>
              <a:rPr lang="en-US" sz="153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Oczekiwany wynik</a:t>
            </a:r>
            <a:endParaRPr lang="en-US" sz="1530" dirty="0"/>
          </a:p>
          <a:p>
            <a:pPr algn="l" indent="0" marL="0">
              <a:lnSpc>
                <a:spcPts val="1950"/>
              </a:lnSpc>
              <a:spcBef>
                <a:spcPts val="974"/>
              </a:spcBef>
              <a:buNone/>
            </a:pPr>
            <a:r>
              <a:rPr lang="en-US" sz="122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Tabela </a:t>
            </a:r>
            <a:pPr algn="l" indent="0" marL="0">
              <a:lnSpc>
                <a:spcPts val="1950"/>
              </a:lnSpc>
              <a:spcBef>
                <a:spcPts val="974"/>
              </a:spcBef>
              <a:buNone/>
            </a:pPr>
            <a:r>
              <a:rPr lang="en-US" sz="1220" dirty="0">
                <a:solidFill>
                  <a:srgbClr val="000000"/>
                </a:solidFill>
                <a:highlight>
                  <a:srgbClr val="F2F2F2"/>
                </a:highlight>
                <a:latin typeface="Open Sans" pitchFamily="34" charset="0"/>
                <a:ea typeface="Open Sans" pitchFamily="34" charset="-122"/>
                <a:cs typeface="Open Sans" pitchFamily="34" charset="-120"/>
              </a:rPr>
              <a:t>gold.lab_daily_orders</a:t>
            </a:r>
            <a:pPr algn="l" indent="0" marL="0">
              <a:lnSpc>
                <a:spcPts val="1950"/>
              </a:lnSpc>
              <a:spcBef>
                <a:spcPts val="974"/>
              </a:spcBef>
              <a:buNone/>
            </a:pPr>
            <a:r>
              <a:rPr lang="en-US" sz="122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jeden wiersz na dzień i cztery kolumny: data, liczba zamówień, przychód i średnia wartość zamówienia.</a:t>
            </a:r>
            <a:endParaRPr lang="en-US" sz="1530" dirty="0"/>
          </a:p>
          <a:p>
            <a:pPr algn="l" indent="0" marL="0">
              <a:lnSpc>
                <a:spcPts val="1913"/>
              </a:lnSpc>
              <a:spcBef>
                <a:spcPts val="1613"/>
              </a:spcBef>
              <a:buNone/>
            </a:pPr>
            <a:r>
              <a:rPr lang="en-US" sz="153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Ograniczenie</a:t>
            </a:r>
            <a:endParaRPr lang="en-US" sz="1530" dirty="0"/>
          </a:p>
          <a:p>
            <a:pPr algn="l" indent="0" marL="0">
              <a:lnSpc>
                <a:spcPts val="1950"/>
              </a:lnSpc>
              <a:spcBef>
                <a:spcPts val="974"/>
              </a:spcBef>
              <a:buNone/>
            </a:pPr>
            <a:r>
              <a:rPr lang="en-US" sz="122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Pipeline musi być idempotentny, dwa biegi dla tego samego dnia dają ten sam wynik. Żadnych duplikatów w Gold.</a:t>
            </a:r>
            <a:endParaRPr lang="en-US" sz="1530" dirty="0"/>
          </a:p>
        </p:txBody>
      </p:sp>
      <p:pic>
        <p:nvPicPr>
          <p:cNvPr id="5" name="Image 0" descr="assets/altko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240" y="6038850"/>
            <a:ext cx="637540" cy="2565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61000" y="6054281"/>
            <a:ext cx="508000" cy="1524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000000"/>
                </a:solidFill>
                <a:latin typeface="DM Sans"/>
                <a:ea typeface="DM Sans"/>
                <a:cs typeface="DM Sans"/>
              </a:defRPr>
            </a:lvl1pPr>
          </a:lstStyle>
          <a:p>
            <a:pPr algn="ctr"/>
            <a:fld id="{F7021451-1387-4CA6-816F-3879F97B5CBC}" type="slidenum">
              <a:rPr b="0" lang="en-US"/>
              <a:t>62</a:t>
            </a:fld>
            <a:endParaRPr lang="en-US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p56_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7620"/>
            <a:ext cx="5715000" cy="64338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22300" y="2302701"/>
            <a:ext cx="4953000" cy="522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13"/>
              </a:lnSpc>
              <a:buNone/>
            </a:pPr>
            <a:r>
              <a:rPr lang="en-US" sz="305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Architektura pipeline</a:t>
            </a:r>
            <a:endParaRPr lang="en-US" sz="3050" dirty="0"/>
          </a:p>
        </p:txBody>
      </p:sp>
      <p:sp>
        <p:nvSpPr>
          <p:cNvPr id="4" name="Text 1"/>
          <p:cNvSpPr txBox="1"/>
          <p:nvPr/>
        </p:nvSpPr>
        <p:spPr>
          <a:xfrm>
            <a:off x="622300" y="3030957"/>
            <a:ext cx="459740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22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Każdy etap to osobny notebook i osobna tabela Delta. Całość orkiestruje Lakeflow Job z jawnymi zależnościami: Bronze musi skończyć przed Silver, a Silver przed Gold.</a:t>
            </a:r>
            <a:endParaRPr lang="en-US" sz="1220" dirty="0"/>
          </a:p>
        </p:txBody>
      </p:sp>
      <p:pic>
        <p:nvPicPr>
          <p:cNvPr id="5" name="Image 1" descr="assets/altkom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240" y="6038850"/>
            <a:ext cx="637540" cy="2565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204460" y="6054281"/>
            <a:ext cx="508000" cy="1524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000000"/>
                </a:solidFill>
                <a:latin typeface="DM Sans"/>
                <a:ea typeface="DM Sans"/>
                <a:cs typeface="DM Sans"/>
              </a:defRPr>
            </a:lvl1pPr>
          </a:lstStyle>
          <a:p>
            <a:pPr algn="ctr"/>
            <a:fld id="{F7021451-1387-4CA6-816F-3879F97B5CBC}" type="slidenum">
              <a:rPr b="0" lang="en-US"/>
              <a:t>63</a:t>
            </a:fld>
            <a:endParaRPr lang="en-US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2300" y="1070800"/>
            <a:ext cx="10185400" cy="522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13"/>
              </a:lnSpc>
              <a:buNone/>
            </a:pPr>
            <a:r>
              <a:rPr lang="en-US" sz="305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Schemat tabeli Gold</a:t>
            </a:r>
            <a:endParaRPr lang="en-US" sz="3050" dirty="0"/>
          </a:p>
        </p:txBody>
      </p:sp>
      <p:graphicFrame>
        <p:nvGraphicFramePr>
          <p:cNvPr id="6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8650" y="1924050"/>
          <a:ext cx="8572500" cy="914400"/>
        </p:xfrm>
        <a:graphic>
          <a:graphicData uri="http://schemas.openxmlformats.org/drawingml/2006/table">
            <a:tbl>
              <a:tblPr/>
              <a:tblGrid>
                <a:gridCol w="3048000"/>
                <a:gridCol w="2542540"/>
                <a:gridCol w="45821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20" b="1" dirty="0">
                          <a:solidFill>
                            <a:srgbClr val="000000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Kolumna</a:t>
                      </a:r>
                      <a:endParaRPr lang="en-US" sz="1200" dirty="0"/>
                    </a:p>
                  </a:txBody>
                  <a:tcPr marL="158750" marR="76200" marT="25400" marB="25400"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20" b="1" dirty="0">
                          <a:solidFill>
                            <a:srgbClr val="000000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Typ</a:t>
                      </a:r>
                      <a:endParaRPr lang="en-US" sz="1200" dirty="0"/>
                    </a:p>
                  </a:txBody>
                  <a:tcPr marL="158750" marR="76200" marT="25400" marB="25400"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20" b="1" dirty="0">
                          <a:solidFill>
                            <a:srgbClr val="000000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Opis</a:t>
                      </a:r>
                      <a:endParaRPr lang="en-US" sz="1200" dirty="0"/>
                    </a:p>
                  </a:txBody>
                  <a:tcPr marL="15875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20" dirty="0">
                          <a:solidFill>
                            <a:srgbClr val="000000"/>
                          </a:solidFill>
                          <a:highlight>
                            <a:srgbClr val="F2F2F2"/>
                          </a:highlight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order_date</a:t>
                      </a:r>
                      <a:endParaRPr lang="en-US" sz="1200" dirty="0"/>
                    </a:p>
                  </a:txBody>
                  <a:tcPr marL="158750" marR="76200" marT="25400" marB="25400"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20" dirty="0">
                          <a:solidFill>
                            <a:srgbClr val="000000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DateType</a:t>
                      </a:r>
                      <a:endParaRPr lang="en-US" sz="1200" dirty="0"/>
                    </a:p>
                  </a:txBody>
                  <a:tcPr marL="158750" marR="76200" marT="25400" marB="25400"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20" dirty="0">
                          <a:solidFill>
                            <a:srgbClr val="000000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Dzień agregacji, jeden wiersz na datę</a:t>
                      </a:r>
                      <a:endParaRPr lang="en-US" sz="1200" dirty="0"/>
                    </a:p>
                  </a:txBody>
                  <a:tcPr marL="15875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20" dirty="0">
                          <a:solidFill>
                            <a:srgbClr val="000000"/>
                          </a:solidFill>
                          <a:highlight>
                            <a:srgbClr val="F2F2F2"/>
                          </a:highlight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order_count</a:t>
                      </a:r>
                      <a:endParaRPr lang="en-US" sz="1200" dirty="0"/>
                    </a:p>
                  </a:txBody>
                  <a:tcPr marL="158750" marR="76200" marT="25400" marB="25400"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20" dirty="0">
                          <a:solidFill>
                            <a:srgbClr val="000000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LongType</a:t>
                      </a:r>
                      <a:endParaRPr lang="en-US" sz="1200" dirty="0"/>
                    </a:p>
                  </a:txBody>
                  <a:tcPr marL="158750" marR="76200" marT="25400" marB="25400"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20" dirty="0">
                          <a:solidFill>
                            <a:srgbClr val="000000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Liczba zamówień danego dnia</a:t>
                      </a:r>
                      <a:endParaRPr lang="en-US" sz="1200" dirty="0"/>
                    </a:p>
                  </a:txBody>
                  <a:tcPr marL="15875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20" dirty="0">
                          <a:solidFill>
                            <a:srgbClr val="000000"/>
                          </a:solidFill>
                          <a:highlight>
                            <a:srgbClr val="F2F2F2"/>
                          </a:highlight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total_revenue</a:t>
                      </a:r>
                      <a:endParaRPr lang="en-US" sz="1200" dirty="0"/>
                    </a:p>
                  </a:txBody>
                  <a:tcPr marL="158750" marR="76200" marT="25400" marB="25400"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20" dirty="0">
                          <a:solidFill>
                            <a:srgbClr val="000000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DoubleType</a:t>
                      </a:r>
                      <a:endParaRPr lang="en-US" sz="1200" dirty="0"/>
                    </a:p>
                  </a:txBody>
                  <a:tcPr marL="158750" marR="76200" marT="25400" marB="25400"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20" dirty="0">
                          <a:solidFill>
                            <a:srgbClr val="000000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Suma net_amount, czyli po rabacie</a:t>
                      </a:r>
                      <a:endParaRPr lang="en-US" sz="1200" dirty="0"/>
                    </a:p>
                  </a:txBody>
                  <a:tcPr marL="15875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20" dirty="0">
                          <a:solidFill>
                            <a:srgbClr val="000000"/>
                          </a:solidFill>
                          <a:highlight>
                            <a:srgbClr val="F2F2F2"/>
                          </a:highlight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avg_order_value</a:t>
                      </a:r>
                      <a:endParaRPr lang="en-US" sz="1200" dirty="0"/>
                    </a:p>
                  </a:txBody>
                  <a:tcPr marL="158750" marR="76200" marT="25400" marB="25400"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20" dirty="0">
                          <a:solidFill>
                            <a:srgbClr val="000000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DoubleType</a:t>
                      </a:r>
                      <a:endParaRPr lang="en-US" sz="1200" dirty="0"/>
                    </a:p>
                  </a:txBody>
                  <a:tcPr marL="158750" marR="76200" marT="25400" marB="25400"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20" dirty="0">
                          <a:solidFill>
                            <a:srgbClr val="000000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Średnia wartość zamówienia, zaokrąglona do 2 miejsc</a:t>
                      </a:r>
                      <a:endParaRPr lang="en-US" sz="1200" dirty="0"/>
                    </a:p>
                  </a:txBody>
                  <a:tcPr marL="15875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623570" y="1918970"/>
            <a:ext cx="10182860" cy="2316480"/>
          </a:xfrm>
          <a:prstGeom prst="roundRect">
            <a:avLst>
              <a:gd name="adj" fmla="val 2193"/>
            </a:avLst>
          </a:prstGeom>
          <a:ln w="9525">
            <a:solidFill>
              <a:srgbClr val="E6E6E6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19760" y="4409440"/>
            <a:ext cx="10191750" cy="905510"/>
          </a:xfrm>
          <a:prstGeom prst="roundRect">
            <a:avLst>
              <a:gd name="adj" fmla="val 8415"/>
            </a:avLst>
          </a:prstGeom>
          <a:solidFill>
            <a:srgbClr val="F2C1BF"/>
          </a:solidFill>
          <a:ln/>
        </p:spPr>
        <p:txBody>
          <a:bodyPr wrap="square" lIns="497840" tIns="145517" rIns="7620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22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Schemat Gold jest celowo minimalny i stabilny. Raporty i dashboardy zakładają, że się nie zmienia. Każda zmiana łamie zgodność, więc uzgodnij ją z odbiorcami.</a:t>
            </a:r>
            <a:endParaRPr lang="en-US" sz="1220" dirty="0"/>
          </a:p>
        </p:txBody>
      </p:sp>
      <p:pic>
        <p:nvPicPr>
          <p:cNvPr id="6" name="Image 0" descr="assets/icon_p57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0" y="4610100"/>
            <a:ext cx="173990" cy="173990"/>
          </a:xfrm>
          <a:prstGeom prst="rect">
            <a:avLst/>
          </a:prstGeom>
        </p:spPr>
      </p:pic>
      <p:pic>
        <p:nvPicPr>
          <p:cNvPr id="7" name="Image 1" descr="assets/altkom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240" y="6038850"/>
            <a:ext cx="637540" cy="2565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61000" y="6054281"/>
            <a:ext cx="508000" cy="1524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000000"/>
                </a:solidFill>
                <a:latin typeface="DM Sans"/>
                <a:ea typeface="DM Sans"/>
                <a:cs typeface="DM Sans"/>
              </a:defRPr>
            </a:lvl1pPr>
          </a:lstStyle>
          <a:p>
            <a:pPr algn="ctr"/>
            <a:fld id="{F7021451-1387-4CA6-816F-3879F97B5CBC}" type="slidenum">
              <a:rPr b="0" lang="en-US"/>
              <a:t>64</a:t>
            </a:fld>
            <a:endParaRPr lang="en-US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2300" y="538416"/>
            <a:ext cx="10185400" cy="4747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38"/>
              </a:lnSpc>
              <a:buNone/>
            </a:pPr>
            <a:r>
              <a:rPr lang="en-US" sz="275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Weryfikacja po uruchomieniu joba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619760" y="1267460"/>
            <a:ext cx="10191750" cy="4029710"/>
          </a:xfrm>
          <a:prstGeom prst="roundRect">
            <a:avLst>
              <a:gd name="adj" fmla="val 1891"/>
            </a:avLst>
          </a:prstGeom>
          <a:solidFill>
            <a:srgbClr val="F2F2F2"/>
          </a:solidFill>
          <a:ln/>
        </p:spPr>
        <p:txBody>
          <a:bodyPr wrap="square" lIns="129540" tIns="83693" rIns="76200" bIns="0" rtlCol="0" anchor="t"/>
          <a:lstStyle/>
          <a:p>
            <a:pPr algn="l" indent="0" marL="0">
              <a:lnSpc>
                <a:spcPts val="167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-- Czy dane trafiły do tabeli?</a:t>
            </a:r>
            <a:endParaRPr lang="en-US" sz="1100" dirty="0"/>
          </a:p>
          <a:p>
            <a:pPr algn="l" indent="0" marL="0">
              <a:lnSpc>
                <a:spcPts val="167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SELECT * FROM gold.lab_daily_orders</a:t>
            </a:r>
            <a:endParaRPr lang="en-US" sz="1100" dirty="0"/>
          </a:p>
          <a:p>
            <a:pPr algn="l" indent="0" marL="0">
              <a:lnSpc>
                <a:spcPts val="167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ORDER BY order_date DESC</a:t>
            </a:r>
            <a:endParaRPr lang="en-US" sz="1100" dirty="0"/>
          </a:p>
          <a:p>
            <a:pPr algn="l" indent="0" marL="0">
              <a:lnSpc>
                <a:spcPts val="167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LIMIT 10;</a:t>
            </a:r>
            <a:endParaRPr lang="en-US" sz="1100" dirty="0"/>
          </a:p>
          <a:p>
            <a:pPr algn="l" indent="0" marL="0">
              <a:lnSpc>
                <a:spcPts val="167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endParaRPr lang="en-US" sz="1100" dirty="0"/>
          </a:p>
          <a:p>
            <a:pPr algn="l" indent="0" marL="0">
              <a:lnSpc>
                <a:spcPts val="167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-- Ile dni jest pokrytych?</a:t>
            </a:r>
            <a:endParaRPr lang="en-US" sz="1100" dirty="0"/>
          </a:p>
          <a:p>
            <a:pPr algn="l" indent="0" marL="0">
              <a:lnSpc>
                <a:spcPts val="167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SELECT COUNT(*) AS total_days</a:t>
            </a:r>
            <a:endParaRPr lang="en-US" sz="1100" dirty="0"/>
          </a:p>
          <a:p>
            <a:pPr algn="l" indent="0" marL="0">
              <a:lnSpc>
                <a:spcPts val="167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FROM gold.lab_daily_orders;</a:t>
            </a:r>
            <a:endParaRPr lang="en-US" sz="1100" dirty="0"/>
          </a:p>
          <a:p>
            <a:pPr algn="l" indent="0" marL="0">
              <a:lnSpc>
                <a:spcPts val="167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endParaRPr lang="en-US" sz="1100" dirty="0"/>
          </a:p>
          <a:p>
            <a:pPr algn="l" indent="0" marL="0">
              <a:lnSpc>
                <a:spcPts val="167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-- Kontrola przychodu</a:t>
            </a:r>
            <a:endParaRPr lang="en-US" sz="1100" dirty="0"/>
          </a:p>
          <a:p>
            <a:pPr algn="l" indent="0" marL="0">
              <a:lnSpc>
                <a:spcPts val="167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SELECT</a:t>
            </a:r>
            <a:endParaRPr lang="en-US" sz="1100" dirty="0"/>
          </a:p>
          <a:p>
            <a:pPr algn="l" indent="0" marL="0">
              <a:lnSpc>
                <a:spcPts val="167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 SUM(total_revenue),</a:t>
            </a:r>
            <a:endParaRPr lang="en-US" sz="1100" dirty="0"/>
          </a:p>
          <a:p>
            <a:pPr algn="l" indent="0" marL="0">
              <a:lnSpc>
                <a:spcPts val="167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 MIN(order_date),</a:t>
            </a:r>
            <a:endParaRPr lang="en-US" sz="1100" dirty="0"/>
          </a:p>
          <a:p>
            <a:pPr algn="l" indent="0" marL="0">
              <a:lnSpc>
                <a:spcPts val="167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 MAX(order_date)</a:t>
            </a:r>
            <a:endParaRPr lang="en-US" sz="1100" dirty="0"/>
          </a:p>
          <a:p>
            <a:pPr algn="l" indent="0" marL="0">
              <a:lnSpc>
                <a:spcPts val="167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FROM gold.lab_daily_orders;</a:t>
            </a:r>
            <a:endParaRPr lang="en-US" sz="1100" dirty="0"/>
          </a:p>
          <a:p>
            <a:pPr algn="l" indent="0" marL="0">
              <a:lnSpc>
                <a:spcPts val="167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endParaRPr lang="en-US" sz="1100" dirty="0"/>
          </a:p>
          <a:p>
            <a:pPr algn="l" indent="0" marL="0">
              <a:lnSpc>
                <a:spcPts val="167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-- Audyt: jakie operacje wykonano?</a:t>
            </a:r>
            <a:endParaRPr lang="en-US" sz="1100" dirty="0"/>
          </a:p>
          <a:p>
            <a:pPr algn="l" indent="0" marL="0">
              <a:lnSpc>
                <a:spcPts val="167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DESCRIBE HISTORY gold.lab_daily_orders;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22300" y="5401183"/>
            <a:ext cx="10325100" cy="464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 cztery zapytania to standardowa lista kontrolna po biegu. Na dev uruchamiaj je po każdym wykonaniu, a na produkcji włącz do automatycznych kontroli jakości danych.</a:t>
            </a:r>
            <a:endParaRPr lang="en-US" sz="1100" dirty="0"/>
          </a:p>
        </p:txBody>
      </p:sp>
      <p:pic>
        <p:nvPicPr>
          <p:cNvPr id="5" name="Image 0" descr="assets/altko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240" y="6038850"/>
            <a:ext cx="637540" cy="2565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61000" y="6054281"/>
            <a:ext cx="508000" cy="1524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000000"/>
                </a:solidFill>
                <a:latin typeface="DM Sans"/>
                <a:ea typeface="DM Sans"/>
                <a:cs typeface="DM Sans"/>
              </a:defRPr>
            </a:lvl1pPr>
          </a:lstStyle>
          <a:p>
            <a:pPr algn="ctr"/>
            <a:fld id="{F7021451-1387-4CA6-816F-3879F97B5CBC}" type="slidenum">
              <a:rPr b="0" lang="en-US"/>
              <a:t>65</a:t>
            </a:fld>
            <a:endParaRPr lang="en-US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9760" y="2562860"/>
            <a:ext cx="800100" cy="285750"/>
          </a:xfrm>
          <a:prstGeom prst="roundRect">
            <a:avLst>
              <a:gd name="adj" fmla="val 17778"/>
            </a:avLst>
          </a:prstGeom>
          <a:solidFill>
            <a:srgbClr val="F6D6D5"/>
          </a:solidFill>
          <a:ln/>
        </p:spPr>
        <p:txBody>
          <a:bodyPr wrap="square" lIns="95250" tIns="20599" rIns="2540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98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SEKCJA 9</a:t>
            </a:r>
            <a:endParaRPr lang="en-US" sz="980" dirty="0"/>
          </a:p>
        </p:txBody>
      </p:sp>
      <p:sp>
        <p:nvSpPr>
          <p:cNvPr id="3" name="Text 1"/>
          <p:cNvSpPr txBox="1"/>
          <p:nvPr/>
        </p:nvSpPr>
        <p:spPr>
          <a:xfrm>
            <a:off x="622300" y="2861501"/>
            <a:ext cx="10185400" cy="522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13"/>
              </a:lnSpc>
              <a:buNone/>
            </a:pPr>
            <a:r>
              <a:rPr lang="en-US" sz="305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Podsumowanie</a:t>
            </a:r>
            <a:endParaRPr lang="en-US" sz="3050" dirty="0"/>
          </a:p>
        </p:txBody>
      </p:sp>
      <p:sp>
        <p:nvSpPr>
          <p:cNvPr id="4" name="Text 2"/>
          <p:cNvSpPr txBox="1"/>
          <p:nvPr/>
        </p:nvSpPr>
        <p:spPr>
          <a:xfrm>
            <a:off x="622300" y="3577057"/>
            <a:ext cx="101854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22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Przypominamy, co dziś zbudowaliśmy, i planujemy dalsze kroki.</a:t>
            </a:r>
            <a:endParaRPr lang="en-US" sz="1220" dirty="0"/>
          </a:p>
        </p:txBody>
      </p:sp>
      <p:pic>
        <p:nvPicPr>
          <p:cNvPr id="5" name="Image 0" descr="assets/altko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240" y="6038850"/>
            <a:ext cx="637540" cy="2565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61000" y="6054281"/>
            <a:ext cx="508000" cy="1524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000000"/>
                </a:solidFill>
                <a:latin typeface="DM Sans"/>
                <a:ea typeface="DM Sans"/>
                <a:cs typeface="DM Sans"/>
              </a:defRPr>
            </a:lvl1pPr>
          </a:lstStyle>
          <a:p>
            <a:pPr algn="ctr"/>
            <a:fld id="{F7021451-1387-4CA6-816F-3879F97B5CBC}" type="slidenum">
              <a:rPr b="0" lang="en-US"/>
              <a:t>66</a:t>
            </a:fld>
            <a:endParaRPr lang="en-US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2300" y="1261301"/>
            <a:ext cx="10185400" cy="522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13"/>
              </a:lnSpc>
              <a:buNone/>
            </a:pPr>
            <a:r>
              <a:rPr lang="en-US" sz="305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 dziś zbudowaliśmy</a:t>
            </a:r>
            <a:endParaRPr lang="en-US" sz="3050" dirty="0"/>
          </a:p>
        </p:txBody>
      </p:sp>
      <p:graphicFrame>
        <p:nvGraphicFramePr>
          <p:cNvPr id="6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8650" y="2133600"/>
          <a:ext cx="8572500" cy="914400"/>
        </p:xfrm>
        <a:graphic>
          <a:graphicData uri="http://schemas.openxmlformats.org/drawingml/2006/table">
            <a:tbl>
              <a:tblPr/>
              <a:tblGrid>
                <a:gridCol w="2038350"/>
                <a:gridCol w="3553460"/>
                <a:gridCol w="4582160"/>
              </a:tblGrid>
              <a:tr h="447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20" b="1" dirty="0">
                          <a:solidFill>
                            <a:srgbClr val="000000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Warstwa</a:t>
                      </a:r>
                      <a:endParaRPr lang="en-US" sz="1200" dirty="0"/>
                    </a:p>
                  </a:txBody>
                  <a:tcPr marL="158750" marR="76200" marT="25400" marB="25400"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20" b="1" dirty="0">
                          <a:solidFill>
                            <a:srgbClr val="000000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Notebook</a:t>
                      </a:r>
                      <a:endParaRPr lang="en-US" sz="1200" dirty="0"/>
                    </a:p>
                  </a:txBody>
                  <a:tcPr marL="158750" marR="76200" marT="25400" marB="25400"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20" b="1" dirty="0">
                          <a:solidFill>
                            <a:srgbClr val="000000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Kluczowa technika</a:t>
                      </a:r>
                      <a:endParaRPr lang="en-US" sz="1200" dirty="0"/>
                    </a:p>
                  </a:txBody>
                  <a:tcPr marL="15875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20" dirty="0">
                          <a:solidFill>
                            <a:srgbClr val="000000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Bronze</a:t>
                      </a:r>
                      <a:endParaRPr lang="en-US" sz="1200" dirty="0"/>
                    </a:p>
                  </a:txBody>
                  <a:tcPr marL="158750" marR="76200" marT="25400" marB="25400"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20" dirty="0">
                          <a:solidFill>
                            <a:srgbClr val="000000"/>
                          </a:solidFill>
                          <a:highlight>
                            <a:srgbClr val="F2F2F2"/>
                          </a:highlight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lab_task_01_bronze</a:t>
                      </a:r>
                      <a:endParaRPr lang="en-US" sz="1200" dirty="0"/>
                    </a:p>
                  </a:txBody>
                  <a:tcPr marL="158750" marR="76200" marT="25400" marB="25400"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20" dirty="0">
                          <a:solidFill>
                            <a:srgbClr val="000000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StructType, StringType, kolumny metadanych</a:t>
                      </a:r>
                      <a:endParaRPr lang="en-US" sz="1200" dirty="0"/>
                    </a:p>
                  </a:txBody>
                  <a:tcPr marL="15875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20" dirty="0">
                          <a:solidFill>
                            <a:srgbClr val="000000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Silver</a:t>
                      </a:r>
                      <a:endParaRPr lang="en-US" sz="1200" dirty="0"/>
                    </a:p>
                  </a:txBody>
                  <a:tcPr marL="158750" marR="76200" marT="25400" marB="25400"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20" dirty="0">
                          <a:solidFill>
                            <a:srgbClr val="000000"/>
                          </a:solidFill>
                          <a:highlight>
                            <a:srgbClr val="F2F2F2"/>
                          </a:highlight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lab_task_02_silver</a:t>
                      </a:r>
                      <a:endParaRPr lang="en-US" sz="1200" dirty="0"/>
                    </a:p>
                  </a:txBody>
                  <a:tcPr marL="158750" marR="76200" marT="25400" marB="25400"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20" dirty="0">
                          <a:solidFill>
                            <a:srgbClr val="000000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cast, to_timestamp, when, filtrowanie nulli</a:t>
                      </a:r>
                      <a:endParaRPr lang="en-US" sz="1200" dirty="0"/>
                    </a:p>
                  </a:txBody>
                  <a:tcPr marL="15875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20" dirty="0">
                          <a:solidFill>
                            <a:srgbClr val="000000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Gold</a:t>
                      </a:r>
                      <a:endParaRPr lang="en-US" sz="1200" dirty="0"/>
                    </a:p>
                  </a:txBody>
                  <a:tcPr marL="158750" marR="76200" marT="25400" marB="25400"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20" dirty="0">
                          <a:solidFill>
                            <a:srgbClr val="000000"/>
                          </a:solidFill>
                          <a:highlight>
                            <a:srgbClr val="F2F2F2"/>
                          </a:highlight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lab_task_03_gold</a:t>
                      </a:r>
                      <a:endParaRPr lang="en-US" sz="1200" dirty="0"/>
                    </a:p>
                  </a:txBody>
                  <a:tcPr marL="158750" marR="76200" marT="25400" marB="25400"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20" dirty="0">
                          <a:solidFill>
                            <a:srgbClr val="000000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groupBy, agg, to_date, round</a:t>
                      </a:r>
                      <a:endParaRPr lang="en-US" sz="1200" dirty="0"/>
                    </a:p>
                  </a:txBody>
                  <a:tcPr marL="15875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20" dirty="0">
                          <a:solidFill>
                            <a:srgbClr val="000000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Orkiestracja</a:t>
                      </a:r>
                      <a:endParaRPr lang="en-US" sz="1200" dirty="0"/>
                    </a:p>
                  </a:txBody>
                  <a:tcPr marL="158750" marR="76200" marT="25400" marB="25400"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20" dirty="0">
                          <a:solidFill>
                            <a:srgbClr val="000000"/>
                          </a:solidFill>
                          <a:highlight>
                            <a:srgbClr val="F2F2F2"/>
                          </a:highlight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WORKSHOP_final_project</a:t>
                      </a:r>
                      <a:endParaRPr lang="en-US" sz="1200" dirty="0"/>
                    </a:p>
                  </a:txBody>
                  <a:tcPr marL="158750" marR="76200" marT="25400" marB="25400"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20" dirty="0">
                          <a:solidFill>
                            <a:srgbClr val="000000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Lakeflow Job, CRON, notebook.exit</a:t>
                      </a:r>
                      <a:endParaRPr lang="en-US" sz="1200" dirty="0"/>
                    </a:p>
                  </a:txBody>
                  <a:tcPr marL="158750" marR="762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623570" y="2128520"/>
            <a:ext cx="10184130" cy="2306320"/>
          </a:xfrm>
          <a:prstGeom prst="roundRect">
            <a:avLst>
              <a:gd name="adj" fmla="val 2203"/>
            </a:avLst>
          </a:prstGeom>
          <a:ln w="9525">
            <a:solidFill>
              <a:srgbClr val="E6E6E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22300" y="4561307"/>
            <a:ext cx="10236200" cy="546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2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 jeden dzień przeszliśmy od surowych plików JSON do w pełni zorkiestrowanego pipeline’u z harmonogramem, gwarancjami ACID, time travel i codziennym odświeżaniem. Dokładnie tak wygląda to we wdrożeniach produkcyjnych.</a:t>
            </a:r>
            <a:endParaRPr lang="en-US" sz="1220" dirty="0"/>
          </a:p>
        </p:txBody>
      </p:sp>
      <p:pic>
        <p:nvPicPr>
          <p:cNvPr id="6" name="Image 0" descr="assets/altko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240" y="6038850"/>
            <a:ext cx="637540" cy="2565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61000" y="6054281"/>
            <a:ext cx="508000" cy="1524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000000"/>
                </a:solidFill>
                <a:latin typeface="DM Sans"/>
                <a:ea typeface="DM Sans"/>
                <a:cs typeface="DM Sans"/>
              </a:defRPr>
            </a:lvl1pPr>
          </a:lstStyle>
          <a:p>
            <a:pPr algn="ctr"/>
            <a:fld id="{F7021451-1387-4CA6-816F-3879F97B5CBC}" type="slidenum">
              <a:rPr b="0" lang="en-US"/>
              <a:t>67</a:t>
            </a:fld>
            <a:endParaRPr lang="en-US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2300" y="524701"/>
            <a:ext cx="10185400" cy="522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13"/>
              </a:lnSpc>
              <a:buNone/>
            </a:pPr>
            <a:r>
              <a:rPr lang="en-US" sz="305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 warto zapamiętać</a:t>
            </a:r>
            <a:endParaRPr lang="en-US" sz="3050" dirty="0"/>
          </a:p>
        </p:txBody>
      </p:sp>
      <p:sp>
        <p:nvSpPr>
          <p:cNvPr id="3" name="Text 1"/>
          <p:cNvSpPr/>
          <p:nvPr/>
        </p:nvSpPr>
        <p:spPr>
          <a:xfrm>
            <a:off x="619760" y="1381760"/>
            <a:ext cx="5019040" cy="1390650"/>
          </a:xfrm>
          <a:prstGeom prst="roundRect">
            <a:avLst>
              <a:gd name="adj" fmla="val 5479"/>
            </a:avLst>
          </a:prstGeom>
          <a:solidFill>
            <a:srgbClr val="F8DEDC"/>
          </a:solidFill>
          <a:ln/>
        </p:spPr>
        <p:txBody>
          <a:bodyPr wrap="square" lIns="154940" tIns="123025" rIns="101600" bIns="0" rtlCol="0" anchor="t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53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Lakehouse</a:t>
            </a:r>
            <a:endParaRPr lang="en-US" sz="1530" dirty="0"/>
          </a:p>
          <a:p>
            <a:pPr algn="l" indent="0" marL="0">
              <a:lnSpc>
                <a:spcPts val="1950"/>
              </a:lnSpc>
              <a:spcBef>
                <a:spcPts val="504"/>
              </a:spcBef>
              <a:buNone/>
            </a:pPr>
            <a:r>
              <a:rPr lang="en-US" sz="122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Nie wybieraj między hurtownią a data lake, Databricks daje jedno i drugie. Elastyczny storage z transakcjami i governance klasy enterprise.</a:t>
            </a:r>
            <a:endParaRPr lang="en-US" sz="1530" dirty="0"/>
          </a:p>
        </p:txBody>
      </p:sp>
      <p:sp>
        <p:nvSpPr>
          <p:cNvPr id="4" name="Text 2"/>
          <p:cNvSpPr/>
          <p:nvPr/>
        </p:nvSpPr>
        <p:spPr>
          <a:xfrm>
            <a:off x="5791200" y="1381760"/>
            <a:ext cx="5019040" cy="1390650"/>
          </a:xfrm>
          <a:prstGeom prst="roundRect">
            <a:avLst>
              <a:gd name="adj" fmla="val 5479"/>
            </a:avLst>
          </a:prstGeom>
          <a:solidFill>
            <a:srgbClr val="F8DEDC"/>
          </a:solidFill>
          <a:ln/>
        </p:spPr>
        <p:txBody>
          <a:bodyPr wrap="square" lIns="154940" tIns="123025" rIns="101600" bIns="0" rtlCol="0" anchor="t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53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Medalion</a:t>
            </a:r>
            <a:endParaRPr lang="en-US" sz="1530" dirty="0"/>
          </a:p>
          <a:p>
            <a:pPr algn="l" indent="0" marL="0">
              <a:lnSpc>
                <a:spcPts val="1950"/>
              </a:lnSpc>
              <a:spcBef>
                <a:spcPts val="504"/>
              </a:spcBef>
              <a:buNone/>
            </a:pPr>
            <a:r>
              <a:rPr lang="en-US" sz="122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Trzy warstwy to trzy kontrakty jakości. Bronze obiecuje komplet danych surowych, Silver czystość, a Gold poprawność biznesową.</a:t>
            </a:r>
            <a:endParaRPr lang="en-US" sz="1530" dirty="0"/>
          </a:p>
        </p:txBody>
      </p:sp>
      <p:sp>
        <p:nvSpPr>
          <p:cNvPr id="5" name="Text 3"/>
          <p:cNvSpPr/>
          <p:nvPr/>
        </p:nvSpPr>
        <p:spPr>
          <a:xfrm>
            <a:off x="619760" y="2923540"/>
            <a:ext cx="5019040" cy="1390650"/>
          </a:xfrm>
          <a:prstGeom prst="roundRect">
            <a:avLst>
              <a:gd name="adj" fmla="val 5479"/>
            </a:avLst>
          </a:prstGeom>
          <a:solidFill>
            <a:srgbClr val="F8DEDC"/>
          </a:solidFill>
          <a:ln/>
        </p:spPr>
        <p:txBody>
          <a:bodyPr wrap="square" lIns="154940" tIns="123025" rIns="101600" bIns="0" rtlCol="0" anchor="t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53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Delta</a:t>
            </a:r>
            <a:endParaRPr lang="en-US" sz="1530" dirty="0"/>
          </a:p>
          <a:p>
            <a:pPr algn="l" indent="0" marL="0">
              <a:lnSpc>
                <a:spcPts val="1950"/>
              </a:lnSpc>
              <a:spcBef>
                <a:spcPts val="504"/>
              </a:spcBef>
              <a:buNone/>
            </a:pPr>
            <a:r>
              <a:rPr lang="en-US" sz="122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ACID, MERGE i time travel to standard, a tabele managed same się optymalizują. Nie używaj gołego Parquet tam, gdzie będą zmiany lub audyt.</a:t>
            </a:r>
            <a:endParaRPr lang="en-US" sz="1530" dirty="0"/>
          </a:p>
        </p:txBody>
      </p:sp>
      <p:sp>
        <p:nvSpPr>
          <p:cNvPr id="6" name="Text 4"/>
          <p:cNvSpPr/>
          <p:nvPr/>
        </p:nvSpPr>
        <p:spPr>
          <a:xfrm>
            <a:off x="5791200" y="2923540"/>
            <a:ext cx="5019040" cy="1390650"/>
          </a:xfrm>
          <a:prstGeom prst="roundRect">
            <a:avLst>
              <a:gd name="adj" fmla="val 5479"/>
            </a:avLst>
          </a:prstGeom>
          <a:solidFill>
            <a:srgbClr val="F8DEDC"/>
          </a:solidFill>
          <a:ln/>
        </p:spPr>
        <p:txBody>
          <a:bodyPr wrap="square" lIns="154940" tIns="123025" rIns="101600" bIns="0" rtlCol="0" anchor="t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53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Jawny schemat</a:t>
            </a:r>
            <a:endParaRPr lang="en-US" sz="1530" dirty="0"/>
          </a:p>
          <a:p>
            <a:pPr algn="l" indent="0" marL="0">
              <a:lnSpc>
                <a:spcPts val="1950"/>
              </a:lnSpc>
              <a:spcBef>
                <a:spcPts val="504"/>
              </a:spcBef>
              <a:buNone/>
            </a:pPr>
            <a:r>
              <a:rPr lang="en-US" sz="122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Zgadywany schemat to dług techniczny. Zdefiniuj StructType z góry, ochroni pipeline przed zmianami w źródle i pokaże błędy od razu.</a:t>
            </a:r>
            <a:endParaRPr lang="en-US" sz="1530" dirty="0"/>
          </a:p>
        </p:txBody>
      </p:sp>
      <p:sp>
        <p:nvSpPr>
          <p:cNvPr id="7" name="Text 5"/>
          <p:cNvSpPr/>
          <p:nvPr/>
        </p:nvSpPr>
        <p:spPr>
          <a:xfrm>
            <a:off x="619760" y="4467860"/>
            <a:ext cx="5019040" cy="1390650"/>
          </a:xfrm>
          <a:prstGeom prst="roundRect">
            <a:avLst>
              <a:gd name="adj" fmla="val 5479"/>
            </a:avLst>
          </a:prstGeom>
          <a:solidFill>
            <a:srgbClr val="F8DEDC"/>
          </a:solidFill>
          <a:ln/>
        </p:spPr>
        <p:txBody>
          <a:bodyPr wrap="square" lIns="154940" tIns="123025" rIns="101600" bIns="0" rtlCol="0" anchor="t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53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Job cluster</a:t>
            </a:r>
            <a:endParaRPr lang="en-US" sz="1530" dirty="0"/>
          </a:p>
          <a:p>
            <a:pPr algn="l" indent="0" marL="0">
              <a:lnSpc>
                <a:spcPts val="1950"/>
              </a:lnSpc>
              <a:spcBef>
                <a:spcPts val="504"/>
              </a:spcBef>
              <a:buNone/>
            </a:pPr>
            <a:r>
              <a:rPr lang="en-US" sz="122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Produkcja działa na serverless albo job clusterze. All-purpose jest do pracy interaktywnej, nie zostawiaj go włączonego bez potrzeby.</a:t>
            </a:r>
            <a:endParaRPr lang="en-US" sz="1530" dirty="0"/>
          </a:p>
        </p:txBody>
      </p:sp>
      <p:sp>
        <p:nvSpPr>
          <p:cNvPr id="8" name="Text 6"/>
          <p:cNvSpPr/>
          <p:nvPr/>
        </p:nvSpPr>
        <p:spPr>
          <a:xfrm>
            <a:off x="5791200" y="4467860"/>
            <a:ext cx="5019040" cy="1390650"/>
          </a:xfrm>
          <a:prstGeom prst="roundRect">
            <a:avLst>
              <a:gd name="adj" fmla="val 5479"/>
            </a:avLst>
          </a:prstGeom>
          <a:solidFill>
            <a:srgbClr val="F8DEDC"/>
          </a:solidFill>
          <a:ln/>
        </p:spPr>
        <p:txBody>
          <a:bodyPr wrap="square" lIns="154940" tIns="123025" rIns="101600" bIns="0" rtlCol="0" anchor="t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53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Unity Catalog</a:t>
            </a:r>
            <a:endParaRPr lang="en-US" sz="1530" dirty="0"/>
          </a:p>
          <a:p>
            <a:pPr algn="l" indent="0" marL="0">
              <a:lnSpc>
                <a:spcPts val="1950"/>
              </a:lnSpc>
              <a:spcBef>
                <a:spcPts val="504"/>
              </a:spcBef>
              <a:buNone/>
            </a:pPr>
            <a:r>
              <a:rPr lang="en-US" sz="122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Governance na poziomie kolumn, nie tylko tabel. Jeden katalog, jeden model uprawnień i pełny lineage dla całej organizacji.</a:t>
            </a:r>
            <a:endParaRPr lang="en-US" sz="1530" dirty="0"/>
          </a:p>
        </p:txBody>
      </p:sp>
      <p:pic>
        <p:nvPicPr>
          <p:cNvPr id="9" name="Image 0" descr="assets/altko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240" y="6038850"/>
            <a:ext cx="637540" cy="2565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61000" y="6054281"/>
            <a:ext cx="508000" cy="1524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000000"/>
                </a:solidFill>
                <a:latin typeface="DM Sans"/>
                <a:ea typeface="DM Sans"/>
                <a:cs typeface="DM Sans"/>
              </a:defRPr>
            </a:lvl1pPr>
          </a:lstStyle>
          <a:p>
            <a:pPr algn="ctr"/>
            <a:fld id="{F7021451-1387-4CA6-816F-3879F97B5CBC}" type="slidenum">
              <a:rPr b="0" lang="en-US"/>
              <a:t>68</a:t>
            </a:fld>
            <a:endParaRPr lang="en-US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2300" y="651701"/>
            <a:ext cx="10185400" cy="522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13"/>
              </a:lnSpc>
              <a:buNone/>
            </a:pPr>
            <a:r>
              <a:rPr lang="en-US" sz="305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 dalej</a:t>
            </a:r>
            <a:endParaRPr lang="en-US" sz="3050" dirty="0"/>
          </a:p>
        </p:txBody>
      </p:sp>
      <p:sp>
        <p:nvSpPr>
          <p:cNvPr id="3" name="Text 1"/>
          <p:cNvSpPr/>
          <p:nvPr/>
        </p:nvSpPr>
        <p:spPr>
          <a:xfrm>
            <a:off x="619760" y="1381760"/>
            <a:ext cx="5019040" cy="1390650"/>
          </a:xfrm>
          <a:prstGeom prst="roundRect">
            <a:avLst>
              <a:gd name="adj" fmla="val 5479"/>
            </a:avLst>
          </a:prstGeom>
          <a:solidFill>
            <a:srgbClr val="F8DEDC"/>
          </a:solidFill>
          <a:ln/>
        </p:spPr>
        <p:txBody>
          <a:bodyPr wrap="square" lIns="154940" tIns="123025" rIns="76200" bIns="0" rtlCol="0" anchor="t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53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Ćwicz za darmo</a:t>
            </a:r>
            <a:endParaRPr lang="en-US" sz="1530" dirty="0"/>
          </a:p>
          <a:p>
            <a:pPr algn="l" indent="0" marL="0">
              <a:lnSpc>
                <a:spcPts val="1950"/>
              </a:lnSpc>
              <a:spcBef>
                <a:spcPts val="504"/>
              </a:spcBef>
              <a:buNone/>
            </a:pPr>
            <a:r>
              <a:rPr lang="en-US" sz="122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Databricks Free Edition daje darmowy workspace serverless z notebookami, SQL, pipeline’ami i dashboardami. Zastąpił wycofane Community Edition.</a:t>
            </a:r>
            <a:endParaRPr lang="en-US" sz="1530" dirty="0"/>
          </a:p>
        </p:txBody>
      </p:sp>
      <p:sp>
        <p:nvSpPr>
          <p:cNvPr id="4" name="Text 2"/>
          <p:cNvSpPr/>
          <p:nvPr/>
        </p:nvSpPr>
        <p:spPr>
          <a:xfrm>
            <a:off x="5791200" y="1381760"/>
            <a:ext cx="5019040" cy="1390650"/>
          </a:xfrm>
          <a:prstGeom prst="roundRect">
            <a:avLst>
              <a:gd name="adj" fmla="val 5479"/>
            </a:avLst>
          </a:prstGeom>
          <a:solidFill>
            <a:srgbClr val="F8DEDC"/>
          </a:solidFill>
          <a:ln/>
        </p:spPr>
        <p:txBody>
          <a:bodyPr wrap="square" lIns="154940" tIns="123025" rIns="76200" bIns="0" rtlCol="0" anchor="t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53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Zbuduj projekt jeszcze raz</a:t>
            </a:r>
            <a:endParaRPr lang="en-US" sz="1530" dirty="0"/>
          </a:p>
          <a:p>
            <a:pPr algn="l" indent="0" marL="0">
              <a:lnSpc>
                <a:spcPts val="1950"/>
              </a:lnSpc>
              <a:spcBef>
                <a:spcPts val="504"/>
              </a:spcBef>
              <a:buNone/>
            </a:pPr>
            <a:r>
              <a:rPr lang="en-US" sz="122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Uruchom pipeline RetailHub na własnych danych. Zmień plik źródłowy, dodaj kolumnę, zepsuj coś celowo i przywróć.</a:t>
            </a:r>
            <a:endParaRPr lang="en-US" sz="1530" dirty="0"/>
          </a:p>
        </p:txBody>
      </p:sp>
      <p:sp>
        <p:nvSpPr>
          <p:cNvPr id="5" name="Text 3"/>
          <p:cNvSpPr/>
          <p:nvPr/>
        </p:nvSpPr>
        <p:spPr>
          <a:xfrm>
            <a:off x="619760" y="2923540"/>
            <a:ext cx="5019040" cy="1390650"/>
          </a:xfrm>
          <a:prstGeom prst="roundRect">
            <a:avLst>
              <a:gd name="adj" fmla="val 5479"/>
            </a:avLst>
          </a:prstGeom>
          <a:solidFill>
            <a:srgbClr val="F8DEDC"/>
          </a:solidFill>
          <a:ln/>
        </p:spPr>
        <p:txBody>
          <a:bodyPr wrap="square" lIns="154940" tIns="123025" rIns="76200" bIns="0" rtlCol="0" anchor="t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53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Ścieżka certyfikacji</a:t>
            </a:r>
            <a:endParaRPr lang="en-US" sz="1530" dirty="0"/>
          </a:p>
          <a:p>
            <a:pPr algn="l" indent="0" marL="0">
              <a:lnSpc>
                <a:spcPts val="1950"/>
              </a:lnSpc>
              <a:spcBef>
                <a:spcPts val="504"/>
              </a:spcBef>
              <a:buNone/>
            </a:pPr>
            <a:r>
              <a:rPr lang="en-US" sz="122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Databricks Certified Data Engineer Associate to naturalny kolejny krok. Przewodnik po egzaminie mówi dokładnie, co obejmuje.</a:t>
            </a:r>
            <a:endParaRPr lang="en-US" sz="1530" dirty="0"/>
          </a:p>
        </p:txBody>
      </p:sp>
      <p:sp>
        <p:nvSpPr>
          <p:cNvPr id="6" name="Text 4"/>
          <p:cNvSpPr/>
          <p:nvPr/>
        </p:nvSpPr>
        <p:spPr>
          <a:xfrm>
            <a:off x="5791200" y="2923540"/>
            <a:ext cx="5019040" cy="1390650"/>
          </a:xfrm>
          <a:prstGeom prst="roundRect">
            <a:avLst>
              <a:gd name="adj" fmla="val 5479"/>
            </a:avLst>
          </a:prstGeom>
          <a:solidFill>
            <a:srgbClr val="F8DEDC"/>
          </a:solidFill>
          <a:ln/>
        </p:spPr>
        <p:txBody>
          <a:bodyPr wrap="square" lIns="154940" tIns="123025" rIns="76200" bIns="0" rtlCol="0" anchor="t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53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Pogłębiaj platformę</a:t>
            </a:r>
            <a:endParaRPr lang="en-US" sz="1530" dirty="0"/>
          </a:p>
          <a:p>
            <a:pPr algn="l" indent="0" marL="0">
              <a:lnSpc>
                <a:spcPts val="1950"/>
              </a:lnSpc>
              <a:spcBef>
                <a:spcPts val="504"/>
              </a:spcBef>
              <a:buNone/>
            </a:pPr>
            <a:r>
              <a:rPr lang="en-US" sz="122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Kolejne tematy to governance w Unity Catalog, Lakeflow pipelines, streaming i strojenie wydajności. Każdy to osobne szkolenie.</a:t>
            </a:r>
            <a:endParaRPr lang="en-US" sz="1530" dirty="0"/>
          </a:p>
        </p:txBody>
      </p:sp>
      <p:sp>
        <p:nvSpPr>
          <p:cNvPr id="7" name="Text 5"/>
          <p:cNvSpPr/>
          <p:nvPr/>
        </p:nvSpPr>
        <p:spPr>
          <a:xfrm>
            <a:off x="619760" y="4467860"/>
            <a:ext cx="5019040" cy="1390650"/>
          </a:xfrm>
          <a:prstGeom prst="roundRect">
            <a:avLst>
              <a:gd name="adj" fmla="val 5479"/>
            </a:avLst>
          </a:prstGeom>
          <a:solidFill>
            <a:srgbClr val="F8DEDC"/>
          </a:solidFill>
          <a:ln/>
        </p:spPr>
        <p:txBody>
          <a:bodyPr wrap="square" lIns="154940" tIns="123025" rIns="76200" bIns="0" rtlCol="0" anchor="t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53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Czytaj źródło</a:t>
            </a:r>
            <a:endParaRPr lang="en-US" sz="1530" dirty="0"/>
          </a:p>
          <a:p>
            <a:pPr algn="l" indent="0" marL="0">
              <a:lnSpc>
                <a:spcPts val="1950"/>
              </a:lnSpc>
              <a:spcBef>
                <a:spcPts val="504"/>
              </a:spcBef>
              <a:buNone/>
            </a:pPr>
            <a:r>
              <a:rPr lang="en-US" sz="122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docs.databricks.com jest aktualna i dobrze się przeszukuje. Release notes pokazują, co zmienia się w platformie każdego miesiąca.</a:t>
            </a:r>
            <a:endParaRPr lang="en-US" sz="1530" dirty="0"/>
          </a:p>
        </p:txBody>
      </p:sp>
      <p:sp>
        <p:nvSpPr>
          <p:cNvPr id="8" name="Text 6"/>
          <p:cNvSpPr/>
          <p:nvPr/>
        </p:nvSpPr>
        <p:spPr>
          <a:xfrm>
            <a:off x="5791200" y="4467860"/>
            <a:ext cx="5019040" cy="1390650"/>
          </a:xfrm>
          <a:prstGeom prst="roundRect">
            <a:avLst>
              <a:gd name="adj" fmla="val 5479"/>
            </a:avLst>
          </a:prstGeom>
          <a:solidFill>
            <a:srgbClr val="F8DEDC"/>
          </a:solidFill>
          <a:ln/>
        </p:spPr>
        <p:txBody>
          <a:bodyPr wrap="square" lIns="154940" tIns="123025" rIns="76200" bIns="0" rtlCol="0" anchor="t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53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Pytaj asystenta</a:t>
            </a:r>
            <a:endParaRPr lang="en-US" sz="1530" dirty="0"/>
          </a:p>
          <a:p>
            <a:pPr algn="l" indent="0" marL="0">
              <a:lnSpc>
                <a:spcPts val="1950"/>
              </a:lnSpc>
              <a:spcBef>
                <a:spcPts val="504"/>
              </a:spcBef>
              <a:buNone/>
            </a:pPr>
            <a:r>
              <a:rPr lang="en-US" sz="122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Wbudowany asystent wyjaśnia błędy i pisze szkielet kodu. Traktuj go jak parę do kodowania i sprawdzaj wynik w dokumentacji.</a:t>
            </a:r>
            <a:endParaRPr lang="en-US" sz="1530" dirty="0"/>
          </a:p>
        </p:txBody>
      </p:sp>
      <p:pic>
        <p:nvPicPr>
          <p:cNvPr id="9" name="Image 0" descr="assets/altko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240" y="6038850"/>
            <a:ext cx="637540" cy="2565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61000" y="6054281"/>
            <a:ext cx="508000" cy="1524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000000"/>
                </a:solidFill>
                <a:latin typeface="DM Sans"/>
                <a:ea typeface="DM Sans"/>
                <a:cs typeface="DM Sans"/>
              </a:defRPr>
            </a:lvl1pPr>
          </a:lstStyle>
          <a:p>
            <a:pPr algn="ctr"/>
            <a:fld id="{F7021451-1387-4CA6-816F-3879F97B5CBC}" type="slidenum">
              <a:rPr b="0" lang="en-US"/>
              <a:t>69</a:t>
            </a:fld>
            <a:endParaRPr lang="en-US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2300" y="1070800"/>
            <a:ext cx="10185400" cy="522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13"/>
              </a:lnSpc>
              <a:buNone/>
            </a:pPr>
            <a:r>
              <a:rPr lang="en-US" sz="305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Pytania i feedback</a:t>
            </a:r>
            <a:endParaRPr lang="en-US" sz="3050" dirty="0"/>
          </a:p>
        </p:txBody>
      </p:sp>
      <p:sp>
        <p:nvSpPr>
          <p:cNvPr id="3" name="Text 1"/>
          <p:cNvSpPr/>
          <p:nvPr/>
        </p:nvSpPr>
        <p:spPr>
          <a:xfrm>
            <a:off x="505460" y="1847850"/>
            <a:ext cx="5133340" cy="2628900"/>
          </a:xfrm>
          <a:prstGeom prst="roundRect">
            <a:avLst>
              <a:gd name="adj" fmla="val 3865"/>
            </a:avLst>
          </a:prstGeom>
          <a:solidFill>
            <a:srgbClr val="F8DEDC"/>
          </a:solidFill>
          <a:ln/>
        </p:spPr>
        <p:txBody>
          <a:bodyPr wrap="square" lIns="154940" tIns="130645" rIns="101600" bIns="0" rtlCol="0" anchor="t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53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Otwarte pytania</a:t>
            </a:r>
            <a:endParaRPr lang="en-US" sz="1530" dirty="0"/>
          </a:p>
          <a:p>
            <a:pPr algn="l" indent="0" marL="0">
              <a:lnSpc>
                <a:spcPts val="1950"/>
              </a:lnSpc>
              <a:spcBef>
                <a:spcPts val="974"/>
              </a:spcBef>
              <a:buNone/>
            </a:pPr>
            <a:r>
              <a:rPr lang="en-US" sz="122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 dobry moment na pytania, które pojawiły się w ciągu dnia, o platformę, pipeline, architekturę albo cokolwiek ze szkolenia.</a:t>
            </a:r>
            <a:endParaRPr lang="en-US" sz="1530" dirty="0"/>
          </a:p>
          <a:p>
            <a:pPr algn="l" indent="0" marL="0">
              <a:lnSpc>
                <a:spcPts val="1950"/>
              </a:lnSpc>
              <a:spcBef>
                <a:spcPts val="1150"/>
              </a:spcBef>
              <a:buNone/>
            </a:pPr>
            <a:r>
              <a:rPr lang="en-US" sz="122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Żadne pytanie nie jest zbyt podstawowe. Jeśli o czymś myślisz, ktoś na sali pewnie też.</a:t>
            </a:r>
            <a:endParaRPr lang="en-US" sz="1530" dirty="0"/>
          </a:p>
        </p:txBody>
      </p:sp>
      <p:sp>
        <p:nvSpPr>
          <p:cNvPr id="4" name="Text 2"/>
          <p:cNvSpPr txBox="1"/>
          <p:nvPr/>
        </p:nvSpPr>
        <p:spPr>
          <a:xfrm>
            <a:off x="5922010" y="1978495"/>
            <a:ext cx="4927600" cy="23478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53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Ankieta</a:t>
            </a:r>
            <a:endParaRPr lang="en-US" sz="1530" dirty="0"/>
          </a:p>
          <a:p>
            <a:pPr algn="l" indent="0" marL="0">
              <a:lnSpc>
                <a:spcPts val="1950"/>
              </a:lnSpc>
              <a:spcBef>
                <a:spcPts val="974"/>
              </a:spcBef>
              <a:buNone/>
            </a:pPr>
            <a:r>
              <a:rPr lang="en-US" sz="122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Poświęć 2 minuty na ankietę, Twoje uwagi wprost kształtują kolejne edycje tego szkolenia.</a:t>
            </a:r>
            <a:endParaRPr lang="en-US" sz="1530" dirty="0"/>
          </a:p>
          <a:p>
            <a:pPr algn="l" indent="0" marL="0">
              <a:lnSpc>
                <a:spcPts val="1950"/>
              </a:lnSpc>
              <a:spcBef>
                <a:spcPts val="1200"/>
              </a:spcBef>
              <a:buNone/>
            </a:pPr>
            <a:r>
              <a:rPr lang="en-US" sz="122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Link albo kod QR pokażę teraz na ekranie.</a:t>
            </a:r>
            <a:endParaRPr lang="en-US" sz="1530" dirty="0"/>
          </a:p>
          <a:p>
            <a:pPr algn="l" indent="0" marL="0">
              <a:lnSpc>
                <a:spcPts val="1913"/>
              </a:lnSpc>
              <a:spcBef>
                <a:spcPts val="1363"/>
              </a:spcBef>
              <a:buNone/>
            </a:pPr>
            <a:r>
              <a:rPr lang="en-US" sz="153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Kontakt</a:t>
            </a:r>
            <a:endParaRPr lang="en-US" sz="1530" dirty="0"/>
          </a:p>
          <a:p>
            <a:pPr algn="l" indent="0" marL="0">
              <a:lnSpc>
                <a:spcPts val="1950"/>
              </a:lnSpc>
              <a:spcBef>
                <a:spcPts val="1074"/>
              </a:spcBef>
              <a:buNone/>
            </a:pPr>
            <a:r>
              <a:rPr lang="en-US" sz="122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 szkoleniu możesz pisać do prowadzącego z pytaniami. Dane kontaktowe są na końcu ankiety.</a:t>
            </a:r>
            <a:endParaRPr lang="en-US" sz="1530" dirty="0"/>
          </a:p>
        </p:txBody>
      </p:sp>
      <p:sp>
        <p:nvSpPr>
          <p:cNvPr id="5" name="Text 3"/>
          <p:cNvSpPr/>
          <p:nvPr/>
        </p:nvSpPr>
        <p:spPr>
          <a:xfrm>
            <a:off x="619760" y="4648200"/>
            <a:ext cx="10191750" cy="657860"/>
          </a:xfrm>
          <a:prstGeom prst="roundRect">
            <a:avLst>
              <a:gd name="adj" fmla="val 11583"/>
            </a:avLst>
          </a:prstGeom>
          <a:solidFill>
            <a:srgbClr val="F2C1BF"/>
          </a:solidFill>
          <a:ln/>
        </p:spPr>
        <p:txBody>
          <a:bodyPr wrap="square" lIns="497840" tIns="135357" rIns="15240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22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Dziękuję za uwagę, pytania i energię przez cały dzień. Powodzenia w projektach! 🚀</a:t>
            </a:r>
            <a:endParaRPr lang="en-US" sz="1220" dirty="0"/>
          </a:p>
        </p:txBody>
      </p:sp>
      <p:pic>
        <p:nvPicPr>
          <p:cNvPr id="6" name="Image 0" descr="assets/icon_p62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0" y="4848860"/>
            <a:ext cx="173990" cy="172720"/>
          </a:xfrm>
          <a:prstGeom prst="rect">
            <a:avLst/>
          </a:prstGeom>
        </p:spPr>
      </p:pic>
      <p:pic>
        <p:nvPicPr>
          <p:cNvPr id="7" name="Image 1" descr="assets/altkom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240" y="6038850"/>
            <a:ext cx="637540" cy="2565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61000" y="6054281"/>
            <a:ext cx="508000" cy="1524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000000"/>
                </a:solidFill>
                <a:latin typeface="DM Sans"/>
                <a:ea typeface="DM Sans"/>
                <a:cs typeface="DM Sans"/>
              </a:defRPr>
            </a:lvl1pPr>
          </a:lstStyle>
          <a:p>
            <a:pPr algn="ctr"/>
            <a:fld id="{F7021451-1387-4CA6-816F-3879F97B5CBC}" type="slidenum">
              <a:rPr b="0" lang="en-US"/>
              <a:t>70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70</Slides>
  <Notes>70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70</vt:i4>
      </vt:variant>
    </vt:vector>
  </HeadingPairs>
  <TitlesOfParts>
    <vt:vector size="7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Databricks Fundamentals</dc:title>
  <dc:subject>PptxGenJS Presentation</dc:subject>
  <dc:creator>Krzysztof Burejza</dc:creator>
  <cp:lastModifiedBy>Krzysztof Burejza</cp:lastModifiedBy>
  <cp:revision>1</cp:revision>
  <dcterms:created xsi:type="dcterms:W3CDTF">2026-09-13T07:43:58Z</dcterms:created>
  <dcterms:modified xsi:type="dcterms:W3CDTF">2026-09-13T07:43:58Z</dcterms:modified>
</cp:coreProperties>
</file>